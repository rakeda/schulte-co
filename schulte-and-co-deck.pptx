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Schulte &amp; Co. — Business Architecture &amp; Transformation. Growth by design, not brute force. We help companies find the operational gaps preventing growth and redesign how people, processes, technology, and data work together. Partners: Nathan Schulte (business architecture) and Brandon Massie (technical architecture). schulteand.co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companies add more of everything but rarely stop to design how the pieces should work together. We connect business strategy to the operating and technical architecture required to execute it. Method: build, prove, teach, hand back. Entry point is always one real pain point, not a big-bang program.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growth adds employees, software, customers, vendors, sales activity, consultants, meetings, and AI on top — while the operating model lags behind with unclear ownership, broken handoffs, manual processes, tribal knowledge, and disconnected systems. The hatched gap between the two curves is where companies quietly leak time, margin, and patience. It is also where we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Below the surface: the P&amp;L sees five symptoms (missed targets, slower growth, margin pressure, customer frustration, layoffs). Nine costs live beneath the waterline: wasted employee time, duplicated work, poor process design, unclear ownership, bad handoffs, tribal knowledge, redundant software, weak knowledge management, key-person dependency. Most of the mass is under the waterline.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 Schedule A: eight steps, one gate. Diagnose (Understand, Diagnose, Map, Quantify), then THE GATE: nothing is redesigned until it is costed. Then Architect, Implement, Institutionalize, Transfer. Build the system. Prove the value. Teach the team. Hand it back.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financial case, one workflow quantified end to end: a 20-minute-a-day workflow redesigned to 1 minute returns 19 minutes per day per employee. At 10 employees over 260 working days that is 49,400 minutes — 823 hours a year — roughly $61,725 of capacity recovered at a $75/hr loaded rate. And that is only one workflow.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philosophy: do not automate a bad process. We start with the business, not the technology. Wrong way: problem, buy AI, the mess automated faster. Right way: problem, understand and simplify, decide human vs automated vs AI, then implement — value at the end. The questions we ask: what do we already own, what overlaps, what is underused, what should be automated, where does AI make sense, what will this cost at scale?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partners. Nathan Schulte, business architecture — 'Why should the CEO care?': business problem and go-to-market, workflow gaps and organizational alignment, leadership priorities, ROI and the executive story. Brandon Massie, technical architecture — 'How do we make it work?': systems, data and integrations, automation and AI feasibility, security and risk, implementation reality and cost at scale. One translation layer between business leadership and technical teams, both directions, every week.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we work with: leadership teams, growing companies, PE-backed businesses, companies undergoing transformation, implementing AI, integrating acquisitions — and companies that feel harder to run than they should. For investors and boards: you have the financial model; we build the operating model required to achieve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build the system, prove the value, hand it back. We are not trying to become another permanent layer of complexity — we build a stronger operating model, implement it with your team, and leave the company better equipped to scale on its own. Start with one problem: work@schulteand.co · schulteand.co · Tampa, Florida.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609600" y="6572250"/>
            <a:ext cx="10972800" cy="6350"/>
          </a:xfrm>
          <a:prstGeom prst="rect">
            <a:avLst/>
          </a:prstGeom>
          <a:solidFill>
            <a:srgbClr val="131417"/>
          </a:solidFill>
          <a:ln>
            <a:noFill/>
          </a:ln>
          <a:effectLst/>
        </p:spPr>
        <p:txBody>
          <a:bodyPr rtlCol="0" anchor="ctr"/>
          <a:lstStyle/>
          <a:p>
            <a:pPr algn="ctr"/>
          </a:p>
        </p:txBody>
      </p:sp>
      <p:sp>
        <p:nvSpPr>
          <p:cNvPr id="3" name="Rectangle 2"/>
          <p:cNvSpPr/>
          <p:nvPr/>
        </p:nvSpPr>
        <p:spPr>
          <a:xfrm>
            <a:off x="609600" y="6540500"/>
            <a:ext cx="6350" cy="69850"/>
          </a:xfrm>
          <a:prstGeom prst="rect">
            <a:avLst/>
          </a:prstGeom>
          <a:solidFill>
            <a:srgbClr val="131417"/>
          </a:solidFill>
          <a:ln>
            <a:noFill/>
          </a:ln>
          <a:effectLst/>
        </p:spPr>
        <p:txBody>
          <a:bodyPr rtlCol="0" anchor="ctr"/>
          <a:lstStyle/>
          <a:p>
            <a:pPr algn="ctr"/>
          </a:p>
        </p:txBody>
      </p:sp>
      <p:sp>
        <p:nvSpPr>
          <p:cNvPr id="4" name="Rectangle 3"/>
          <p:cNvSpPr/>
          <p:nvPr/>
        </p:nvSpPr>
        <p:spPr>
          <a:xfrm>
            <a:off x="1828800" y="6540500"/>
            <a:ext cx="6350" cy="69850"/>
          </a:xfrm>
          <a:prstGeom prst="rect">
            <a:avLst/>
          </a:prstGeom>
          <a:solidFill>
            <a:srgbClr val="131417"/>
          </a:solidFill>
          <a:ln>
            <a:noFill/>
          </a:ln>
          <a:effectLst/>
        </p:spPr>
        <p:txBody>
          <a:bodyPr rtlCol="0" anchor="ctr"/>
          <a:lstStyle/>
          <a:p>
            <a:pPr algn="ctr"/>
          </a:p>
        </p:txBody>
      </p:sp>
      <p:sp>
        <p:nvSpPr>
          <p:cNvPr id="5" name="Rectangle 4"/>
          <p:cNvSpPr/>
          <p:nvPr/>
        </p:nvSpPr>
        <p:spPr>
          <a:xfrm>
            <a:off x="3048000" y="6540500"/>
            <a:ext cx="6350" cy="69850"/>
          </a:xfrm>
          <a:prstGeom prst="rect">
            <a:avLst/>
          </a:prstGeom>
          <a:solidFill>
            <a:srgbClr val="131417"/>
          </a:solidFill>
          <a:ln>
            <a:noFill/>
          </a:ln>
          <a:effectLst/>
        </p:spPr>
        <p:txBody>
          <a:bodyPr rtlCol="0" anchor="ctr"/>
          <a:lstStyle/>
          <a:p>
            <a:pPr algn="ctr"/>
          </a:p>
        </p:txBody>
      </p:sp>
      <p:sp>
        <p:nvSpPr>
          <p:cNvPr id="6" name="Rectangle 5"/>
          <p:cNvSpPr/>
          <p:nvPr/>
        </p:nvSpPr>
        <p:spPr>
          <a:xfrm>
            <a:off x="4267101" y="6540500"/>
            <a:ext cx="6350" cy="69850"/>
          </a:xfrm>
          <a:prstGeom prst="rect">
            <a:avLst/>
          </a:prstGeom>
          <a:solidFill>
            <a:srgbClr val="131417"/>
          </a:solidFill>
          <a:ln>
            <a:noFill/>
          </a:ln>
          <a:effectLst/>
        </p:spPr>
        <p:txBody>
          <a:bodyPr rtlCol="0" anchor="ctr"/>
          <a:lstStyle/>
          <a:p>
            <a:pPr algn="ctr"/>
          </a:p>
        </p:txBody>
      </p:sp>
      <p:sp>
        <p:nvSpPr>
          <p:cNvPr id="7" name="Rectangle 6"/>
          <p:cNvSpPr/>
          <p:nvPr/>
        </p:nvSpPr>
        <p:spPr>
          <a:xfrm>
            <a:off x="5486400" y="6540500"/>
            <a:ext cx="6350" cy="69850"/>
          </a:xfrm>
          <a:prstGeom prst="rect">
            <a:avLst/>
          </a:prstGeom>
          <a:solidFill>
            <a:srgbClr val="131417"/>
          </a:solidFill>
          <a:ln>
            <a:noFill/>
          </a:ln>
          <a:effectLst/>
        </p:spPr>
        <p:txBody>
          <a:bodyPr rtlCol="0" anchor="ctr"/>
          <a:lstStyle/>
          <a:p>
            <a:pPr algn="ctr"/>
          </a:p>
        </p:txBody>
      </p:sp>
      <p:sp>
        <p:nvSpPr>
          <p:cNvPr id="8" name="Rectangle 7"/>
          <p:cNvSpPr/>
          <p:nvPr/>
        </p:nvSpPr>
        <p:spPr>
          <a:xfrm>
            <a:off x="6705600" y="6540500"/>
            <a:ext cx="6350" cy="69850"/>
          </a:xfrm>
          <a:prstGeom prst="rect">
            <a:avLst/>
          </a:prstGeom>
          <a:solidFill>
            <a:srgbClr val="131417"/>
          </a:solidFill>
          <a:ln>
            <a:noFill/>
          </a:ln>
          <a:effectLst/>
        </p:spPr>
        <p:txBody>
          <a:bodyPr rtlCol="0" anchor="ctr"/>
          <a:lstStyle/>
          <a:p>
            <a:pPr algn="ctr"/>
          </a:p>
        </p:txBody>
      </p:sp>
      <p:sp>
        <p:nvSpPr>
          <p:cNvPr id="9" name="Rectangle 8"/>
          <p:cNvSpPr/>
          <p:nvPr/>
        </p:nvSpPr>
        <p:spPr>
          <a:xfrm>
            <a:off x="7924701" y="6540500"/>
            <a:ext cx="6350" cy="69850"/>
          </a:xfrm>
          <a:prstGeom prst="rect">
            <a:avLst/>
          </a:prstGeom>
          <a:solidFill>
            <a:srgbClr val="131417"/>
          </a:solidFill>
          <a:ln>
            <a:noFill/>
          </a:ln>
          <a:effectLst/>
        </p:spPr>
        <p:txBody>
          <a:bodyPr rtlCol="0" anchor="ctr"/>
          <a:lstStyle/>
          <a:p>
            <a:pPr algn="ctr"/>
          </a:p>
        </p:txBody>
      </p:sp>
      <p:sp>
        <p:nvSpPr>
          <p:cNvPr id="10" name="Rectangle 9"/>
          <p:cNvSpPr/>
          <p:nvPr/>
        </p:nvSpPr>
        <p:spPr>
          <a:xfrm>
            <a:off x="9144000" y="6540500"/>
            <a:ext cx="6350" cy="69850"/>
          </a:xfrm>
          <a:prstGeom prst="rect">
            <a:avLst/>
          </a:prstGeom>
          <a:solidFill>
            <a:srgbClr val="131417"/>
          </a:solidFill>
          <a:ln>
            <a:noFill/>
          </a:ln>
          <a:effectLst/>
        </p:spPr>
        <p:txBody>
          <a:bodyPr rtlCol="0" anchor="ctr"/>
          <a:lstStyle/>
          <a:p>
            <a:pPr algn="ctr"/>
          </a:p>
        </p:txBody>
      </p:sp>
      <p:sp>
        <p:nvSpPr>
          <p:cNvPr id="11" name="Rectangle 10"/>
          <p:cNvSpPr/>
          <p:nvPr/>
        </p:nvSpPr>
        <p:spPr>
          <a:xfrm>
            <a:off x="10363200" y="6540500"/>
            <a:ext cx="6350" cy="69850"/>
          </a:xfrm>
          <a:prstGeom prst="rect">
            <a:avLst/>
          </a:prstGeom>
          <a:solidFill>
            <a:srgbClr val="131417"/>
          </a:solidFill>
          <a:ln>
            <a:noFill/>
          </a:ln>
          <a:effectLst/>
        </p:spPr>
        <p:txBody>
          <a:bodyPr rtlCol="0" anchor="ctr"/>
          <a:lstStyle/>
          <a:p>
            <a:pPr algn="ctr"/>
          </a:p>
        </p:txBody>
      </p:sp>
      <p:sp>
        <p:nvSpPr>
          <p:cNvPr id="12" name="Rectangle 11"/>
          <p:cNvSpPr/>
          <p:nvPr/>
        </p:nvSpPr>
        <p:spPr>
          <a:xfrm>
            <a:off x="11582400" y="6540500"/>
            <a:ext cx="6350" cy="69850"/>
          </a:xfrm>
          <a:prstGeom prst="rect">
            <a:avLst/>
          </a:prstGeom>
          <a:solidFill>
            <a:srgbClr val="131417"/>
          </a:solidFill>
          <a:ln>
            <a:noFill/>
          </a:ln>
          <a:effectLst/>
        </p:spPr>
        <p:txBody>
          <a:bodyPr rtlCol="0" anchor="ctr"/>
          <a:lstStyle/>
          <a:p>
            <a:pPr algn="ctr"/>
          </a:p>
        </p:txBody>
      </p:sp>
      <p:sp>
        <p:nvSpPr>
          <p:cNvPr id="13" name="Diamond 12"/>
          <p:cNvSpPr/>
          <p:nvPr/>
        </p:nvSpPr>
        <p:spPr>
          <a:xfrm>
            <a:off x="577850" y="6546850"/>
            <a:ext cx="63500" cy="63500"/>
          </a:xfrm>
          <a:prstGeom prst="diamond">
            <a:avLst/>
          </a:prstGeom>
          <a:solidFill>
            <a:srgbClr val="D93A1F"/>
          </a:solidFill>
          <a:ln>
            <a:noFill/>
          </a:ln>
          <a:effectLst/>
        </p:spPr>
        <p:txBody>
          <a:bodyPr rtlCol="0" anchor="ctr"/>
          <a:lstStyle/>
          <a:p>
            <a:pPr algn="ctr"/>
          </a:p>
        </p:txBody>
      </p:sp>
      <p:sp>
        <p:nvSpPr>
          <p:cNvPr id="14" name="Freeform 13"/>
          <p:cNvSpPr/>
          <p:nvPr/>
        </p:nvSpPr>
        <p:spPr>
          <a:xfrm>
            <a:off x="927100" y="508000"/>
            <a:ext cx="368300" cy="184150"/>
          </a:xfrm>
          <a:custGeom>
            <a:avLst/>
            <a:gdLst/>
            <a:ahLst/>
            <a:cxnLst/>
            <a:rect l="l" t="t" r="r" b="b"/>
            <a:pathLst>
              <a:path w="58" h="29">
                <a:moveTo>
                  <a:pt x="28" y="0"/>
                </a:moveTo>
                <a:lnTo>
                  <a:pt x="58" y="15"/>
                </a:lnTo>
                <a:lnTo>
                  <a:pt x="30" y="29"/>
                </a:lnTo>
                <a:lnTo>
                  <a:pt x="0" y="14"/>
                </a:lnTo>
                <a:close/>
              </a:path>
            </a:pathLst>
          </a:custGeom>
          <a:noFill/>
          <a:ln w="9525">
            <a:solidFill>
              <a:srgbClr val="131417"/>
            </a:solidFill>
          </a:ln>
          <a:effectLst/>
        </p:spPr>
        <p:txBody>
          <a:bodyPr rtlCol="0" anchor="ctr"/>
          <a:lstStyle/>
          <a:p>
            <a:pPr algn="ctr"/>
          </a:p>
        </p:txBody>
      </p:sp>
      <p:sp>
        <p:nvSpPr>
          <p:cNvPr id="15" name="Freeform 14"/>
          <p:cNvSpPr/>
          <p:nvPr/>
        </p:nvSpPr>
        <p:spPr>
          <a:xfrm>
            <a:off x="1117600" y="603250"/>
            <a:ext cx="177800" cy="241300"/>
          </a:xfrm>
          <a:custGeom>
            <a:avLst/>
            <a:gdLst/>
            <a:ahLst/>
            <a:cxnLst/>
            <a:rect l="l" t="t" r="r" b="b"/>
            <a:pathLst>
              <a:path w="28" h="38">
                <a:moveTo>
                  <a:pt x="28" y="0"/>
                </a:moveTo>
                <a:lnTo>
                  <a:pt x="28" y="24"/>
                </a:lnTo>
                <a:lnTo>
                  <a:pt x="0" y="38"/>
                </a:lnTo>
                <a:lnTo>
                  <a:pt x="0" y="14"/>
                </a:lnTo>
              </a:path>
            </a:pathLst>
          </a:custGeom>
          <a:noFill/>
          <a:ln w="9525">
            <a:solidFill>
              <a:srgbClr val="131417"/>
            </a:solidFill>
          </a:ln>
          <a:effectLst/>
        </p:spPr>
        <p:txBody>
          <a:bodyPr rtlCol="0" anchor="ctr"/>
          <a:lstStyle/>
          <a:p>
            <a:pPr algn="ctr"/>
          </a:p>
        </p:txBody>
      </p:sp>
      <p:sp>
        <p:nvSpPr>
          <p:cNvPr id="16" name="Freeform 15"/>
          <p:cNvSpPr/>
          <p:nvPr/>
        </p:nvSpPr>
        <p:spPr>
          <a:xfrm>
            <a:off x="1104900" y="755650"/>
            <a:ext cx="368300" cy="184150"/>
          </a:xfrm>
          <a:custGeom>
            <a:avLst/>
            <a:gdLst/>
            <a:ahLst/>
            <a:cxnLst/>
            <a:rect l="l" t="t" r="r" b="b"/>
            <a:pathLst>
              <a:path w="58" h="29">
                <a:moveTo>
                  <a:pt x="30" y="0"/>
                </a:moveTo>
                <a:lnTo>
                  <a:pt x="0" y="15"/>
                </a:lnTo>
                <a:lnTo>
                  <a:pt x="28" y="29"/>
                </a:lnTo>
                <a:lnTo>
                  <a:pt x="58" y="14"/>
                </a:lnTo>
                <a:close/>
              </a:path>
            </a:pathLst>
          </a:custGeom>
          <a:noFill/>
          <a:ln w="9525">
            <a:solidFill>
              <a:srgbClr val="131417"/>
            </a:solidFill>
          </a:ln>
          <a:effectLst/>
        </p:spPr>
        <p:txBody>
          <a:bodyPr rtlCol="0" anchor="ctr"/>
          <a:lstStyle/>
          <a:p>
            <a:pPr algn="ctr"/>
          </a:p>
        </p:txBody>
      </p:sp>
      <p:sp>
        <p:nvSpPr>
          <p:cNvPr id="17" name="Freeform 16"/>
          <p:cNvSpPr/>
          <p:nvPr/>
        </p:nvSpPr>
        <p:spPr>
          <a:xfrm>
            <a:off x="1104900" y="850900"/>
            <a:ext cx="177800" cy="241300"/>
          </a:xfrm>
          <a:custGeom>
            <a:avLst/>
            <a:gdLst/>
            <a:ahLst/>
            <a:cxnLst/>
            <a:rect l="l" t="t" r="r" b="b"/>
            <a:pathLst>
              <a:path w="28" h="38">
                <a:moveTo>
                  <a:pt x="0" y="0"/>
                </a:moveTo>
                <a:lnTo>
                  <a:pt x="0" y="24"/>
                </a:lnTo>
                <a:lnTo>
                  <a:pt x="28" y="38"/>
                </a:lnTo>
                <a:lnTo>
                  <a:pt x="28" y="14"/>
                </a:lnTo>
              </a:path>
            </a:pathLst>
          </a:custGeom>
          <a:noFill/>
          <a:ln w="9525">
            <a:solidFill>
              <a:srgbClr val="131417"/>
            </a:solidFill>
          </a:ln>
          <a:effectLst/>
        </p:spPr>
        <p:txBody>
          <a:bodyPr rtlCol="0" anchor="ctr"/>
          <a:lstStyle/>
          <a:p>
            <a:pPr algn="ctr"/>
          </a:p>
        </p:txBody>
      </p:sp>
      <p:sp>
        <p:nvSpPr>
          <p:cNvPr id="18" name="Freeform 17"/>
          <p:cNvSpPr/>
          <p:nvPr/>
        </p:nvSpPr>
        <p:spPr>
          <a:xfrm>
            <a:off x="914400" y="1003300"/>
            <a:ext cx="368300" cy="184150"/>
          </a:xfrm>
          <a:custGeom>
            <a:avLst/>
            <a:gdLst/>
            <a:ahLst/>
            <a:cxnLst/>
            <a:rect l="l" t="t" r="r" b="b"/>
            <a:pathLst>
              <a:path w="58" h="29">
                <a:moveTo>
                  <a:pt x="30" y="0"/>
                </a:moveTo>
                <a:lnTo>
                  <a:pt x="0" y="15"/>
                </a:lnTo>
                <a:lnTo>
                  <a:pt x="28" y="29"/>
                </a:lnTo>
                <a:lnTo>
                  <a:pt x="58" y="14"/>
                </a:lnTo>
                <a:close/>
              </a:path>
            </a:pathLst>
          </a:custGeom>
          <a:noFill/>
          <a:ln w="9525">
            <a:solidFill>
              <a:srgbClr val="131417"/>
            </a:solidFill>
          </a:ln>
          <a:effectLst/>
        </p:spPr>
        <p:txBody>
          <a:bodyPr rtlCol="0" anchor="ctr"/>
          <a:lstStyle/>
          <a:p>
            <a:pPr algn="ctr"/>
          </a:p>
        </p:txBody>
      </p:sp>
      <p:sp>
        <p:nvSpPr>
          <p:cNvPr id="19" name="Freeform 18"/>
          <p:cNvSpPr/>
          <p:nvPr/>
        </p:nvSpPr>
        <p:spPr>
          <a:xfrm>
            <a:off x="914400" y="1098550"/>
            <a:ext cx="177800" cy="241300"/>
          </a:xfrm>
          <a:custGeom>
            <a:avLst/>
            <a:gdLst/>
            <a:ahLst/>
            <a:cxnLst/>
            <a:rect l="l" t="t" r="r" b="b"/>
            <a:pathLst>
              <a:path w="28" h="38">
                <a:moveTo>
                  <a:pt x="0" y="0"/>
                </a:moveTo>
                <a:lnTo>
                  <a:pt x="0" y="24"/>
                </a:lnTo>
                <a:lnTo>
                  <a:pt x="28" y="38"/>
                </a:lnTo>
                <a:lnTo>
                  <a:pt x="28" y="14"/>
                </a:lnTo>
              </a:path>
            </a:pathLst>
          </a:custGeom>
          <a:noFill/>
          <a:ln w="9525">
            <a:solidFill>
              <a:srgbClr val="131417"/>
            </a:solidFill>
          </a:ln>
          <a:effectLst/>
        </p:spPr>
        <p:txBody>
          <a:bodyPr rtlCol="0" anchor="ctr"/>
          <a:lstStyle/>
          <a:p>
            <a:pPr algn="ctr"/>
          </a:p>
        </p:txBody>
      </p:sp>
      <p:sp>
        <p:nvSpPr>
          <p:cNvPr id="20" name="Freeform 19"/>
          <p:cNvSpPr/>
          <p:nvPr/>
        </p:nvSpPr>
        <p:spPr>
          <a:xfrm>
            <a:off x="723900" y="1250950"/>
            <a:ext cx="368300" cy="184150"/>
          </a:xfrm>
          <a:custGeom>
            <a:avLst/>
            <a:gdLst/>
            <a:ahLst/>
            <a:cxnLst/>
            <a:rect l="l" t="t" r="r" b="b"/>
            <a:pathLst>
              <a:path w="58" h="29">
                <a:moveTo>
                  <a:pt x="30" y="0"/>
                </a:moveTo>
                <a:lnTo>
                  <a:pt x="0" y="15"/>
                </a:lnTo>
                <a:lnTo>
                  <a:pt x="28" y="29"/>
                </a:lnTo>
                <a:lnTo>
                  <a:pt x="58" y="14"/>
                </a:lnTo>
                <a:close/>
              </a:path>
            </a:pathLst>
          </a:custGeom>
          <a:noFill/>
          <a:ln w="9525">
            <a:solidFill>
              <a:srgbClr val="131417"/>
            </a:solidFill>
          </a:ln>
          <a:effectLst/>
        </p:spPr>
        <p:txBody>
          <a:bodyPr rtlCol="0" anchor="ctr"/>
          <a:lstStyle/>
          <a:p>
            <a:pPr algn="ctr"/>
          </a:p>
        </p:txBody>
      </p:sp>
      <p:sp>
        <p:nvSpPr>
          <p:cNvPr id="21" name="Freeform 20"/>
          <p:cNvSpPr/>
          <p:nvPr/>
        </p:nvSpPr>
        <p:spPr>
          <a:xfrm>
            <a:off x="723900" y="1346200"/>
            <a:ext cx="177800" cy="241300"/>
          </a:xfrm>
          <a:custGeom>
            <a:avLst/>
            <a:gdLst/>
            <a:ahLst/>
            <a:cxnLst/>
            <a:rect l="l" t="t" r="r" b="b"/>
            <a:pathLst>
              <a:path w="28" h="38">
                <a:moveTo>
                  <a:pt x="0" y="0"/>
                </a:moveTo>
                <a:lnTo>
                  <a:pt x="0" y="24"/>
                </a:lnTo>
                <a:lnTo>
                  <a:pt x="28" y="38"/>
                </a:lnTo>
                <a:lnTo>
                  <a:pt x="28" y="14"/>
                </a:lnTo>
              </a:path>
            </a:pathLst>
          </a:custGeom>
          <a:noFill/>
          <a:ln w="9525">
            <a:solidFill>
              <a:srgbClr val="131417"/>
            </a:solidFill>
          </a:ln>
          <a:effectLst/>
        </p:spPr>
        <p:txBody>
          <a:bodyPr rtlCol="0" anchor="ctr"/>
          <a:lstStyle/>
          <a:p>
            <a:pPr algn="ctr"/>
          </a:p>
        </p:txBody>
      </p:sp>
      <p:sp>
        <p:nvSpPr>
          <p:cNvPr id="22" name="Freeform 21"/>
          <p:cNvSpPr/>
          <p:nvPr/>
        </p:nvSpPr>
        <p:spPr>
          <a:xfrm>
            <a:off x="546100" y="1498600"/>
            <a:ext cx="368300" cy="184150"/>
          </a:xfrm>
          <a:custGeom>
            <a:avLst/>
            <a:gdLst/>
            <a:ahLst/>
            <a:cxnLst/>
            <a:rect l="l" t="t" r="r" b="b"/>
            <a:pathLst>
              <a:path w="58" h="29">
                <a:moveTo>
                  <a:pt x="28" y="0"/>
                </a:moveTo>
                <a:lnTo>
                  <a:pt x="58" y="15"/>
                </a:lnTo>
                <a:lnTo>
                  <a:pt x="30" y="29"/>
                </a:lnTo>
                <a:lnTo>
                  <a:pt x="0" y="14"/>
                </a:lnTo>
                <a:close/>
              </a:path>
            </a:pathLst>
          </a:custGeom>
          <a:noFill/>
          <a:ln w="9525">
            <a:solidFill>
              <a:srgbClr val="131417"/>
            </a:solidFill>
          </a:ln>
          <a:effectLst/>
        </p:spPr>
        <p:txBody>
          <a:bodyPr rtlCol="0" anchor="ctr"/>
          <a:lstStyle/>
          <a:p>
            <a:pPr algn="ctr"/>
          </a:p>
        </p:txBody>
      </p:sp>
      <p:sp>
        <p:nvSpPr>
          <p:cNvPr id="23" name="Freeform 22"/>
          <p:cNvSpPr/>
          <p:nvPr/>
        </p:nvSpPr>
        <p:spPr>
          <a:xfrm>
            <a:off x="736600" y="1593850"/>
            <a:ext cx="177800" cy="241300"/>
          </a:xfrm>
          <a:custGeom>
            <a:avLst/>
            <a:gdLst/>
            <a:ahLst/>
            <a:cxnLst/>
            <a:rect l="l" t="t" r="r" b="b"/>
            <a:pathLst>
              <a:path w="28" h="38">
                <a:moveTo>
                  <a:pt x="28" y="0"/>
                </a:moveTo>
                <a:lnTo>
                  <a:pt x="28" y="24"/>
                </a:lnTo>
                <a:lnTo>
                  <a:pt x="0" y="38"/>
                </a:lnTo>
                <a:lnTo>
                  <a:pt x="0" y="14"/>
                </a:lnTo>
              </a:path>
            </a:pathLst>
          </a:custGeom>
          <a:noFill/>
          <a:ln w="9525">
            <a:solidFill>
              <a:srgbClr val="131417"/>
            </a:solidFill>
          </a:ln>
          <a:effectLst/>
        </p:spPr>
        <p:txBody>
          <a:bodyPr rtlCol="0" anchor="ctr"/>
          <a:lstStyle/>
          <a:p>
            <a:pPr algn="ctr"/>
          </a:p>
        </p:txBody>
      </p:sp>
      <p:sp>
        <p:nvSpPr>
          <p:cNvPr id="24" name="Freeform 23"/>
          <p:cNvSpPr/>
          <p:nvPr/>
        </p:nvSpPr>
        <p:spPr>
          <a:xfrm>
            <a:off x="736600" y="1746250"/>
            <a:ext cx="368300" cy="184150"/>
          </a:xfrm>
          <a:custGeom>
            <a:avLst/>
            <a:gdLst/>
            <a:ahLst/>
            <a:cxnLst/>
            <a:rect l="l" t="t" r="r" b="b"/>
            <a:pathLst>
              <a:path w="58" h="29">
                <a:moveTo>
                  <a:pt x="28" y="0"/>
                </a:moveTo>
                <a:lnTo>
                  <a:pt x="58" y="15"/>
                </a:lnTo>
                <a:lnTo>
                  <a:pt x="30" y="29"/>
                </a:lnTo>
                <a:lnTo>
                  <a:pt x="0" y="14"/>
                </a:lnTo>
                <a:close/>
              </a:path>
            </a:pathLst>
          </a:custGeom>
          <a:noFill/>
          <a:ln w="9525">
            <a:solidFill>
              <a:srgbClr val="131417"/>
            </a:solidFill>
          </a:ln>
          <a:effectLst/>
        </p:spPr>
        <p:txBody>
          <a:bodyPr rtlCol="0" anchor="ctr"/>
          <a:lstStyle/>
          <a:p>
            <a:pPr algn="ctr"/>
          </a:p>
        </p:txBody>
      </p:sp>
      <p:sp>
        <p:nvSpPr>
          <p:cNvPr id="25" name="Freeform 24"/>
          <p:cNvSpPr/>
          <p:nvPr/>
        </p:nvSpPr>
        <p:spPr>
          <a:xfrm>
            <a:off x="927100" y="1841500"/>
            <a:ext cx="177800" cy="241300"/>
          </a:xfrm>
          <a:custGeom>
            <a:avLst/>
            <a:gdLst/>
            <a:ahLst/>
            <a:cxnLst/>
            <a:rect l="l" t="t" r="r" b="b"/>
            <a:pathLst>
              <a:path w="28" h="38">
                <a:moveTo>
                  <a:pt x="28" y="0"/>
                </a:moveTo>
                <a:lnTo>
                  <a:pt x="28" y="24"/>
                </a:lnTo>
                <a:lnTo>
                  <a:pt x="0" y="38"/>
                </a:lnTo>
                <a:lnTo>
                  <a:pt x="0" y="14"/>
                </a:lnTo>
              </a:path>
            </a:pathLst>
          </a:custGeom>
          <a:noFill/>
          <a:ln w="9525">
            <a:solidFill>
              <a:srgbClr val="131417"/>
            </a:solidFill>
          </a:ln>
          <a:effectLst/>
        </p:spPr>
        <p:txBody>
          <a:bodyPr rtlCol="0" anchor="ctr"/>
          <a:lstStyle/>
          <a:p>
            <a:pPr algn="ctr"/>
          </a:p>
        </p:txBody>
      </p:sp>
      <p:sp>
        <p:nvSpPr>
          <p:cNvPr id="26" name="Freeform 25"/>
          <p:cNvSpPr/>
          <p:nvPr/>
        </p:nvSpPr>
        <p:spPr>
          <a:xfrm>
            <a:off x="927100" y="1993900"/>
            <a:ext cx="368300" cy="184150"/>
          </a:xfrm>
          <a:custGeom>
            <a:avLst/>
            <a:gdLst/>
            <a:ahLst/>
            <a:cxnLst/>
            <a:rect l="l" t="t" r="r" b="b"/>
            <a:pathLst>
              <a:path w="58" h="29">
                <a:moveTo>
                  <a:pt x="28" y="0"/>
                </a:moveTo>
                <a:lnTo>
                  <a:pt x="58" y="15"/>
                </a:lnTo>
                <a:lnTo>
                  <a:pt x="30" y="29"/>
                </a:lnTo>
                <a:lnTo>
                  <a:pt x="0" y="14"/>
                </a:lnTo>
                <a:close/>
              </a:path>
            </a:pathLst>
          </a:custGeom>
          <a:noFill/>
          <a:ln w="9525">
            <a:solidFill>
              <a:srgbClr val="131417"/>
            </a:solidFill>
          </a:ln>
          <a:effectLst/>
        </p:spPr>
        <p:txBody>
          <a:bodyPr rtlCol="0" anchor="ctr"/>
          <a:lstStyle/>
          <a:p>
            <a:pPr algn="ctr"/>
          </a:p>
        </p:txBody>
      </p:sp>
      <p:sp>
        <p:nvSpPr>
          <p:cNvPr id="27" name="Freeform 26"/>
          <p:cNvSpPr/>
          <p:nvPr/>
        </p:nvSpPr>
        <p:spPr>
          <a:xfrm>
            <a:off x="1117600" y="2089150"/>
            <a:ext cx="177800" cy="241300"/>
          </a:xfrm>
          <a:custGeom>
            <a:avLst/>
            <a:gdLst/>
            <a:ahLst/>
            <a:cxnLst/>
            <a:rect l="l" t="t" r="r" b="b"/>
            <a:pathLst>
              <a:path w="28" h="38">
                <a:moveTo>
                  <a:pt x="28" y="0"/>
                </a:moveTo>
                <a:lnTo>
                  <a:pt x="28" y="24"/>
                </a:lnTo>
                <a:lnTo>
                  <a:pt x="0" y="38"/>
                </a:lnTo>
                <a:lnTo>
                  <a:pt x="0" y="14"/>
                </a:lnTo>
              </a:path>
            </a:pathLst>
          </a:custGeom>
          <a:noFill/>
          <a:ln w="9525">
            <a:solidFill>
              <a:srgbClr val="131417"/>
            </a:solidFill>
          </a:ln>
          <a:effectLst/>
        </p:spPr>
        <p:txBody>
          <a:bodyPr rtlCol="0" anchor="ctr"/>
          <a:lstStyle/>
          <a:p>
            <a:pPr algn="ctr"/>
          </a:p>
        </p:txBody>
      </p:sp>
      <p:sp>
        <p:nvSpPr>
          <p:cNvPr id="28" name="Freeform 27"/>
          <p:cNvSpPr/>
          <p:nvPr/>
        </p:nvSpPr>
        <p:spPr>
          <a:xfrm>
            <a:off x="1104900" y="2241550"/>
            <a:ext cx="368300" cy="184150"/>
          </a:xfrm>
          <a:custGeom>
            <a:avLst/>
            <a:gdLst/>
            <a:ahLst/>
            <a:cxnLst/>
            <a:rect l="l" t="t" r="r" b="b"/>
            <a:pathLst>
              <a:path w="58" h="29">
                <a:moveTo>
                  <a:pt x="30" y="0"/>
                </a:moveTo>
                <a:lnTo>
                  <a:pt x="0" y="15"/>
                </a:lnTo>
                <a:lnTo>
                  <a:pt x="28" y="29"/>
                </a:lnTo>
                <a:lnTo>
                  <a:pt x="58" y="14"/>
                </a:lnTo>
                <a:close/>
              </a:path>
            </a:pathLst>
          </a:custGeom>
          <a:noFill/>
          <a:ln w="9525">
            <a:solidFill>
              <a:srgbClr val="131417"/>
            </a:solidFill>
          </a:ln>
          <a:effectLst/>
        </p:spPr>
        <p:txBody>
          <a:bodyPr rtlCol="0" anchor="ctr"/>
          <a:lstStyle/>
          <a:p>
            <a:pPr algn="ctr"/>
          </a:p>
        </p:txBody>
      </p:sp>
      <p:sp>
        <p:nvSpPr>
          <p:cNvPr id="29" name="Freeform 28"/>
          <p:cNvSpPr/>
          <p:nvPr/>
        </p:nvSpPr>
        <p:spPr>
          <a:xfrm>
            <a:off x="1104900" y="2336800"/>
            <a:ext cx="177800" cy="241300"/>
          </a:xfrm>
          <a:custGeom>
            <a:avLst/>
            <a:gdLst/>
            <a:ahLst/>
            <a:cxnLst/>
            <a:rect l="l" t="t" r="r" b="b"/>
            <a:pathLst>
              <a:path w="28" h="38">
                <a:moveTo>
                  <a:pt x="0" y="0"/>
                </a:moveTo>
                <a:lnTo>
                  <a:pt x="0" y="24"/>
                </a:lnTo>
                <a:lnTo>
                  <a:pt x="28" y="38"/>
                </a:lnTo>
                <a:lnTo>
                  <a:pt x="28" y="14"/>
                </a:lnTo>
              </a:path>
            </a:pathLst>
          </a:custGeom>
          <a:noFill/>
          <a:ln w="9525">
            <a:solidFill>
              <a:srgbClr val="131417"/>
            </a:solidFill>
          </a:ln>
          <a:effectLst/>
        </p:spPr>
        <p:txBody>
          <a:bodyPr rtlCol="0" anchor="ctr"/>
          <a:lstStyle/>
          <a:p>
            <a:pPr algn="ctr"/>
          </a:p>
        </p:txBody>
      </p:sp>
      <p:sp>
        <p:nvSpPr>
          <p:cNvPr id="30" name="Freeform 29"/>
          <p:cNvSpPr/>
          <p:nvPr/>
        </p:nvSpPr>
        <p:spPr>
          <a:xfrm>
            <a:off x="914400" y="2489200"/>
            <a:ext cx="368300" cy="184150"/>
          </a:xfrm>
          <a:custGeom>
            <a:avLst/>
            <a:gdLst/>
            <a:ahLst/>
            <a:cxnLst/>
            <a:rect l="l" t="t" r="r" b="b"/>
            <a:pathLst>
              <a:path w="58" h="29">
                <a:moveTo>
                  <a:pt x="30" y="0"/>
                </a:moveTo>
                <a:lnTo>
                  <a:pt x="0" y="15"/>
                </a:lnTo>
                <a:lnTo>
                  <a:pt x="28" y="29"/>
                </a:lnTo>
                <a:lnTo>
                  <a:pt x="58" y="14"/>
                </a:lnTo>
                <a:close/>
              </a:path>
            </a:pathLst>
          </a:custGeom>
          <a:noFill/>
          <a:ln w="9525">
            <a:solidFill>
              <a:srgbClr val="131417"/>
            </a:solidFill>
          </a:ln>
          <a:effectLst/>
        </p:spPr>
        <p:txBody>
          <a:bodyPr rtlCol="0" anchor="ctr"/>
          <a:lstStyle/>
          <a:p>
            <a:pPr algn="ctr"/>
          </a:p>
        </p:txBody>
      </p:sp>
      <p:sp>
        <p:nvSpPr>
          <p:cNvPr id="31" name="Freeform 30"/>
          <p:cNvSpPr/>
          <p:nvPr/>
        </p:nvSpPr>
        <p:spPr>
          <a:xfrm>
            <a:off x="914400" y="2584450"/>
            <a:ext cx="177800" cy="241300"/>
          </a:xfrm>
          <a:custGeom>
            <a:avLst/>
            <a:gdLst/>
            <a:ahLst/>
            <a:cxnLst/>
            <a:rect l="l" t="t" r="r" b="b"/>
            <a:pathLst>
              <a:path w="28" h="38">
                <a:moveTo>
                  <a:pt x="0" y="0"/>
                </a:moveTo>
                <a:lnTo>
                  <a:pt x="0" y="24"/>
                </a:lnTo>
                <a:lnTo>
                  <a:pt x="28" y="38"/>
                </a:lnTo>
                <a:lnTo>
                  <a:pt x="28" y="14"/>
                </a:lnTo>
              </a:path>
            </a:pathLst>
          </a:custGeom>
          <a:noFill/>
          <a:ln w="9525">
            <a:solidFill>
              <a:srgbClr val="131417"/>
            </a:solidFill>
          </a:ln>
          <a:effectLst/>
        </p:spPr>
        <p:txBody>
          <a:bodyPr rtlCol="0" anchor="ctr"/>
          <a:lstStyle/>
          <a:p>
            <a:pPr algn="ctr"/>
          </a:p>
        </p:txBody>
      </p:sp>
      <p:sp>
        <p:nvSpPr>
          <p:cNvPr id="32" name="Freeform 31"/>
          <p:cNvSpPr/>
          <p:nvPr/>
        </p:nvSpPr>
        <p:spPr>
          <a:xfrm>
            <a:off x="723900" y="2736850"/>
            <a:ext cx="368300" cy="184150"/>
          </a:xfrm>
          <a:custGeom>
            <a:avLst/>
            <a:gdLst/>
            <a:ahLst/>
            <a:cxnLst/>
            <a:rect l="l" t="t" r="r" b="b"/>
            <a:pathLst>
              <a:path w="58" h="29">
                <a:moveTo>
                  <a:pt x="30" y="0"/>
                </a:moveTo>
                <a:lnTo>
                  <a:pt x="0" y="15"/>
                </a:lnTo>
                <a:lnTo>
                  <a:pt x="28" y="29"/>
                </a:lnTo>
                <a:lnTo>
                  <a:pt x="58" y="14"/>
                </a:lnTo>
                <a:close/>
              </a:path>
            </a:pathLst>
          </a:custGeom>
          <a:noFill/>
          <a:ln w="9525">
            <a:solidFill>
              <a:srgbClr val="131417"/>
            </a:solidFill>
          </a:ln>
          <a:effectLst/>
        </p:spPr>
        <p:txBody>
          <a:bodyPr rtlCol="0" anchor="ctr"/>
          <a:lstStyle/>
          <a:p>
            <a:pPr algn="ctr"/>
          </a:p>
        </p:txBody>
      </p:sp>
      <p:sp>
        <p:nvSpPr>
          <p:cNvPr id="33" name="Freeform 32"/>
          <p:cNvSpPr/>
          <p:nvPr/>
        </p:nvSpPr>
        <p:spPr>
          <a:xfrm>
            <a:off x="723900" y="2832100"/>
            <a:ext cx="177800" cy="241300"/>
          </a:xfrm>
          <a:custGeom>
            <a:avLst/>
            <a:gdLst/>
            <a:ahLst/>
            <a:cxnLst/>
            <a:rect l="l" t="t" r="r" b="b"/>
            <a:pathLst>
              <a:path w="28" h="38">
                <a:moveTo>
                  <a:pt x="0" y="0"/>
                </a:moveTo>
                <a:lnTo>
                  <a:pt x="0" y="24"/>
                </a:lnTo>
                <a:lnTo>
                  <a:pt x="28" y="38"/>
                </a:lnTo>
                <a:lnTo>
                  <a:pt x="28" y="14"/>
                </a:lnTo>
              </a:path>
            </a:pathLst>
          </a:custGeom>
          <a:noFill/>
          <a:ln w="9525">
            <a:solidFill>
              <a:srgbClr val="131417"/>
            </a:solidFill>
          </a:ln>
          <a:effectLst/>
        </p:spPr>
        <p:txBody>
          <a:bodyPr rtlCol="0" anchor="ctr"/>
          <a:lstStyle/>
          <a:p>
            <a:pPr algn="ctr"/>
          </a:p>
        </p:txBody>
      </p:sp>
      <p:sp>
        <p:nvSpPr>
          <p:cNvPr id="34" name="Freeform 33"/>
          <p:cNvSpPr/>
          <p:nvPr/>
        </p:nvSpPr>
        <p:spPr>
          <a:xfrm>
            <a:off x="546100" y="2984500"/>
            <a:ext cx="368300" cy="184150"/>
          </a:xfrm>
          <a:custGeom>
            <a:avLst/>
            <a:gdLst/>
            <a:ahLst/>
            <a:cxnLst/>
            <a:rect l="l" t="t" r="r" b="b"/>
            <a:pathLst>
              <a:path w="58" h="29">
                <a:moveTo>
                  <a:pt x="28" y="0"/>
                </a:moveTo>
                <a:lnTo>
                  <a:pt x="58" y="15"/>
                </a:lnTo>
                <a:lnTo>
                  <a:pt x="30" y="29"/>
                </a:lnTo>
                <a:lnTo>
                  <a:pt x="0" y="14"/>
                </a:lnTo>
                <a:close/>
              </a:path>
            </a:pathLst>
          </a:custGeom>
          <a:noFill/>
          <a:ln w="9525">
            <a:solidFill>
              <a:srgbClr val="131417"/>
            </a:solidFill>
          </a:ln>
          <a:effectLst/>
        </p:spPr>
        <p:txBody>
          <a:bodyPr rtlCol="0" anchor="ctr"/>
          <a:lstStyle/>
          <a:p>
            <a:pPr algn="ctr"/>
          </a:p>
        </p:txBody>
      </p:sp>
      <p:sp>
        <p:nvSpPr>
          <p:cNvPr id="35" name="Freeform 34"/>
          <p:cNvSpPr/>
          <p:nvPr/>
        </p:nvSpPr>
        <p:spPr>
          <a:xfrm>
            <a:off x="736600" y="3079750"/>
            <a:ext cx="177800" cy="241300"/>
          </a:xfrm>
          <a:custGeom>
            <a:avLst/>
            <a:gdLst/>
            <a:ahLst/>
            <a:cxnLst/>
            <a:rect l="l" t="t" r="r" b="b"/>
            <a:pathLst>
              <a:path w="28" h="38">
                <a:moveTo>
                  <a:pt x="28" y="0"/>
                </a:moveTo>
                <a:lnTo>
                  <a:pt x="28" y="24"/>
                </a:lnTo>
                <a:lnTo>
                  <a:pt x="0" y="38"/>
                </a:lnTo>
                <a:lnTo>
                  <a:pt x="0" y="14"/>
                </a:lnTo>
              </a:path>
            </a:pathLst>
          </a:custGeom>
          <a:noFill/>
          <a:ln w="9525">
            <a:solidFill>
              <a:srgbClr val="131417"/>
            </a:solidFill>
          </a:ln>
          <a:effectLst/>
        </p:spPr>
        <p:txBody>
          <a:bodyPr rtlCol="0" anchor="ctr"/>
          <a:lstStyle/>
          <a:p>
            <a:pPr algn="ctr"/>
          </a:p>
        </p:txBody>
      </p:sp>
      <p:sp>
        <p:nvSpPr>
          <p:cNvPr id="36" name="Freeform 35"/>
          <p:cNvSpPr/>
          <p:nvPr/>
        </p:nvSpPr>
        <p:spPr>
          <a:xfrm>
            <a:off x="736600" y="3232150"/>
            <a:ext cx="368300" cy="184150"/>
          </a:xfrm>
          <a:custGeom>
            <a:avLst/>
            <a:gdLst/>
            <a:ahLst/>
            <a:cxnLst/>
            <a:rect l="l" t="t" r="r" b="b"/>
            <a:pathLst>
              <a:path w="58" h="29">
                <a:moveTo>
                  <a:pt x="28" y="0"/>
                </a:moveTo>
                <a:lnTo>
                  <a:pt x="58" y="15"/>
                </a:lnTo>
                <a:lnTo>
                  <a:pt x="30" y="29"/>
                </a:lnTo>
                <a:lnTo>
                  <a:pt x="0" y="14"/>
                </a:lnTo>
                <a:close/>
              </a:path>
            </a:pathLst>
          </a:custGeom>
          <a:noFill/>
          <a:ln w="6985">
            <a:solidFill>
              <a:srgbClr val="B79861"/>
            </a:solidFill>
            <a:prstDash val="dash"/>
          </a:ln>
          <a:effectLst/>
        </p:spPr>
        <p:txBody>
          <a:bodyPr rtlCol="0" anchor="ctr"/>
          <a:lstStyle/>
          <a:p>
            <a:pPr algn="ctr"/>
          </a:p>
        </p:txBody>
      </p:sp>
      <p:sp>
        <p:nvSpPr>
          <p:cNvPr id="37" name="Freeform 36"/>
          <p:cNvSpPr/>
          <p:nvPr/>
        </p:nvSpPr>
        <p:spPr>
          <a:xfrm>
            <a:off x="927100" y="3327400"/>
            <a:ext cx="177800" cy="241300"/>
          </a:xfrm>
          <a:custGeom>
            <a:avLst/>
            <a:gdLst/>
            <a:ahLst/>
            <a:cxnLst/>
            <a:rect l="l" t="t" r="r" b="b"/>
            <a:pathLst>
              <a:path w="28" h="38">
                <a:moveTo>
                  <a:pt x="28" y="0"/>
                </a:moveTo>
                <a:lnTo>
                  <a:pt x="28" y="24"/>
                </a:lnTo>
                <a:lnTo>
                  <a:pt x="0" y="38"/>
                </a:lnTo>
                <a:lnTo>
                  <a:pt x="0" y="14"/>
                </a:lnTo>
              </a:path>
            </a:pathLst>
          </a:custGeom>
          <a:noFill/>
          <a:ln w="6985">
            <a:solidFill>
              <a:srgbClr val="B79861"/>
            </a:solidFill>
            <a:prstDash val="dash"/>
          </a:ln>
          <a:effectLst/>
        </p:spPr>
        <p:txBody>
          <a:bodyPr rtlCol="0" anchor="ctr"/>
          <a:lstStyle/>
          <a:p>
            <a:pPr algn="ctr"/>
          </a:p>
        </p:txBody>
      </p:sp>
      <p:sp>
        <p:nvSpPr>
          <p:cNvPr id="38" name="Freeform 37"/>
          <p:cNvSpPr/>
          <p:nvPr/>
        </p:nvSpPr>
        <p:spPr>
          <a:xfrm>
            <a:off x="927100" y="3479800"/>
            <a:ext cx="368300" cy="184150"/>
          </a:xfrm>
          <a:custGeom>
            <a:avLst/>
            <a:gdLst/>
            <a:ahLst/>
            <a:cxnLst/>
            <a:rect l="l" t="t" r="r" b="b"/>
            <a:pathLst>
              <a:path w="58" h="29">
                <a:moveTo>
                  <a:pt x="28" y="0"/>
                </a:moveTo>
                <a:lnTo>
                  <a:pt x="58" y="15"/>
                </a:lnTo>
                <a:lnTo>
                  <a:pt x="30" y="29"/>
                </a:lnTo>
                <a:lnTo>
                  <a:pt x="0" y="14"/>
                </a:lnTo>
                <a:close/>
              </a:path>
            </a:pathLst>
          </a:custGeom>
          <a:noFill/>
          <a:ln w="6985">
            <a:solidFill>
              <a:srgbClr val="B79861"/>
            </a:solidFill>
            <a:prstDash val="dash"/>
          </a:ln>
          <a:effectLst/>
        </p:spPr>
        <p:txBody>
          <a:bodyPr rtlCol="0" anchor="ctr"/>
          <a:lstStyle/>
          <a:p>
            <a:pPr algn="ctr"/>
          </a:p>
        </p:txBody>
      </p:sp>
      <p:sp>
        <p:nvSpPr>
          <p:cNvPr id="39" name="Freeform 38"/>
          <p:cNvSpPr/>
          <p:nvPr/>
        </p:nvSpPr>
        <p:spPr>
          <a:xfrm>
            <a:off x="1117600" y="3575050"/>
            <a:ext cx="177800" cy="241300"/>
          </a:xfrm>
          <a:custGeom>
            <a:avLst/>
            <a:gdLst/>
            <a:ahLst/>
            <a:cxnLst/>
            <a:rect l="l" t="t" r="r" b="b"/>
            <a:pathLst>
              <a:path w="28" h="38">
                <a:moveTo>
                  <a:pt x="28" y="0"/>
                </a:moveTo>
                <a:lnTo>
                  <a:pt x="28" y="24"/>
                </a:lnTo>
                <a:lnTo>
                  <a:pt x="0" y="38"/>
                </a:lnTo>
                <a:lnTo>
                  <a:pt x="0" y="14"/>
                </a:lnTo>
              </a:path>
            </a:pathLst>
          </a:custGeom>
          <a:noFill/>
          <a:ln w="6985">
            <a:solidFill>
              <a:srgbClr val="B79861"/>
            </a:solidFill>
            <a:prstDash val="dash"/>
          </a:ln>
          <a:effectLst/>
        </p:spPr>
        <p:txBody>
          <a:bodyPr rtlCol="0" anchor="ctr"/>
          <a:lstStyle/>
          <a:p>
            <a:pPr algn="ctr"/>
          </a:p>
        </p:txBody>
      </p:sp>
      <p:sp>
        <p:nvSpPr>
          <p:cNvPr id="40" name="Freeform 39"/>
          <p:cNvSpPr/>
          <p:nvPr/>
        </p:nvSpPr>
        <p:spPr>
          <a:xfrm>
            <a:off x="1104900" y="3727450"/>
            <a:ext cx="368300" cy="184150"/>
          </a:xfrm>
          <a:custGeom>
            <a:avLst/>
            <a:gdLst/>
            <a:ahLst/>
            <a:cxnLst/>
            <a:rect l="l" t="t" r="r" b="b"/>
            <a:pathLst>
              <a:path w="58" h="29">
                <a:moveTo>
                  <a:pt x="30" y="0"/>
                </a:moveTo>
                <a:lnTo>
                  <a:pt x="0" y="15"/>
                </a:lnTo>
                <a:lnTo>
                  <a:pt x="28" y="29"/>
                </a:lnTo>
                <a:lnTo>
                  <a:pt x="58" y="14"/>
                </a:lnTo>
                <a:close/>
              </a:path>
            </a:pathLst>
          </a:custGeom>
          <a:noFill/>
          <a:ln w="6985">
            <a:solidFill>
              <a:srgbClr val="B79861"/>
            </a:solidFill>
            <a:prstDash val="dash"/>
          </a:ln>
          <a:effectLst/>
        </p:spPr>
        <p:txBody>
          <a:bodyPr rtlCol="0" anchor="ctr"/>
          <a:lstStyle/>
          <a:p>
            <a:pPr algn="ctr"/>
          </a:p>
        </p:txBody>
      </p:sp>
      <p:sp>
        <p:nvSpPr>
          <p:cNvPr id="41" name="Freeform 40"/>
          <p:cNvSpPr/>
          <p:nvPr/>
        </p:nvSpPr>
        <p:spPr>
          <a:xfrm>
            <a:off x="1104900" y="3822700"/>
            <a:ext cx="177800" cy="241300"/>
          </a:xfrm>
          <a:custGeom>
            <a:avLst/>
            <a:gdLst/>
            <a:ahLst/>
            <a:cxnLst/>
            <a:rect l="l" t="t" r="r" b="b"/>
            <a:pathLst>
              <a:path w="28" h="38">
                <a:moveTo>
                  <a:pt x="0" y="0"/>
                </a:moveTo>
                <a:lnTo>
                  <a:pt x="0" y="24"/>
                </a:lnTo>
                <a:lnTo>
                  <a:pt x="28" y="38"/>
                </a:lnTo>
                <a:lnTo>
                  <a:pt x="28" y="14"/>
                </a:lnTo>
              </a:path>
            </a:pathLst>
          </a:custGeom>
          <a:noFill/>
          <a:ln w="6985">
            <a:solidFill>
              <a:srgbClr val="B79861"/>
            </a:solidFill>
            <a:prstDash val="dash"/>
          </a:ln>
          <a:effectLst/>
        </p:spPr>
        <p:txBody>
          <a:bodyPr rtlCol="0" anchor="ctr"/>
          <a:lstStyle/>
          <a:p>
            <a:pPr algn="ctr"/>
          </a:p>
        </p:txBody>
      </p:sp>
      <p:sp>
        <p:nvSpPr>
          <p:cNvPr id="42" name="Freeform 41"/>
          <p:cNvSpPr/>
          <p:nvPr/>
        </p:nvSpPr>
        <p:spPr>
          <a:xfrm>
            <a:off x="914400" y="3975100"/>
            <a:ext cx="368300" cy="184150"/>
          </a:xfrm>
          <a:custGeom>
            <a:avLst/>
            <a:gdLst/>
            <a:ahLst/>
            <a:cxnLst/>
            <a:rect l="l" t="t" r="r" b="b"/>
            <a:pathLst>
              <a:path w="58" h="29">
                <a:moveTo>
                  <a:pt x="30" y="0"/>
                </a:moveTo>
                <a:lnTo>
                  <a:pt x="0" y="15"/>
                </a:lnTo>
                <a:lnTo>
                  <a:pt x="28" y="29"/>
                </a:lnTo>
                <a:lnTo>
                  <a:pt x="58" y="14"/>
                </a:lnTo>
                <a:close/>
              </a:path>
            </a:pathLst>
          </a:custGeom>
          <a:noFill/>
          <a:ln w="6985">
            <a:solidFill>
              <a:srgbClr val="B79861"/>
            </a:solidFill>
            <a:prstDash val="dash"/>
          </a:ln>
          <a:effectLst/>
        </p:spPr>
        <p:txBody>
          <a:bodyPr rtlCol="0" anchor="ctr"/>
          <a:lstStyle/>
          <a:p>
            <a:pPr algn="ctr"/>
          </a:p>
        </p:txBody>
      </p:sp>
      <p:sp>
        <p:nvSpPr>
          <p:cNvPr id="43" name="Freeform 42"/>
          <p:cNvSpPr/>
          <p:nvPr/>
        </p:nvSpPr>
        <p:spPr>
          <a:xfrm>
            <a:off x="914400" y="4070350"/>
            <a:ext cx="177800" cy="241300"/>
          </a:xfrm>
          <a:custGeom>
            <a:avLst/>
            <a:gdLst/>
            <a:ahLst/>
            <a:cxnLst/>
            <a:rect l="l" t="t" r="r" b="b"/>
            <a:pathLst>
              <a:path w="28" h="38">
                <a:moveTo>
                  <a:pt x="0" y="0"/>
                </a:moveTo>
                <a:lnTo>
                  <a:pt x="0" y="24"/>
                </a:lnTo>
                <a:lnTo>
                  <a:pt x="28" y="38"/>
                </a:lnTo>
                <a:lnTo>
                  <a:pt x="28" y="14"/>
                </a:lnTo>
              </a:path>
            </a:pathLst>
          </a:custGeom>
          <a:noFill/>
          <a:ln w="6985">
            <a:solidFill>
              <a:srgbClr val="B79861"/>
            </a:solidFill>
            <a:prstDash val="dash"/>
          </a:ln>
          <a:effectLst/>
        </p:spPr>
        <p:txBody>
          <a:bodyPr rtlCol="0" anchor="ctr"/>
          <a:lstStyle/>
          <a:p>
            <a:pPr algn="ctr"/>
          </a:p>
        </p:txBody>
      </p:sp>
      <p:sp>
        <p:nvSpPr>
          <p:cNvPr id="44" name="Freeform 43"/>
          <p:cNvSpPr/>
          <p:nvPr/>
        </p:nvSpPr>
        <p:spPr>
          <a:xfrm>
            <a:off x="723900" y="4222750"/>
            <a:ext cx="368300" cy="184150"/>
          </a:xfrm>
          <a:custGeom>
            <a:avLst/>
            <a:gdLst/>
            <a:ahLst/>
            <a:cxnLst/>
            <a:rect l="l" t="t" r="r" b="b"/>
            <a:pathLst>
              <a:path w="58" h="29">
                <a:moveTo>
                  <a:pt x="30" y="0"/>
                </a:moveTo>
                <a:lnTo>
                  <a:pt x="0" y="15"/>
                </a:lnTo>
                <a:lnTo>
                  <a:pt x="28" y="29"/>
                </a:lnTo>
                <a:lnTo>
                  <a:pt x="58" y="14"/>
                </a:lnTo>
                <a:close/>
              </a:path>
            </a:pathLst>
          </a:custGeom>
          <a:noFill/>
          <a:ln w="6985">
            <a:solidFill>
              <a:srgbClr val="B79861"/>
            </a:solidFill>
            <a:prstDash val="dash"/>
          </a:ln>
          <a:effectLst/>
        </p:spPr>
        <p:txBody>
          <a:bodyPr rtlCol="0" anchor="ctr"/>
          <a:lstStyle/>
          <a:p>
            <a:pPr algn="ctr"/>
          </a:p>
        </p:txBody>
      </p:sp>
      <p:sp>
        <p:nvSpPr>
          <p:cNvPr id="45" name="Freeform 44"/>
          <p:cNvSpPr/>
          <p:nvPr/>
        </p:nvSpPr>
        <p:spPr>
          <a:xfrm>
            <a:off x="723900" y="4318000"/>
            <a:ext cx="177800" cy="241300"/>
          </a:xfrm>
          <a:custGeom>
            <a:avLst/>
            <a:gdLst/>
            <a:ahLst/>
            <a:cxnLst/>
            <a:rect l="l" t="t" r="r" b="b"/>
            <a:pathLst>
              <a:path w="28" h="38">
                <a:moveTo>
                  <a:pt x="0" y="0"/>
                </a:moveTo>
                <a:lnTo>
                  <a:pt x="0" y="24"/>
                </a:lnTo>
                <a:lnTo>
                  <a:pt x="28" y="38"/>
                </a:lnTo>
                <a:lnTo>
                  <a:pt x="28" y="14"/>
                </a:lnTo>
              </a:path>
            </a:pathLst>
          </a:custGeom>
          <a:noFill/>
          <a:ln w="6985">
            <a:solidFill>
              <a:srgbClr val="B79861"/>
            </a:solidFill>
            <a:prstDash val="dash"/>
          </a:ln>
          <a:effectLst/>
        </p:spPr>
        <p:txBody>
          <a:bodyPr rtlCol="0" anchor="ctr"/>
          <a:lstStyle/>
          <a:p>
            <a:pPr algn="ctr"/>
          </a:p>
        </p:txBody>
      </p:sp>
      <p:sp>
        <p:nvSpPr>
          <p:cNvPr id="46" name="Freeform 45"/>
          <p:cNvSpPr/>
          <p:nvPr/>
        </p:nvSpPr>
        <p:spPr>
          <a:xfrm>
            <a:off x="546100" y="4470400"/>
            <a:ext cx="368300" cy="184150"/>
          </a:xfrm>
          <a:custGeom>
            <a:avLst/>
            <a:gdLst/>
            <a:ahLst/>
            <a:cxnLst/>
            <a:rect l="l" t="t" r="r" b="b"/>
            <a:pathLst>
              <a:path w="58" h="29">
                <a:moveTo>
                  <a:pt x="28" y="0"/>
                </a:moveTo>
                <a:lnTo>
                  <a:pt x="58" y="15"/>
                </a:lnTo>
                <a:lnTo>
                  <a:pt x="30" y="29"/>
                </a:lnTo>
                <a:lnTo>
                  <a:pt x="0" y="14"/>
                </a:lnTo>
                <a:close/>
              </a:path>
            </a:pathLst>
          </a:custGeom>
          <a:noFill/>
          <a:ln w="6985">
            <a:solidFill>
              <a:srgbClr val="B79861"/>
            </a:solidFill>
            <a:prstDash val="dash"/>
          </a:ln>
          <a:effectLst/>
        </p:spPr>
        <p:txBody>
          <a:bodyPr rtlCol="0" anchor="ctr"/>
          <a:lstStyle/>
          <a:p>
            <a:pPr algn="ctr"/>
          </a:p>
        </p:txBody>
      </p:sp>
      <p:sp>
        <p:nvSpPr>
          <p:cNvPr id="47" name="Freeform 46"/>
          <p:cNvSpPr/>
          <p:nvPr/>
        </p:nvSpPr>
        <p:spPr>
          <a:xfrm>
            <a:off x="736600" y="4565650"/>
            <a:ext cx="177800" cy="241300"/>
          </a:xfrm>
          <a:custGeom>
            <a:avLst/>
            <a:gdLst/>
            <a:ahLst/>
            <a:cxnLst/>
            <a:rect l="l" t="t" r="r" b="b"/>
            <a:pathLst>
              <a:path w="28" h="38">
                <a:moveTo>
                  <a:pt x="28" y="0"/>
                </a:moveTo>
                <a:lnTo>
                  <a:pt x="28" y="24"/>
                </a:lnTo>
                <a:lnTo>
                  <a:pt x="0" y="38"/>
                </a:lnTo>
                <a:lnTo>
                  <a:pt x="0" y="14"/>
                </a:lnTo>
              </a:path>
            </a:pathLst>
          </a:custGeom>
          <a:noFill/>
          <a:ln w="6985">
            <a:solidFill>
              <a:srgbClr val="B79861"/>
            </a:solidFill>
            <a:prstDash val="dash"/>
          </a:ln>
          <a:effectLst/>
        </p:spPr>
        <p:txBody>
          <a:bodyPr rtlCol="0" anchor="ctr"/>
          <a:lstStyle/>
          <a:p>
            <a:pPr algn="ctr"/>
          </a:p>
        </p:txBody>
      </p:sp>
      <p:sp>
        <p:nvSpPr>
          <p:cNvPr id="48" name="Freeform 47"/>
          <p:cNvSpPr/>
          <p:nvPr/>
        </p:nvSpPr>
        <p:spPr>
          <a:xfrm>
            <a:off x="736600" y="4718050"/>
            <a:ext cx="368300" cy="184150"/>
          </a:xfrm>
          <a:custGeom>
            <a:avLst/>
            <a:gdLst/>
            <a:ahLst/>
            <a:cxnLst/>
            <a:rect l="l" t="t" r="r" b="b"/>
            <a:pathLst>
              <a:path w="58" h="29">
                <a:moveTo>
                  <a:pt x="28" y="0"/>
                </a:moveTo>
                <a:lnTo>
                  <a:pt x="58" y="15"/>
                </a:lnTo>
                <a:lnTo>
                  <a:pt x="30" y="29"/>
                </a:lnTo>
                <a:lnTo>
                  <a:pt x="0" y="14"/>
                </a:lnTo>
                <a:close/>
              </a:path>
            </a:pathLst>
          </a:custGeom>
          <a:noFill/>
          <a:ln w="6985">
            <a:solidFill>
              <a:srgbClr val="B79861"/>
            </a:solidFill>
            <a:prstDash val="dash"/>
          </a:ln>
          <a:effectLst/>
        </p:spPr>
        <p:txBody>
          <a:bodyPr rtlCol="0" anchor="ctr"/>
          <a:lstStyle/>
          <a:p>
            <a:pPr algn="ctr"/>
          </a:p>
        </p:txBody>
      </p:sp>
      <p:sp>
        <p:nvSpPr>
          <p:cNvPr id="49" name="Freeform 48"/>
          <p:cNvSpPr/>
          <p:nvPr/>
        </p:nvSpPr>
        <p:spPr>
          <a:xfrm>
            <a:off x="927100" y="4813300"/>
            <a:ext cx="177800" cy="241300"/>
          </a:xfrm>
          <a:custGeom>
            <a:avLst/>
            <a:gdLst/>
            <a:ahLst/>
            <a:cxnLst/>
            <a:rect l="l" t="t" r="r" b="b"/>
            <a:pathLst>
              <a:path w="28" h="38">
                <a:moveTo>
                  <a:pt x="28" y="0"/>
                </a:moveTo>
                <a:lnTo>
                  <a:pt x="28" y="24"/>
                </a:lnTo>
                <a:lnTo>
                  <a:pt x="0" y="38"/>
                </a:lnTo>
                <a:lnTo>
                  <a:pt x="0" y="14"/>
                </a:lnTo>
              </a:path>
            </a:pathLst>
          </a:custGeom>
          <a:noFill/>
          <a:ln w="6985">
            <a:solidFill>
              <a:srgbClr val="B79861"/>
            </a:solidFill>
            <a:prstDash val="dash"/>
          </a:ln>
          <a:effectLst/>
        </p:spPr>
        <p:txBody>
          <a:bodyPr rtlCol="0" anchor="ctr"/>
          <a:lstStyle/>
          <a:p>
            <a:pPr algn="ctr"/>
          </a:p>
        </p:txBody>
      </p:sp>
      <p:sp>
        <p:nvSpPr>
          <p:cNvPr id="50" name="Freeform 49"/>
          <p:cNvSpPr/>
          <p:nvPr/>
        </p:nvSpPr>
        <p:spPr>
          <a:xfrm>
            <a:off x="927100" y="4965700"/>
            <a:ext cx="368300" cy="184150"/>
          </a:xfrm>
          <a:custGeom>
            <a:avLst/>
            <a:gdLst/>
            <a:ahLst/>
            <a:cxnLst/>
            <a:rect l="l" t="t" r="r" b="b"/>
            <a:pathLst>
              <a:path w="58" h="29">
                <a:moveTo>
                  <a:pt x="28" y="0"/>
                </a:moveTo>
                <a:lnTo>
                  <a:pt x="58" y="15"/>
                </a:lnTo>
                <a:lnTo>
                  <a:pt x="30" y="29"/>
                </a:lnTo>
                <a:lnTo>
                  <a:pt x="0" y="14"/>
                </a:lnTo>
                <a:close/>
              </a:path>
            </a:pathLst>
          </a:custGeom>
          <a:noFill/>
          <a:ln w="6985">
            <a:solidFill>
              <a:srgbClr val="B79861"/>
            </a:solidFill>
            <a:prstDash val="dash"/>
          </a:ln>
          <a:effectLst/>
        </p:spPr>
        <p:txBody>
          <a:bodyPr rtlCol="0" anchor="ctr"/>
          <a:lstStyle/>
          <a:p>
            <a:pPr algn="ctr"/>
          </a:p>
        </p:txBody>
      </p:sp>
      <p:sp>
        <p:nvSpPr>
          <p:cNvPr id="51" name="Freeform 50"/>
          <p:cNvSpPr/>
          <p:nvPr/>
        </p:nvSpPr>
        <p:spPr>
          <a:xfrm>
            <a:off x="1117600" y="5060950"/>
            <a:ext cx="177800" cy="241300"/>
          </a:xfrm>
          <a:custGeom>
            <a:avLst/>
            <a:gdLst/>
            <a:ahLst/>
            <a:cxnLst/>
            <a:rect l="l" t="t" r="r" b="b"/>
            <a:pathLst>
              <a:path w="28" h="38">
                <a:moveTo>
                  <a:pt x="28" y="0"/>
                </a:moveTo>
                <a:lnTo>
                  <a:pt x="28" y="24"/>
                </a:lnTo>
                <a:lnTo>
                  <a:pt x="0" y="38"/>
                </a:lnTo>
                <a:lnTo>
                  <a:pt x="0" y="14"/>
                </a:lnTo>
              </a:path>
            </a:pathLst>
          </a:custGeom>
          <a:noFill/>
          <a:ln w="6985">
            <a:solidFill>
              <a:srgbClr val="B79861"/>
            </a:solidFill>
            <a:prstDash val="dash"/>
          </a:ln>
          <a:effectLst/>
        </p:spPr>
        <p:txBody>
          <a:bodyPr rtlCol="0" anchor="ctr"/>
          <a:lstStyle/>
          <a:p>
            <a:pPr algn="ctr"/>
          </a:p>
        </p:txBody>
      </p:sp>
      <p:sp>
        <p:nvSpPr>
          <p:cNvPr id="52" name="Freeform 51"/>
          <p:cNvSpPr/>
          <p:nvPr/>
        </p:nvSpPr>
        <p:spPr>
          <a:xfrm>
            <a:off x="1104900" y="5213350"/>
            <a:ext cx="368300" cy="184150"/>
          </a:xfrm>
          <a:custGeom>
            <a:avLst/>
            <a:gdLst/>
            <a:ahLst/>
            <a:cxnLst/>
            <a:rect l="l" t="t" r="r" b="b"/>
            <a:pathLst>
              <a:path w="58" h="29">
                <a:moveTo>
                  <a:pt x="30" y="0"/>
                </a:moveTo>
                <a:lnTo>
                  <a:pt x="0" y="15"/>
                </a:lnTo>
                <a:lnTo>
                  <a:pt x="28" y="29"/>
                </a:lnTo>
                <a:lnTo>
                  <a:pt x="58" y="14"/>
                </a:lnTo>
                <a:close/>
              </a:path>
            </a:pathLst>
          </a:custGeom>
          <a:noFill/>
          <a:ln w="6985">
            <a:solidFill>
              <a:srgbClr val="B79861"/>
            </a:solidFill>
            <a:prstDash val="dash"/>
          </a:ln>
          <a:effectLst/>
        </p:spPr>
        <p:txBody>
          <a:bodyPr rtlCol="0" anchor="ctr"/>
          <a:lstStyle/>
          <a:p>
            <a:pPr algn="ctr"/>
          </a:p>
        </p:txBody>
      </p:sp>
      <p:sp>
        <p:nvSpPr>
          <p:cNvPr id="53" name="Freeform 52"/>
          <p:cNvSpPr/>
          <p:nvPr/>
        </p:nvSpPr>
        <p:spPr>
          <a:xfrm>
            <a:off x="1104900" y="5308600"/>
            <a:ext cx="177800" cy="241300"/>
          </a:xfrm>
          <a:custGeom>
            <a:avLst/>
            <a:gdLst/>
            <a:ahLst/>
            <a:cxnLst/>
            <a:rect l="l" t="t" r="r" b="b"/>
            <a:pathLst>
              <a:path w="28" h="38">
                <a:moveTo>
                  <a:pt x="0" y="0"/>
                </a:moveTo>
                <a:lnTo>
                  <a:pt x="0" y="24"/>
                </a:lnTo>
                <a:lnTo>
                  <a:pt x="28" y="38"/>
                </a:lnTo>
                <a:lnTo>
                  <a:pt x="28" y="14"/>
                </a:lnTo>
              </a:path>
            </a:pathLst>
          </a:custGeom>
          <a:noFill/>
          <a:ln w="6985">
            <a:solidFill>
              <a:srgbClr val="B79861"/>
            </a:solidFill>
            <a:prstDash val="dash"/>
          </a:ln>
          <a:effectLst/>
        </p:spPr>
        <p:txBody>
          <a:bodyPr rtlCol="0" anchor="ctr"/>
          <a:lstStyle/>
          <a:p>
            <a:pPr algn="ctr"/>
          </a:p>
        </p:txBody>
      </p:sp>
      <p:sp>
        <p:nvSpPr>
          <p:cNvPr id="54" name="Freeform 53"/>
          <p:cNvSpPr/>
          <p:nvPr/>
        </p:nvSpPr>
        <p:spPr>
          <a:xfrm>
            <a:off x="914400" y="5461000"/>
            <a:ext cx="368300" cy="184150"/>
          </a:xfrm>
          <a:custGeom>
            <a:avLst/>
            <a:gdLst/>
            <a:ahLst/>
            <a:cxnLst/>
            <a:rect l="l" t="t" r="r" b="b"/>
            <a:pathLst>
              <a:path w="58" h="29">
                <a:moveTo>
                  <a:pt x="30" y="0"/>
                </a:moveTo>
                <a:lnTo>
                  <a:pt x="0" y="15"/>
                </a:lnTo>
                <a:lnTo>
                  <a:pt x="28" y="29"/>
                </a:lnTo>
                <a:lnTo>
                  <a:pt x="58" y="14"/>
                </a:lnTo>
                <a:close/>
              </a:path>
            </a:pathLst>
          </a:custGeom>
          <a:noFill/>
          <a:ln w="6985">
            <a:solidFill>
              <a:srgbClr val="B79861"/>
            </a:solidFill>
            <a:prstDash val="dash"/>
          </a:ln>
          <a:effectLst/>
        </p:spPr>
        <p:txBody>
          <a:bodyPr rtlCol="0" anchor="ctr"/>
          <a:lstStyle/>
          <a:p>
            <a:pPr algn="ctr"/>
          </a:p>
        </p:txBody>
      </p:sp>
      <p:sp>
        <p:nvSpPr>
          <p:cNvPr id="55" name="Freeform 54"/>
          <p:cNvSpPr/>
          <p:nvPr/>
        </p:nvSpPr>
        <p:spPr>
          <a:xfrm>
            <a:off x="914400" y="5556250"/>
            <a:ext cx="177800" cy="241300"/>
          </a:xfrm>
          <a:custGeom>
            <a:avLst/>
            <a:gdLst/>
            <a:ahLst/>
            <a:cxnLst/>
            <a:rect l="l" t="t" r="r" b="b"/>
            <a:pathLst>
              <a:path w="28" h="38">
                <a:moveTo>
                  <a:pt x="0" y="0"/>
                </a:moveTo>
                <a:lnTo>
                  <a:pt x="0" y="24"/>
                </a:lnTo>
                <a:lnTo>
                  <a:pt x="28" y="38"/>
                </a:lnTo>
                <a:lnTo>
                  <a:pt x="28" y="14"/>
                </a:lnTo>
              </a:path>
            </a:pathLst>
          </a:custGeom>
          <a:noFill/>
          <a:ln w="6985">
            <a:solidFill>
              <a:srgbClr val="B79861"/>
            </a:solidFill>
            <a:prstDash val="dash"/>
          </a:ln>
          <a:effectLst/>
        </p:spPr>
        <p:txBody>
          <a:bodyPr rtlCol="0" anchor="ctr"/>
          <a:lstStyle/>
          <a:p>
            <a:pPr algn="ctr"/>
          </a:p>
        </p:txBody>
      </p:sp>
      <p:cxnSp>
        <p:nvCxnSpPr>
          <p:cNvPr id="56" name="Connector 55"/>
          <p:cNvCxnSpPr/>
          <p:nvPr/>
        </p:nvCxnSpPr>
        <p:spPr>
          <a:xfrm>
            <a:off x="723900" y="2984500"/>
            <a:ext cx="190500" cy="95250"/>
          </a:xfrm>
          <a:prstGeom prst="line">
            <a:avLst/>
          </a:prstGeom>
          <a:ln w="25400">
            <a:solidFill>
              <a:srgbClr val="D93A1F"/>
            </a:solidFill>
          </a:ln>
          <a:effectLst/>
        </p:spPr>
      </p:cxnSp>
      <p:sp>
        <p:nvSpPr>
          <p:cNvPr id="57" name="TextBox 56"/>
          <p:cNvSpPr txBox="1"/>
          <p:nvPr/>
        </p:nvSpPr>
        <p:spPr>
          <a:xfrm>
            <a:off x="2971800" y="1073150"/>
            <a:ext cx="8133159" cy="158750"/>
          </a:xfrm>
          <a:prstGeom prst="rect">
            <a:avLst/>
          </a:prstGeom>
          <a:noFill/>
        </p:spPr>
        <p:txBody>
          <a:bodyPr wrap="none" lIns="0" rIns="0" tIns="0" bIns="0">
            <a:noAutofit/>
          </a:bodyPr>
          <a:lstStyle/>
          <a:p>
            <a:pPr>
              <a:spcBef>
                <a:spcPts val="0"/>
              </a:spcBef>
              <a:spcAft>
                <a:spcPts val="0"/>
              </a:spcAft>
            </a:pPr>
            <a:r>
              <a:rPr sz="950" b="0" spc="95">
                <a:solidFill>
                  <a:srgbClr val="84867E"/>
                </a:solidFill>
                <a:latin typeface="Spline Sans Mono"/>
              </a:rPr>
              <a:t>SCHULTE &amp; CO. · STRUCTURAL SURVEY OF A GROWING BUSINESS · BUSINESS ARCHITECTURE &amp; TRANSFORMATION</a:t>
            </a:r>
          </a:p>
        </p:txBody>
      </p:sp>
      <p:sp>
        <p:nvSpPr>
          <p:cNvPr id="58" name="TextBox 57"/>
          <p:cNvSpPr txBox="1"/>
          <p:nvPr/>
        </p:nvSpPr>
        <p:spPr>
          <a:xfrm>
            <a:off x="2971800" y="1428750"/>
            <a:ext cx="8133159" cy="2237978"/>
          </a:xfrm>
          <a:prstGeom prst="rect">
            <a:avLst/>
          </a:prstGeom>
          <a:noFill/>
        </p:spPr>
        <p:txBody>
          <a:bodyPr wrap="square" lIns="0" rIns="0" tIns="0" bIns="0">
            <a:noAutofit/>
          </a:bodyPr>
          <a:lstStyle/>
          <a:p>
            <a:pPr>
              <a:lnSpc>
                <a:spcPts val="8736"/>
              </a:lnSpc>
              <a:spcBef>
                <a:spcPts val="0"/>
              </a:spcBef>
              <a:spcAft>
                <a:spcPts val="0"/>
              </a:spcAft>
            </a:pPr>
            <a:r>
              <a:rPr sz="8400" b="0">
                <a:solidFill>
                  <a:srgbClr val="131417"/>
                </a:solidFill>
                <a:latin typeface="Gloock"/>
              </a:rPr>
              <a:t>Growth</a:t>
            </a:r>
          </a:p>
          <a:p>
            <a:pPr>
              <a:lnSpc>
                <a:spcPts val="8736"/>
              </a:lnSpc>
              <a:spcBef>
                <a:spcPts val="0"/>
              </a:spcBef>
              <a:spcAft>
                <a:spcPts val="0"/>
              </a:spcAft>
            </a:pPr>
            <a:r>
              <a:rPr sz="8400" b="0">
                <a:solidFill>
                  <a:srgbClr val="131417"/>
                </a:solidFill>
                <a:latin typeface="Gloock"/>
              </a:rPr>
              <a:t>by design.</a:t>
            </a:r>
          </a:p>
        </p:txBody>
      </p:sp>
      <p:sp>
        <p:nvSpPr>
          <p:cNvPr id="59" name="TextBox 58"/>
          <p:cNvSpPr txBox="1"/>
          <p:nvPr/>
        </p:nvSpPr>
        <p:spPr>
          <a:xfrm>
            <a:off x="2971800" y="3927078"/>
            <a:ext cx="5740400" cy="1162050"/>
          </a:xfrm>
          <a:prstGeom prst="rect">
            <a:avLst/>
          </a:prstGeom>
          <a:noFill/>
        </p:spPr>
        <p:txBody>
          <a:bodyPr wrap="square" lIns="0" rIns="0" tIns="0" bIns="0">
            <a:noAutofit/>
          </a:bodyPr>
          <a:lstStyle/>
          <a:p>
            <a:pPr>
              <a:lnSpc>
                <a:spcPts val="2250"/>
              </a:lnSpc>
              <a:spcBef>
                <a:spcPts val="0"/>
              </a:spcBef>
              <a:spcAft>
                <a:spcPts val="0"/>
              </a:spcAft>
            </a:pPr>
            <a:r>
              <a:rPr sz="1500" b="0">
                <a:solidFill>
                  <a:srgbClr val="131417"/>
                </a:solidFill>
                <a:latin typeface="Schibsted Grotesk"/>
              </a:rPr>
              <a:t>We help companies find the operational gaps preventing growth and redesign how people, processes, technology, and data work together. Put simply: </a:t>
            </a:r>
            <a:r>
              <a:rPr sz="1500" b="1">
                <a:solidFill>
                  <a:srgbClr val="131417"/>
                </a:solidFill>
                <a:latin typeface="Schibsted Grotesk"/>
              </a:rPr>
              <a:t>we fix the gaps between the parts of the business.</a:t>
            </a:r>
          </a:p>
        </p:txBody>
      </p:sp>
      <p:sp>
        <p:nvSpPr>
          <p:cNvPr id="60" name="TextBox 59"/>
          <p:cNvSpPr txBox="1"/>
          <p:nvPr/>
        </p:nvSpPr>
        <p:spPr>
          <a:xfrm>
            <a:off x="2971800" y="5425678"/>
            <a:ext cx="8133159" cy="171450"/>
          </a:xfrm>
          <a:prstGeom prst="rect">
            <a:avLst/>
          </a:prstGeom>
          <a:noFill/>
        </p:spPr>
        <p:txBody>
          <a:bodyPr wrap="none" lIns="0" rIns="0" tIns="0" bIns="0">
            <a:noAutofit/>
          </a:bodyPr>
          <a:lstStyle/>
          <a:p>
            <a:pPr>
              <a:spcBef>
                <a:spcPts val="0"/>
              </a:spcBef>
              <a:spcAft>
                <a:spcPts val="0"/>
              </a:spcAft>
            </a:pPr>
            <a:r>
              <a:rPr sz="1000" b="0" spc="80">
                <a:solidFill>
                  <a:srgbClr val="131417"/>
                </a:solidFill>
                <a:latin typeface="Spline Sans Mono"/>
              </a:rPr>
              <a:t>NATHAN SCHULTE · BUSINESS ARCHITECTURE    BRANDON MASSIE · TECHNICAL ARCHITECTURE</a:t>
            </a:r>
          </a:p>
        </p:txBody>
      </p:sp>
      <p:sp>
        <p:nvSpPr>
          <p:cNvPr id="61" name="TextBox 60"/>
          <p:cNvSpPr txBox="1"/>
          <p:nvPr/>
        </p:nvSpPr>
        <p:spPr>
          <a:xfrm>
            <a:off x="2971800" y="5717778"/>
            <a:ext cx="8133159" cy="152400"/>
          </a:xfrm>
          <a:prstGeom prst="rect">
            <a:avLst/>
          </a:prstGeom>
          <a:noFill/>
        </p:spPr>
        <p:txBody>
          <a:bodyPr wrap="none" lIns="0" rIns="0" tIns="0" bIns="0">
            <a:noAutofit/>
          </a:bodyPr>
          <a:lstStyle/>
          <a:p>
            <a:pPr>
              <a:spcBef>
                <a:spcPts val="0"/>
              </a:spcBef>
              <a:spcAft>
                <a:spcPts val="0"/>
              </a:spcAft>
            </a:pPr>
            <a:r>
              <a:rPr sz="900" b="0" spc="72">
                <a:solidFill>
                  <a:srgbClr val="2F4FA2"/>
                </a:solidFill>
                <a:latin typeface="Spline Sans Mono"/>
              </a:rPr>
              <a:t>SCHULTEAND.CO</a:t>
            </a:r>
          </a:p>
        </p:txBody>
      </p:sp>
      <p:sp>
        <p:nvSpPr>
          <p:cNvPr id="62" name="TextBox 61"/>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SCHULTE &amp; CO. · GROWTH BY DESIGN</a:t>
            </a:r>
          </a:p>
        </p:txBody>
      </p:sp>
      <p:sp>
        <p:nvSpPr>
          <p:cNvPr id="63" name="TextBox 62"/>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SHEET 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7518400" y="2543870"/>
            <a:ext cx="4064000" cy="1726307"/>
          </a:xfrm>
          <a:prstGeom prst="rect">
            <a:avLst/>
          </a:prstGeom>
          <a:noFill/>
          <a:ln w="6350">
            <a:solidFill>
              <a:srgbClr val="E4E4DD"/>
            </a:solidFill>
          </a:ln>
          <a:effectLst/>
        </p:spPr>
        <p:txBody>
          <a:bodyPr rtlCol="0" anchor="ctr"/>
          <a:lstStyle/>
          <a:p>
            <a:pPr algn="ctr"/>
          </a:p>
        </p:txBody>
      </p:sp>
      <p:sp>
        <p:nvSpPr>
          <p:cNvPr id="3" name="Rectangle 2"/>
          <p:cNvSpPr/>
          <p:nvPr/>
        </p:nvSpPr>
        <p:spPr>
          <a:xfrm>
            <a:off x="609600" y="6572250"/>
            <a:ext cx="10972800" cy="6350"/>
          </a:xfrm>
          <a:prstGeom prst="rect">
            <a:avLst/>
          </a:prstGeom>
          <a:solidFill>
            <a:srgbClr val="131417"/>
          </a:solidFill>
          <a:ln>
            <a:noFill/>
          </a:ln>
          <a:effectLst/>
        </p:spPr>
        <p:txBody>
          <a:bodyPr rtlCol="0" anchor="ctr"/>
          <a:lstStyle/>
          <a:p>
            <a:pPr algn="ctr"/>
          </a:p>
        </p:txBody>
      </p:sp>
      <p:sp>
        <p:nvSpPr>
          <p:cNvPr id="4" name="Rectangle 3"/>
          <p:cNvSpPr/>
          <p:nvPr/>
        </p:nvSpPr>
        <p:spPr>
          <a:xfrm>
            <a:off x="609600" y="6540500"/>
            <a:ext cx="6350" cy="69850"/>
          </a:xfrm>
          <a:prstGeom prst="rect">
            <a:avLst/>
          </a:prstGeom>
          <a:solidFill>
            <a:srgbClr val="131417"/>
          </a:solidFill>
          <a:ln>
            <a:noFill/>
          </a:ln>
          <a:effectLst/>
        </p:spPr>
        <p:txBody>
          <a:bodyPr rtlCol="0" anchor="ctr"/>
          <a:lstStyle/>
          <a:p>
            <a:pPr algn="ctr"/>
          </a:p>
        </p:txBody>
      </p:sp>
      <p:sp>
        <p:nvSpPr>
          <p:cNvPr id="5" name="Rectangle 4"/>
          <p:cNvSpPr/>
          <p:nvPr/>
        </p:nvSpPr>
        <p:spPr>
          <a:xfrm>
            <a:off x="1828800" y="6540500"/>
            <a:ext cx="6350" cy="69850"/>
          </a:xfrm>
          <a:prstGeom prst="rect">
            <a:avLst/>
          </a:prstGeom>
          <a:solidFill>
            <a:srgbClr val="131417"/>
          </a:solidFill>
          <a:ln>
            <a:noFill/>
          </a:ln>
          <a:effectLst/>
        </p:spPr>
        <p:txBody>
          <a:bodyPr rtlCol="0" anchor="ctr"/>
          <a:lstStyle/>
          <a:p>
            <a:pPr algn="ctr"/>
          </a:p>
        </p:txBody>
      </p:sp>
      <p:sp>
        <p:nvSpPr>
          <p:cNvPr id="6" name="Rectangle 5"/>
          <p:cNvSpPr/>
          <p:nvPr/>
        </p:nvSpPr>
        <p:spPr>
          <a:xfrm>
            <a:off x="3048000" y="6540500"/>
            <a:ext cx="6350" cy="69850"/>
          </a:xfrm>
          <a:prstGeom prst="rect">
            <a:avLst/>
          </a:prstGeom>
          <a:solidFill>
            <a:srgbClr val="131417"/>
          </a:solidFill>
          <a:ln>
            <a:noFill/>
          </a:ln>
          <a:effectLst/>
        </p:spPr>
        <p:txBody>
          <a:bodyPr rtlCol="0" anchor="ctr"/>
          <a:lstStyle/>
          <a:p>
            <a:pPr algn="ctr"/>
          </a:p>
        </p:txBody>
      </p:sp>
      <p:sp>
        <p:nvSpPr>
          <p:cNvPr id="7" name="Rectangle 6"/>
          <p:cNvSpPr/>
          <p:nvPr/>
        </p:nvSpPr>
        <p:spPr>
          <a:xfrm>
            <a:off x="4267101" y="6540500"/>
            <a:ext cx="6350" cy="69850"/>
          </a:xfrm>
          <a:prstGeom prst="rect">
            <a:avLst/>
          </a:prstGeom>
          <a:solidFill>
            <a:srgbClr val="131417"/>
          </a:solidFill>
          <a:ln>
            <a:noFill/>
          </a:ln>
          <a:effectLst/>
        </p:spPr>
        <p:txBody>
          <a:bodyPr rtlCol="0" anchor="ctr"/>
          <a:lstStyle/>
          <a:p>
            <a:pPr algn="ctr"/>
          </a:p>
        </p:txBody>
      </p:sp>
      <p:sp>
        <p:nvSpPr>
          <p:cNvPr id="8" name="Rectangle 7"/>
          <p:cNvSpPr/>
          <p:nvPr/>
        </p:nvSpPr>
        <p:spPr>
          <a:xfrm>
            <a:off x="5486400" y="6540500"/>
            <a:ext cx="6350" cy="69850"/>
          </a:xfrm>
          <a:prstGeom prst="rect">
            <a:avLst/>
          </a:prstGeom>
          <a:solidFill>
            <a:srgbClr val="131417"/>
          </a:solidFill>
          <a:ln>
            <a:noFill/>
          </a:ln>
          <a:effectLst/>
        </p:spPr>
        <p:txBody>
          <a:bodyPr rtlCol="0" anchor="ctr"/>
          <a:lstStyle/>
          <a:p>
            <a:pPr algn="ctr"/>
          </a:p>
        </p:txBody>
      </p:sp>
      <p:sp>
        <p:nvSpPr>
          <p:cNvPr id="9" name="Rectangle 8"/>
          <p:cNvSpPr/>
          <p:nvPr/>
        </p:nvSpPr>
        <p:spPr>
          <a:xfrm>
            <a:off x="6705600" y="6540500"/>
            <a:ext cx="6350" cy="69850"/>
          </a:xfrm>
          <a:prstGeom prst="rect">
            <a:avLst/>
          </a:prstGeom>
          <a:solidFill>
            <a:srgbClr val="131417"/>
          </a:solidFill>
          <a:ln>
            <a:noFill/>
          </a:ln>
          <a:effectLst/>
        </p:spPr>
        <p:txBody>
          <a:bodyPr rtlCol="0" anchor="ctr"/>
          <a:lstStyle/>
          <a:p>
            <a:pPr algn="ctr"/>
          </a:p>
        </p:txBody>
      </p:sp>
      <p:sp>
        <p:nvSpPr>
          <p:cNvPr id="10" name="Rectangle 9"/>
          <p:cNvSpPr/>
          <p:nvPr/>
        </p:nvSpPr>
        <p:spPr>
          <a:xfrm>
            <a:off x="7924701" y="6540500"/>
            <a:ext cx="6350" cy="69850"/>
          </a:xfrm>
          <a:prstGeom prst="rect">
            <a:avLst/>
          </a:prstGeom>
          <a:solidFill>
            <a:srgbClr val="131417"/>
          </a:solidFill>
          <a:ln>
            <a:noFill/>
          </a:ln>
          <a:effectLst/>
        </p:spPr>
        <p:txBody>
          <a:bodyPr rtlCol="0" anchor="ctr"/>
          <a:lstStyle/>
          <a:p>
            <a:pPr algn="ctr"/>
          </a:p>
        </p:txBody>
      </p:sp>
      <p:sp>
        <p:nvSpPr>
          <p:cNvPr id="11" name="Rectangle 10"/>
          <p:cNvSpPr/>
          <p:nvPr/>
        </p:nvSpPr>
        <p:spPr>
          <a:xfrm>
            <a:off x="9144000" y="6540500"/>
            <a:ext cx="6350" cy="69850"/>
          </a:xfrm>
          <a:prstGeom prst="rect">
            <a:avLst/>
          </a:prstGeom>
          <a:solidFill>
            <a:srgbClr val="131417"/>
          </a:solidFill>
          <a:ln>
            <a:noFill/>
          </a:ln>
          <a:effectLst/>
        </p:spPr>
        <p:txBody>
          <a:bodyPr rtlCol="0" anchor="ctr"/>
          <a:lstStyle/>
          <a:p>
            <a:pPr algn="ctr"/>
          </a:p>
        </p:txBody>
      </p:sp>
      <p:sp>
        <p:nvSpPr>
          <p:cNvPr id="12" name="Rectangle 11"/>
          <p:cNvSpPr/>
          <p:nvPr/>
        </p:nvSpPr>
        <p:spPr>
          <a:xfrm>
            <a:off x="10363200" y="6540500"/>
            <a:ext cx="6350" cy="69850"/>
          </a:xfrm>
          <a:prstGeom prst="rect">
            <a:avLst/>
          </a:prstGeom>
          <a:solidFill>
            <a:srgbClr val="131417"/>
          </a:solidFill>
          <a:ln>
            <a:noFill/>
          </a:ln>
          <a:effectLst/>
        </p:spPr>
        <p:txBody>
          <a:bodyPr rtlCol="0" anchor="ctr"/>
          <a:lstStyle/>
          <a:p>
            <a:pPr algn="ctr"/>
          </a:p>
        </p:txBody>
      </p:sp>
      <p:sp>
        <p:nvSpPr>
          <p:cNvPr id="13" name="Rectangle 12"/>
          <p:cNvSpPr/>
          <p:nvPr/>
        </p:nvSpPr>
        <p:spPr>
          <a:xfrm>
            <a:off x="11582400" y="6540500"/>
            <a:ext cx="6350" cy="69850"/>
          </a:xfrm>
          <a:prstGeom prst="rect">
            <a:avLst/>
          </a:prstGeom>
          <a:solidFill>
            <a:srgbClr val="131417"/>
          </a:solidFill>
          <a:ln>
            <a:noFill/>
          </a:ln>
          <a:effectLst/>
        </p:spPr>
        <p:txBody>
          <a:bodyPr rtlCol="0" anchor="ctr"/>
          <a:lstStyle/>
          <a:p>
            <a:pPr algn="ctr"/>
          </a:p>
        </p:txBody>
      </p:sp>
      <p:sp>
        <p:nvSpPr>
          <p:cNvPr id="14" name="Diamond 13"/>
          <p:cNvSpPr/>
          <p:nvPr/>
        </p:nvSpPr>
        <p:spPr>
          <a:xfrm>
            <a:off x="1797050" y="6546850"/>
            <a:ext cx="63500" cy="63500"/>
          </a:xfrm>
          <a:prstGeom prst="diamond">
            <a:avLst/>
          </a:prstGeom>
          <a:solidFill>
            <a:srgbClr val="D93A1F"/>
          </a:solidFill>
          <a:ln>
            <a:noFill/>
          </a:ln>
          <a:effectLst/>
        </p:spPr>
        <p:txBody>
          <a:bodyPr rtlCol="0" anchor="ctr"/>
          <a:lstStyle/>
          <a:p>
            <a:pPr algn="ctr"/>
          </a:p>
        </p:txBody>
      </p:sp>
      <p:cxnSp>
        <p:nvCxnSpPr>
          <p:cNvPr id="15" name="Connector 14"/>
          <p:cNvCxnSpPr/>
          <p:nvPr/>
        </p:nvCxnSpPr>
        <p:spPr>
          <a:xfrm>
            <a:off x="609600" y="412750"/>
            <a:ext cx="10972800" cy="0"/>
          </a:xfrm>
          <a:prstGeom prst="line">
            <a:avLst/>
          </a:prstGeom>
          <a:ln w="12700">
            <a:solidFill>
              <a:srgbClr val="131417"/>
            </a:solidFill>
          </a:ln>
          <a:effectLst/>
        </p:spPr>
      </p:cxnSp>
      <p:cxnSp>
        <p:nvCxnSpPr>
          <p:cNvPr id="16" name="Connector 15"/>
          <p:cNvCxnSpPr/>
          <p:nvPr/>
        </p:nvCxnSpPr>
        <p:spPr>
          <a:xfrm>
            <a:off x="609600" y="3226395"/>
            <a:ext cx="5715000" cy="0"/>
          </a:xfrm>
          <a:prstGeom prst="line">
            <a:avLst/>
          </a:prstGeom>
          <a:ln w="19050">
            <a:solidFill>
              <a:srgbClr val="131417"/>
            </a:solidFill>
          </a:ln>
          <a:effectLst/>
        </p:spPr>
      </p:cxnSp>
      <p:cxnSp>
        <p:nvCxnSpPr>
          <p:cNvPr id="17" name="Connector 16"/>
          <p:cNvCxnSpPr/>
          <p:nvPr/>
        </p:nvCxnSpPr>
        <p:spPr>
          <a:xfrm>
            <a:off x="609600" y="3493095"/>
            <a:ext cx="5715000" cy="0"/>
          </a:xfrm>
          <a:prstGeom prst="line">
            <a:avLst/>
          </a:prstGeom>
          <a:ln w="6350">
            <a:solidFill>
              <a:srgbClr val="E4E4DD"/>
            </a:solidFill>
          </a:ln>
          <a:effectLst/>
        </p:spPr>
      </p:cxnSp>
      <p:cxnSp>
        <p:nvCxnSpPr>
          <p:cNvPr id="18" name="Connector 17"/>
          <p:cNvCxnSpPr/>
          <p:nvPr/>
        </p:nvCxnSpPr>
        <p:spPr>
          <a:xfrm>
            <a:off x="609600" y="3753445"/>
            <a:ext cx="5715000" cy="0"/>
          </a:xfrm>
          <a:prstGeom prst="line">
            <a:avLst/>
          </a:prstGeom>
          <a:ln w="6350">
            <a:solidFill>
              <a:srgbClr val="E4E4DD"/>
            </a:solidFill>
          </a:ln>
          <a:effectLst/>
        </p:spPr>
      </p:cxnSp>
      <p:cxnSp>
        <p:nvCxnSpPr>
          <p:cNvPr id="19" name="Connector 18"/>
          <p:cNvCxnSpPr/>
          <p:nvPr/>
        </p:nvCxnSpPr>
        <p:spPr>
          <a:xfrm>
            <a:off x="609600" y="4013795"/>
            <a:ext cx="5715000" cy="0"/>
          </a:xfrm>
          <a:prstGeom prst="line">
            <a:avLst/>
          </a:prstGeom>
          <a:ln w="6350">
            <a:solidFill>
              <a:srgbClr val="E4E4DD"/>
            </a:solidFill>
          </a:ln>
          <a:effectLst/>
        </p:spPr>
      </p:cxnSp>
      <p:cxnSp>
        <p:nvCxnSpPr>
          <p:cNvPr id="20" name="Connector 19"/>
          <p:cNvCxnSpPr/>
          <p:nvPr/>
        </p:nvCxnSpPr>
        <p:spPr>
          <a:xfrm>
            <a:off x="609600" y="4299545"/>
            <a:ext cx="6337300" cy="0"/>
          </a:xfrm>
          <a:prstGeom prst="line">
            <a:avLst/>
          </a:prstGeom>
          <a:ln w="6350">
            <a:solidFill>
              <a:srgbClr val="131417"/>
            </a:solidFill>
          </a:ln>
          <a:effectLst/>
        </p:spPr>
      </p:cxnSp>
      <p:cxnSp>
        <p:nvCxnSpPr>
          <p:cNvPr id="21" name="Connector 20"/>
          <p:cNvCxnSpPr/>
          <p:nvPr/>
        </p:nvCxnSpPr>
        <p:spPr>
          <a:xfrm>
            <a:off x="609600" y="4737001"/>
            <a:ext cx="6337300" cy="0"/>
          </a:xfrm>
          <a:prstGeom prst="line">
            <a:avLst/>
          </a:prstGeom>
          <a:ln w="6350">
            <a:solidFill>
              <a:srgbClr val="E4E4DD"/>
            </a:solidFill>
          </a:ln>
          <a:effectLst/>
        </p:spPr>
      </p:cxnSp>
      <p:cxnSp>
        <p:nvCxnSpPr>
          <p:cNvPr id="22" name="Connector 21"/>
          <p:cNvCxnSpPr/>
          <p:nvPr/>
        </p:nvCxnSpPr>
        <p:spPr>
          <a:xfrm>
            <a:off x="7960783" y="3423133"/>
            <a:ext cx="1448647" cy="0"/>
          </a:xfrm>
          <a:prstGeom prst="line">
            <a:avLst/>
          </a:prstGeom>
          <a:ln w="14731">
            <a:solidFill>
              <a:srgbClr val="131417"/>
            </a:solidFill>
          </a:ln>
          <a:effectLst/>
        </p:spPr>
      </p:cxnSp>
      <p:cxnSp>
        <p:nvCxnSpPr>
          <p:cNvPr id="23" name="Connector 22"/>
          <p:cNvCxnSpPr/>
          <p:nvPr/>
        </p:nvCxnSpPr>
        <p:spPr>
          <a:xfrm>
            <a:off x="9654963" y="3423133"/>
            <a:ext cx="1436370" cy="0"/>
          </a:xfrm>
          <a:prstGeom prst="line">
            <a:avLst/>
          </a:prstGeom>
          <a:ln w="14731">
            <a:solidFill>
              <a:srgbClr val="131417"/>
            </a:solidFill>
          </a:ln>
          <a:effectLst/>
        </p:spPr>
      </p:cxnSp>
      <p:sp>
        <p:nvSpPr>
          <p:cNvPr id="24" name="Oval 23"/>
          <p:cNvSpPr/>
          <p:nvPr/>
        </p:nvSpPr>
        <p:spPr>
          <a:xfrm>
            <a:off x="7899400" y="3361750"/>
            <a:ext cx="122767" cy="122767"/>
          </a:xfrm>
          <a:prstGeom prst="ellipse">
            <a:avLst/>
          </a:prstGeom>
          <a:solidFill>
            <a:srgbClr val="F7F7F3"/>
          </a:solidFill>
          <a:ln w="13504">
            <a:solidFill>
              <a:srgbClr val="131417"/>
            </a:solidFill>
          </a:ln>
          <a:effectLst/>
        </p:spPr>
        <p:txBody>
          <a:bodyPr rtlCol="0" anchor="ctr"/>
          <a:lstStyle/>
          <a:p>
            <a:pPr algn="ctr"/>
          </a:p>
        </p:txBody>
      </p:sp>
      <p:sp>
        <p:nvSpPr>
          <p:cNvPr id="25" name="Oval 24"/>
          <p:cNvSpPr/>
          <p:nvPr/>
        </p:nvSpPr>
        <p:spPr>
          <a:xfrm>
            <a:off x="8304530" y="3361750"/>
            <a:ext cx="122767" cy="122767"/>
          </a:xfrm>
          <a:prstGeom prst="ellipse">
            <a:avLst/>
          </a:prstGeom>
          <a:solidFill>
            <a:srgbClr val="F7F7F3"/>
          </a:solidFill>
          <a:ln w="13504">
            <a:solidFill>
              <a:srgbClr val="131417"/>
            </a:solidFill>
          </a:ln>
          <a:effectLst/>
        </p:spPr>
        <p:txBody>
          <a:bodyPr rtlCol="0" anchor="ctr"/>
          <a:lstStyle/>
          <a:p>
            <a:pPr algn="ctr"/>
          </a:p>
        </p:txBody>
      </p:sp>
      <p:sp>
        <p:nvSpPr>
          <p:cNvPr id="26" name="Oval 25"/>
          <p:cNvSpPr/>
          <p:nvPr/>
        </p:nvSpPr>
        <p:spPr>
          <a:xfrm>
            <a:off x="8709660" y="3361750"/>
            <a:ext cx="122767" cy="122767"/>
          </a:xfrm>
          <a:prstGeom prst="ellipse">
            <a:avLst/>
          </a:prstGeom>
          <a:solidFill>
            <a:srgbClr val="F7F7F3"/>
          </a:solidFill>
          <a:ln w="13504">
            <a:solidFill>
              <a:srgbClr val="131417"/>
            </a:solidFill>
          </a:ln>
          <a:effectLst/>
        </p:spPr>
        <p:txBody>
          <a:bodyPr rtlCol="0" anchor="ctr"/>
          <a:lstStyle/>
          <a:p>
            <a:pPr algn="ctr"/>
          </a:p>
        </p:txBody>
      </p:sp>
      <p:sp>
        <p:nvSpPr>
          <p:cNvPr id="27" name="Oval 26"/>
          <p:cNvSpPr/>
          <p:nvPr/>
        </p:nvSpPr>
        <p:spPr>
          <a:xfrm>
            <a:off x="9114790" y="3361750"/>
            <a:ext cx="122767" cy="122767"/>
          </a:xfrm>
          <a:prstGeom prst="ellipse">
            <a:avLst/>
          </a:prstGeom>
          <a:solidFill>
            <a:srgbClr val="F7F7F3"/>
          </a:solidFill>
          <a:ln w="13504">
            <a:solidFill>
              <a:srgbClr val="131417"/>
            </a:solidFill>
          </a:ln>
          <a:effectLst/>
        </p:spPr>
        <p:txBody>
          <a:bodyPr rtlCol="0" anchor="ctr"/>
          <a:lstStyle/>
          <a:p>
            <a:pPr algn="ctr"/>
          </a:p>
        </p:txBody>
      </p:sp>
      <p:sp>
        <p:nvSpPr>
          <p:cNvPr id="28" name="Oval 27"/>
          <p:cNvSpPr/>
          <p:nvPr/>
        </p:nvSpPr>
        <p:spPr>
          <a:xfrm>
            <a:off x="9814560" y="3361750"/>
            <a:ext cx="122767" cy="122767"/>
          </a:xfrm>
          <a:prstGeom prst="ellipse">
            <a:avLst/>
          </a:prstGeom>
          <a:solidFill>
            <a:srgbClr val="F7F7F3"/>
          </a:solidFill>
          <a:ln w="13504">
            <a:solidFill>
              <a:srgbClr val="131417"/>
            </a:solidFill>
          </a:ln>
          <a:effectLst/>
        </p:spPr>
        <p:txBody>
          <a:bodyPr rtlCol="0" anchor="ctr"/>
          <a:lstStyle/>
          <a:p>
            <a:pPr algn="ctr"/>
          </a:p>
        </p:txBody>
      </p:sp>
      <p:sp>
        <p:nvSpPr>
          <p:cNvPr id="29" name="Oval 28"/>
          <p:cNvSpPr/>
          <p:nvPr/>
        </p:nvSpPr>
        <p:spPr>
          <a:xfrm>
            <a:off x="10219690" y="3361750"/>
            <a:ext cx="122767" cy="122767"/>
          </a:xfrm>
          <a:prstGeom prst="ellipse">
            <a:avLst/>
          </a:prstGeom>
          <a:solidFill>
            <a:srgbClr val="F7F7F3"/>
          </a:solidFill>
          <a:ln w="13504">
            <a:solidFill>
              <a:srgbClr val="131417"/>
            </a:solidFill>
          </a:ln>
          <a:effectLst/>
        </p:spPr>
        <p:txBody>
          <a:bodyPr rtlCol="0" anchor="ctr"/>
          <a:lstStyle/>
          <a:p>
            <a:pPr algn="ctr"/>
          </a:p>
        </p:txBody>
      </p:sp>
      <p:sp>
        <p:nvSpPr>
          <p:cNvPr id="30" name="Oval 29"/>
          <p:cNvSpPr/>
          <p:nvPr/>
        </p:nvSpPr>
        <p:spPr>
          <a:xfrm>
            <a:off x="10624820" y="3361750"/>
            <a:ext cx="122767" cy="122767"/>
          </a:xfrm>
          <a:prstGeom prst="ellipse">
            <a:avLst/>
          </a:prstGeom>
          <a:solidFill>
            <a:srgbClr val="F7F7F3"/>
          </a:solidFill>
          <a:ln w="13504">
            <a:solidFill>
              <a:srgbClr val="131417"/>
            </a:solidFill>
          </a:ln>
          <a:effectLst/>
        </p:spPr>
        <p:txBody>
          <a:bodyPr rtlCol="0" anchor="ctr"/>
          <a:lstStyle/>
          <a:p>
            <a:pPr algn="ctr"/>
          </a:p>
        </p:txBody>
      </p:sp>
      <p:sp>
        <p:nvSpPr>
          <p:cNvPr id="31" name="Oval 30"/>
          <p:cNvSpPr/>
          <p:nvPr/>
        </p:nvSpPr>
        <p:spPr>
          <a:xfrm>
            <a:off x="11029950" y="3361750"/>
            <a:ext cx="122767" cy="122767"/>
          </a:xfrm>
          <a:prstGeom prst="ellipse">
            <a:avLst/>
          </a:prstGeom>
          <a:solidFill>
            <a:srgbClr val="F7F7F3"/>
          </a:solidFill>
          <a:ln w="13504">
            <a:solidFill>
              <a:srgbClr val="131417"/>
            </a:solidFill>
          </a:ln>
          <a:effectLst/>
        </p:spPr>
        <p:txBody>
          <a:bodyPr rtlCol="0" anchor="ctr"/>
          <a:lstStyle/>
          <a:p>
            <a:pPr algn="ctr"/>
          </a:p>
        </p:txBody>
      </p:sp>
      <p:sp>
        <p:nvSpPr>
          <p:cNvPr id="32" name="Oval 31"/>
          <p:cNvSpPr/>
          <p:nvPr/>
        </p:nvSpPr>
        <p:spPr>
          <a:xfrm>
            <a:off x="7933775" y="3396124"/>
            <a:ext cx="54017" cy="54017"/>
          </a:xfrm>
          <a:prstGeom prst="ellipse">
            <a:avLst/>
          </a:prstGeom>
          <a:solidFill>
            <a:srgbClr val="D93A1F"/>
          </a:solidFill>
          <a:ln>
            <a:noFill/>
          </a:ln>
          <a:effectLst/>
        </p:spPr>
        <p:txBody>
          <a:bodyPr rtlCol="0" anchor="ctr"/>
          <a:lstStyle/>
          <a:p>
            <a:pPr algn="ctr"/>
          </a:p>
        </p:txBody>
      </p:sp>
      <p:sp>
        <p:nvSpPr>
          <p:cNvPr id="33" name="Freeform 32"/>
          <p:cNvSpPr/>
          <p:nvPr/>
        </p:nvSpPr>
        <p:spPr>
          <a:xfrm>
            <a:off x="9423400" y="3314700"/>
            <a:ext cx="222250" cy="215900"/>
          </a:xfrm>
          <a:custGeom>
            <a:avLst/>
            <a:gdLst/>
            <a:ahLst/>
            <a:cxnLst/>
            <a:rect l="l" t="t" r="r" b="b"/>
            <a:pathLst>
              <a:path w="35" h="34">
                <a:moveTo>
                  <a:pt x="17" y="0"/>
                </a:moveTo>
                <a:lnTo>
                  <a:pt x="35" y="17"/>
                </a:lnTo>
                <a:lnTo>
                  <a:pt x="17" y="34"/>
                </a:lnTo>
                <a:lnTo>
                  <a:pt x="0" y="17"/>
                </a:lnTo>
                <a:close/>
              </a:path>
            </a:pathLst>
          </a:custGeom>
          <a:solidFill>
            <a:srgbClr val="F7F7F3"/>
          </a:solidFill>
          <a:ln w="13504">
            <a:solidFill>
              <a:srgbClr val="2F4FA2"/>
            </a:solidFill>
          </a:ln>
          <a:effectLst/>
        </p:spPr>
        <p:txBody>
          <a:bodyPr rtlCol="0" anchor="ctr"/>
          <a:lstStyle/>
          <a:p>
            <a:pPr algn="ctr"/>
          </a:p>
        </p:txBody>
      </p:sp>
      <p:sp>
        <p:nvSpPr>
          <p:cNvPr id="34" name="TextBox 33"/>
          <p:cNvSpPr txBox="1"/>
          <p:nvPr/>
        </p:nvSpPr>
        <p:spPr>
          <a:xfrm>
            <a:off x="596900" y="787400"/>
            <a:ext cx="599777" cy="158750"/>
          </a:xfrm>
          <a:prstGeom prst="rect">
            <a:avLst/>
          </a:prstGeom>
          <a:noFill/>
        </p:spPr>
        <p:txBody>
          <a:bodyPr wrap="none" lIns="0" rIns="0" tIns="0" bIns="0">
            <a:noAutofit/>
          </a:bodyPr>
          <a:lstStyle/>
          <a:p>
            <a:pPr>
              <a:spcBef>
                <a:spcPts val="0"/>
              </a:spcBef>
              <a:spcAft>
                <a:spcPts val="0"/>
              </a:spcAft>
            </a:pPr>
            <a:r>
              <a:rPr sz="950" b="1" spc="76">
                <a:solidFill>
                  <a:srgbClr val="D93A1F"/>
                </a:solidFill>
                <a:latin typeface="Spline Sans Mono"/>
              </a:rPr>
              <a:t>FIG. 01</a:t>
            </a:r>
          </a:p>
        </p:txBody>
      </p:sp>
      <p:sp>
        <p:nvSpPr>
          <p:cNvPr id="35" name="TextBox 34"/>
          <p:cNvSpPr txBox="1"/>
          <p:nvPr/>
        </p:nvSpPr>
        <p:spPr>
          <a:xfrm>
            <a:off x="1349077" y="539750"/>
            <a:ext cx="3361630" cy="441623"/>
          </a:xfrm>
          <a:prstGeom prst="rect">
            <a:avLst/>
          </a:prstGeom>
          <a:noFill/>
        </p:spPr>
        <p:txBody>
          <a:bodyPr wrap="none" lIns="0" rIns="0" tIns="0" bIns="0">
            <a:noAutofit/>
          </a:bodyPr>
          <a:lstStyle/>
          <a:p>
            <a:pPr>
              <a:lnSpc>
                <a:spcPts val="3328"/>
              </a:lnSpc>
              <a:spcBef>
                <a:spcPts val="0"/>
              </a:spcBef>
              <a:spcAft>
                <a:spcPts val="0"/>
              </a:spcAft>
            </a:pPr>
            <a:r>
              <a:rPr sz="3200" b="0">
                <a:solidFill>
                  <a:srgbClr val="131417"/>
                </a:solidFill>
                <a:latin typeface="Gloock"/>
              </a:rPr>
              <a:t>Growth by Design</a:t>
            </a:r>
          </a:p>
        </p:txBody>
      </p:sp>
      <p:sp>
        <p:nvSpPr>
          <p:cNvPr id="36" name="TextBox 35"/>
          <p:cNvSpPr txBox="1"/>
          <p:nvPr/>
        </p:nvSpPr>
        <p:spPr>
          <a:xfrm>
            <a:off x="9887148" y="806450"/>
            <a:ext cx="1707952" cy="139700"/>
          </a:xfrm>
          <a:prstGeom prst="rect">
            <a:avLst/>
          </a:prstGeom>
          <a:noFill/>
        </p:spPr>
        <p:txBody>
          <a:bodyPr wrap="none" lIns="0" rIns="0" tIns="0" bIns="0">
            <a:noAutofit/>
          </a:bodyPr>
          <a:lstStyle/>
          <a:p>
            <a:pPr>
              <a:spcBef>
                <a:spcPts val="0"/>
              </a:spcBef>
              <a:spcAft>
                <a:spcPts val="0"/>
              </a:spcAft>
            </a:pPr>
            <a:r>
              <a:rPr sz="800" b="0" spc="72">
                <a:solidFill>
                  <a:srgbClr val="84867E"/>
                </a:solidFill>
                <a:latin typeface="Spline Sans Mono"/>
              </a:rPr>
              <a:t>THE THESIS, IN ONE SHEET</a:t>
            </a:r>
          </a:p>
        </p:txBody>
      </p:sp>
      <p:sp>
        <p:nvSpPr>
          <p:cNvPr id="37" name="TextBox 36"/>
          <p:cNvSpPr txBox="1"/>
          <p:nvPr/>
        </p:nvSpPr>
        <p:spPr>
          <a:xfrm>
            <a:off x="596900" y="2067520"/>
            <a:ext cx="6362700" cy="933450"/>
          </a:xfrm>
          <a:prstGeom prst="rect">
            <a:avLst/>
          </a:prstGeom>
          <a:noFill/>
        </p:spPr>
        <p:txBody>
          <a:bodyPr wrap="square" lIns="0" rIns="0" tIns="0" bIns="0">
            <a:noAutofit/>
          </a:bodyPr>
          <a:lstStyle/>
          <a:p>
            <a:pPr>
              <a:lnSpc>
                <a:spcPts val="2400"/>
              </a:lnSpc>
              <a:spcBef>
                <a:spcPts val="0"/>
              </a:spcBef>
              <a:spcAft>
                <a:spcPts val="0"/>
              </a:spcAft>
            </a:pPr>
            <a:r>
              <a:rPr sz="1600" b="0">
                <a:solidFill>
                  <a:srgbClr val="131417"/>
                </a:solidFill>
                <a:latin typeface="Schibsted Grotesk"/>
              </a:rPr>
              <a:t>Companies add more of everything — but rarely stop to design how the pieces should work together. We connect business strategy to the operating and technical architecture required to execute it.</a:t>
            </a:r>
          </a:p>
        </p:txBody>
      </p:sp>
      <p:sp>
        <p:nvSpPr>
          <p:cNvPr id="38" name="TextBox 37"/>
          <p:cNvSpPr txBox="1"/>
          <p:nvPr/>
        </p:nvSpPr>
        <p:spPr>
          <a:xfrm>
            <a:off x="596900" y="3286720"/>
            <a:ext cx="459780" cy="158750"/>
          </a:xfrm>
          <a:prstGeom prst="rect">
            <a:avLst/>
          </a:prstGeom>
          <a:noFill/>
        </p:spPr>
        <p:txBody>
          <a:bodyPr wrap="none" lIns="0" rIns="0" tIns="0" bIns="0">
            <a:noAutofit/>
          </a:bodyPr>
          <a:lstStyle/>
          <a:p>
            <a:pPr>
              <a:spcBef>
                <a:spcPts val="0"/>
              </a:spcBef>
              <a:spcAft>
                <a:spcPts val="0"/>
              </a:spcAft>
            </a:pPr>
            <a:r>
              <a:rPr sz="950" b="0">
                <a:solidFill>
                  <a:srgbClr val="84867E"/>
                </a:solidFill>
                <a:latin typeface="Spline Sans Mono"/>
              </a:rPr>
              <a:t>METHOD</a:t>
            </a:r>
          </a:p>
        </p:txBody>
      </p:sp>
      <p:sp>
        <p:nvSpPr>
          <p:cNvPr id="39" name="TextBox 38"/>
          <p:cNvSpPr txBox="1"/>
          <p:nvPr/>
        </p:nvSpPr>
        <p:spPr>
          <a:xfrm>
            <a:off x="4551660" y="3318470"/>
            <a:ext cx="1785640" cy="120650"/>
          </a:xfrm>
          <a:prstGeom prst="rect">
            <a:avLst/>
          </a:prstGeom>
          <a:noFill/>
        </p:spPr>
        <p:txBody>
          <a:bodyPr wrap="none" lIns="0" rIns="0" tIns="0" bIns="0">
            <a:noAutofit/>
          </a:bodyPr>
          <a:lstStyle/>
          <a:p>
            <a:pPr>
              <a:spcBef>
                <a:spcPts val="0"/>
              </a:spcBef>
              <a:spcAft>
                <a:spcPts val="0"/>
              </a:spcAft>
            </a:pPr>
            <a:r>
              <a:rPr sz="700" b="1">
                <a:solidFill>
                  <a:srgbClr val="131417"/>
                </a:solidFill>
                <a:latin typeface="Spline Sans Mono"/>
              </a:rPr>
              <a:t>BUILD · PROVE · TEACH · HAND BACK</a:t>
            </a:r>
          </a:p>
        </p:txBody>
      </p:sp>
      <p:sp>
        <p:nvSpPr>
          <p:cNvPr id="40" name="TextBox 39"/>
          <p:cNvSpPr txBox="1"/>
          <p:nvPr/>
        </p:nvSpPr>
        <p:spPr>
          <a:xfrm>
            <a:off x="596900" y="3547070"/>
            <a:ext cx="676970" cy="158750"/>
          </a:xfrm>
          <a:prstGeom prst="rect">
            <a:avLst/>
          </a:prstGeom>
          <a:noFill/>
        </p:spPr>
        <p:txBody>
          <a:bodyPr wrap="none" lIns="0" rIns="0" tIns="0" bIns="0">
            <a:noAutofit/>
          </a:bodyPr>
          <a:lstStyle/>
          <a:p>
            <a:pPr>
              <a:spcBef>
                <a:spcPts val="0"/>
              </a:spcBef>
              <a:spcAft>
                <a:spcPts val="0"/>
              </a:spcAft>
            </a:pPr>
            <a:r>
              <a:rPr sz="950" b="0">
                <a:solidFill>
                  <a:srgbClr val="84867E"/>
                </a:solidFill>
                <a:latin typeface="Spline Sans Mono"/>
              </a:rPr>
              <a:t>PRINCIPLE</a:t>
            </a:r>
          </a:p>
        </p:txBody>
      </p:sp>
      <p:sp>
        <p:nvSpPr>
          <p:cNvPr id="41" name="TextBox 40"/>
          <p:cNvSpPr txBox="1"/>
          <p:nvPr/>
        </p:nvSpPr>
        <p:spPr>
          <a:xfrm>
            <a:off x="4551660" y="3578820"/>
            <a:ext cx="1785640" cy="120650"/>
          </a:xfrm>
          <a:prstGeom prst="rect">
            <a:avLst/>
          </a:prstGeom>
          <a:noFill/>
        </p:spPr>
        <p:txBody>
          <a:bodyPr wrap="none" lIns="0" rIns="0" tIns="0" bIns="0">
            <a:noAutofit/>
          </a:bodyPr>
          <a:lstStyle/>
          <a:p>
            <a:pPr>
              <a:spcBef>
                <a:spcPts val="0"/>
              </a:spcBef>
              <a:spcAft>
                <a:spcPts val="0"/>
              </a:spcAft>
            </a:pPr>
            <a:r>
              <a:rPr sz="700" b="1">
                <a:solidFill>
                  <a:srgbClr val="131417"/>
                </a:solidFill>
                <a:latin typeface="Spline Sans Mono"/>
              </a:rPr>
              <a:t>GROWTH BY DESIGN, NOT BRUTE FORCE</a:t>
            </a:r>
          </a:p>
        </p:txBody>
      </p:sp>
      <p:sp>
        <p:nvSpPr>
          <p:cNvPr id="42" name="TextBox 41"/>
          <p:cNvSpPr txBox="1"/>
          <p:nvPr/>
        </p:nvSpPr>
        <p:spPr>
          <a:xfrm>
            <a:off x="596900" y="3807420"/>
            <a:ext cx="387449" cy="158750"/>
          </a:xfrm>
          <a:prstGeom prst="rect">
            <a:avLst/>
          </a:prstGeom>
          <a:noFill/>
        </p:spPr>
        <p:txBody>
          <a:bodyPr wrap="none" lIns="0" rIns="0" tIns="0" bIns="0">
            <a:noAutofit/>
          </a:bodyPr>
          <a:lstStyle/>
          <a:p>
            <a:pPr>
              <a:spcBef>
                <a:spcPts val="0"/>
              </a:spcBef>
              <a:spcAft>
                <a:spcPts val="0"/>
              </a:spcAft>
            </a:pPr>
            <a:r>
              <a:rPr sz="950" b="0">
                <a:solidFill>
                  <a:srgbClr val="84867E"/>
                </a:solidFill>
                <a:latin typeface="Spline Sans Mono"/>
              </a:rPr>
              <a:t>ENTRY</a:t>
            </a:r>
          </a:p>
        </p:txBody>
      </p:sp>
      <p:sp>
        <p:nvSpPr>
          <p:cNvPr id="43" name="TextBox 42"/>
          <p:cNvSpPr txBox="1"/>
          <p:nvPr/>
        </p:nvSpPr>
        <p:spPr>
          <a:xfrm>
            <a:off x="5298380" y="3839170"/>
            <a:ext cx="1038920" cy="120650"/>
          </a:xfrm>
          <a:prstGeom prst="rect">
            <a:avLst/>
          </a:prstGeom>
          <a:noFill/>
        </p:spPr>
        <p:txBody>
          <a:bodyPr wrap="none" lIns="0" rIns="0" tIns="0" bIns="0">
            <a:noAutofit/>
          </a:bodyPr>
          <a:lstStyle/>
          <a:p>
            <a:pPr>
              <a:spcBef>
                <a:spcPts val="0"/>
              </a:spcBef>
              <a:spcAft>
                <a:spcPts val="0"/>
              </a:spcAft>
            </a:pPr>
            <a:r>
              <a:rPr sz="700" b="1">
                <a:solidFill>
                  <a:srgbClr val="131417"/>
                </a:solidFill>
                <a:latin typeface="Spline Sans Mono"/>
              </a:rPr>
              <a:t>ONE REAL PAIN POINT</a:t>
            </a:r>
          </a:p>
        </p:txBody>
      </p:sp>
      <p:sp>
        <p:nvSpPr>
          <p:cNvPr id="44" name="TextBox 43"/>
          <p:cNvSpPr txBox="1"/>
          <p:nvPr/>
        </p:nvSpPr>
        <p:spPr>
          <a:xfrm>
            <a:off x="609600" y="4385270"/>
            <a:ext cx="6337300" cy="272355"/>
          </a:xfrm>
          <a:prstGeom prst="rect">
            <a:avLst/>
          </a:prstGeom>
          <a:noFill/>
        </p:spPr>
        <p:txBody>
          <a:bodyPr wrap="none" lIns="0" rIns="0" tIns="0" bIns="0">
            <a:noAutofit/>
          </a:bodyPr>
          <a:lstStyle/>
          <a:p>
            <a:pPr>
              <a:lnSpc>
                <a:spcPts val="1995"/>
              </a:lnSpc>
              <a:spcBef>
                <a:spcPts val="0"/>
              </a:spcBef>
              <a:spcAft>
                <a:spcPts val="0"/>
              </a:spcAft>
            </a:pPr>
            <a:r>
              <a:rPr sz="950" b="1" spc="76">
                <a:solidFill>
                  <a:srgbClr val="9C6F22"/>
                </a:solidFill>
                <a:latin typeface="Spline Sans Mono"/>
              </a:rPr>
              <a:t>8</a:t>
            </a:r>
            <a:r>
              <a:rPr sz="950" b="0" spc="76">
                <a:solidFill>
                  <a:srgbClr val="131417"/>
                </a:solidFill>
                <a:latin typeface="Spline Sans Mono"/>
              </a:rPr>
              <a:t> STEPS · </a:t>
            </a:r>
            <a:r>
              <a:rPr sz="950" b="1" spc="76">
                <a:solidFill>
                  <a:srgbClr val="9C6F22"/>
                </a:solidFill>
                <a:latin typeface="Spline Sans Mono"/>
              </a:rPr>
              <a:t>ONE</a:t>
            </a:r>
            <a:r>
              <a:rPr sz="950" b="0" spc="76">
                <a:solidFill>
                  <a:srgbClr val="131417"/>
                </a:solidFill>
                <a:latin typeface="Spline Sans Mono"/>
              </a:rPr>
              <a:t> GATE · </a:t>
            </a:r>
            <a:r>
              <a:rPr sz="950" b="1" spc="76">
                <a:solidFill>
                  <a:srgbClr val="9C6F22"/>
                </a:solidFill>
                <a:latin typeface="Spline Sans Mono"/>
              </a:rPr>
              <a:t>823</a:t>
            </a:r>
            <a:r>
              <a:rPr sz="950" b="0" spc="76">
                <a:solidFill>
                  <a:srgbClr val="131417"/>
                </a:solidFill>
                <a:latin typeface="Spline Sans Mono"/>
              </a:rPr>
              <a:t> HRS SAVED / YR · </a:t>
            </a:r>
            <a:r>
              <a:rPr sz="950" b="1" spc="76">
                <a:solidFill>
                  <a:srgbClr val="9C6F22"/>
                </a:solidFill>
                <a:latin typeface="Spline Sans Mono"/>
              </a:rPr>
              <a:t>≈$61,725</a:t>
            </a:r>
            <a:r>
              <a:rPr sz="950" b="0" spc="76">
                <a:solidFill>
                  <a:srgbClr val="131417"/>
                </a:solidFill>
                <a:latin typeface="Spline Sans Mono"/>
              </a:rPr>
              <a:t> RECOVERED · </a:t>
            </a:r>
            <a:r>
              <a:rPr sz="950" b="1" spc="76">
                <a:solidFill>
                  <a:srgbClr val="9C6F22"/>
                </a:solidFill>
                <a:latin typeface="Spline Sans Mono"/>
              </a:rPr>
              <a:t>ONE</a:t>
            </a:r>
            <a:r>
              <a:rPr sz="950" b="0" spc="76">
                <a:solidFill>
                  <a:srgbClr val="131417"/>
                </a:solidFill>
                <a:latin typeface="Spline Sans Mono"/>
              </a:rPr>
              <a:t> WORKFLOW</a:t>
            </a:r>
          </a:p>
        </p:txBody>
      </p:sp>
      <p:sp>
        <p:nvSpPr>
          <p:cNvPr id="45" name="TextBox 44"/>
          <p:cNvSpPr txBox="1"/>
          <p:nvPr/>
        </p:nvSpPr>
        <p:spPr>
          <a:xfrm>
            <a:off x="7702550" y="2721670"/>
            <a:ext cx="1339850" cy="133350"/>
          </a:xfrm>
          <a:prstGeom prst="rect">
            <a:avLst/>
          </a:prstGeom>
          <a:noFill/>
        </p:spPr>
        <p:txBody>
          <a:bodyPr wrap="none" lIns="0" rIns="0" tIns="0" bIns="0">
            <a:noAutofit/>
          </a:bodyPr>
          <a:lstStyle/>
          <a:p>
            <a:pPr>
              <a:spcBef>
                <a:spcPts val="0"/>
              </a:spcBef>
              <a:spcAft>
                <a:spcPts val="0"/>
              </a:spcAft>
            </a:pPr>
            <a:r>
              <a:rPr sz="750" b="0" spc="68">
                <a:solidFill>
                  <a:srgbClr val="84867E"/>
                </a:solidFill>
                <a:latin typeface="Spline Sans Mono"/>
              </a:rPr>
              <a:t>KEY MAP · THE METHOD</a:t>
            </a:r>
          </a:p>
        </p:txBody>
      </p:sp>
      <p:sp>
        <p:nvSpPr>
          <p:cNvPr id="46" name="TextBox 45"/>
          <p:cNvSpPr txBox="1"/>
          <p:nvPr/>
        </p:nvSpPr>
        <p:spPr>
          <a:xfrm>
            <a:off x="10452695" y="2721670"/>
            <a:ext cx="945555" cy="133350"/>
          </a:xfrm>
          <a:prstGeom prst="rect">
            <a:avLst/>
          </a:prstGeom>
          <a:noFill/>
        </p:spPr>
        <p:txBody>
          <a:bodyPr wrap="none" lIns="0" rIns="0" tIns="0" bIns="0">
            <a:noAutofit/>
          </a:bodyPr>
          <a:lstStyle/>
          <a:p>
            <a:pPr>
              <a:spcBef>
                <a:spcPts val="0"/>
              </a:spcBef>
              <a:spcAft>
                <a:spcPts val="0"/>
              </a:spcAft>
            </a:pPr>
            <a:r>
              <a:rPr sz="750" b="0" spc="68">
                <a:solidFill>
                  <a:srgbClr val="84867E"/>
                </a:solidFill>
                <a:latin typeface="Spline Sans Mono"/>
              </a:rPr>
              <a:t>8 STEPS + GATE</a:t>
            </a:r>
          </a:p>
        </p:txBody>
      </p:sp>
      <p:sp>
        <p:nvSpPr>
          <p:cNvPr id="47" name="TextBox 46"/>
          <p:cNvSpPr txBox="1"/>
          <p:nvPr/>
        </p:nvSpPr>
        <p:spPr>
          <a:xfrm>
            <a:off x="7886768" y="3573387"/>
            <a:ext cx="137735" cy="127000"/>
          </a:xfrm>
          <a:prstGeom prst="rect">
            <a:avLst/>
          </a:prstGeom>
          <a:noFill/>
        </p:spPr>
        <p:txBody>
          <a:bodyPr wrap="none" lIns="0" rIns="0" tIns="0" bIns="0">
            <a:noAutofit/>
          </a:bodyPr>
          <a:lstStyle/>
          <a:p>
            <a:pPr>
              <a:spcBef>
                <a:spcPts val="0"/>
              </a:spcBef>
              <a:spcAft>
                <a:spcPts val="0"/>
              </a:spcAft>
            </a:pPr>
            <a:r>
              <a:rPr sz="725" b="0">
                <a:solidFill>
                  <a:srgbClr val="84867E"/>
                </a:solidFill>
                <a:latin typeface="Spline Sans Mono"/>
              </a:rPr>
              <a:t>01</a:t>
            </a:r>
          </a:p>
        </p:txBody>
      </p:sp>
      <p:sp>
        <p:nvSpPr>
          <p:cNvPr id="48" name="TextBox 47"/>
          <p:cNvSpPr txBox="1"/>
          <p:nvPr/>
        </p:nvSpPr>
        <p:spPr>
          <a:xfrm>
            <a:off x="8291881" y="3573387"/>
            <a:ext cx="135830" cy="127000"/>
          </a:xfrm>
          <a:prstGeom prst="rect">
            <a:avLst/>
          </a:prstGeom>
          <a:noFill/>
        </p:spPr>
        <p:txBody>
          <a:bodyPr wrap="none" lIns="0" rIns="0" tIns="0" bIns="0">
            <a:noAutofit/>
          </a:bodyPr>
          <a:lstStyle/>
          <a:p>
            <a:pPr>
              <a:spcBef>
                <a:spcPts val="0"/>
              </a:spcBef>
              <a:spcAft>
                <a:spcPts val="0"/>
              </a:spcAft>
            </a:pPr>
            <a:r>
              <a:rPr sz="725" b="0">
                <a:solidFill>
                  <a:srgbClr val="84867E"/>
                </a:solidFill>
                <a:latin typeface="Spline Sans Mono"/>
              </a:rPr>
              <a:t>02</a:t>
            </a:r>
          </a:p>
        </p:txBody>
      </p:sp>
      <p:sp>
        <p:nvSpPr>
          <p:cNvPr id="49" name="TextBox 48"/>
          <p:cNvSpPr txBox="1"/>
          <p:nvPr/>
        </p:nvSpPr>
        <p:spPr>
          <a:xfrm>
            <a:off x="8696995" y="3573387"/>
            <a:ext cx="137736" cy="127000"/>
          </a:xfrm>
          <a:prstGeom prst="rect">
            <a:avLst/>
          </a:prstGeom>
          <a:noFill/>
        </p:spPr>
        <p:txBody>
          <a:bodyPr wrap="none" lIns="0" rIns="0" tIns="0" bIns="0">
            <a:noAutofit/>
          </a:bodyPr>
          <a:lstStyle/>
          <a:p>
            <a:pPr>
              <a:spcBef>
                <a:spcPts val="0"/>
              </a:spcBef>
              <a:spcAft>
                <a:spcPts val="0"/>
              </a:spcAft>
            </a:pPr>
            <a:r>
              <a:rPr sz="725" b="0">
                <a:solidFill>
                  <a:srgbClr val="84867E"/>
                </a:solidFill>
                <a:latin typeface="Spline Sans Mono"/>
              </a:rPr>
              <a:t>03</a:t>
            </a:r>
          </a:p>
        </p:txBody>
      </p:sp>
      <p:sp>
        <p:nvSpPr>
          <p:cNvPr id="50" name="TextBox 49"/>
          <p:cNvSpPr txBox="1"/>
          <p:nvPr/>
        </p:nvSpPr>
        <p:spPr>
          <a:xfrm>
            <a:off x="9102108" y="3573387"/>
            <a:ext cx="137736" cy="127000"/>
          </a:xfrm>
          <a:prstGeom prst="rect">
            <a:avLst/>
          </a:prstGeom>
          <a:noFill/>
        </p:spPr>
        <p:txBody>
          <a:bodyPr wrap="none" lIns="0" rIns="0" tIns="0" bIns="0">
            <a:noAutofit/>
          </a:bodyPr>
          <a:lstStyle/>
          <a:p>
            <a:pPr>
              <a:spcBef>
                <a:spcPts val="0"/>
              </a:spcBef>
              <a:spcAft>
                <a:spcPts val="0"/>
              </a:spcAft>
            </a:pPr>
            <a:r>
              <a:rPr sz="725" b="0">
                <a:solidFill>
                  <a:srgbClr val="84867E"/>
                </a:solidFill>
                <a:latin typeface="Spline Sans Mono"/>
              </a:rPr>
              <a:t>04</a:t>
            </a:r>
          </a:p>
        </p:txBody>
      </p:sp>
      <p:sp>
        <p:nvSpPr>
          <p:cNvPr id="51" name="TextBox 50"/>
          <p:cNvSpPr txBox="1"/>
          <p:nvPr/>
        </p:nvSpPr>
        <p:spPr>
          <a:xfrm>
            <a:off x="9801850" y="3573387"/>
            <a:ext cx="137735" cy="127000"/>
          </a:xfrm>
          <a:prstGeom prst="rect">
            <a:avLst/>
          </a:prstGeom>
          <a:noFill/>
        </p:spPr>
        <p:txBody>
          <a:bodyPr wrap="none" lIns="0" rIns="0" tIns="0" bIns="0">
            <a:noAutofit/>
          </a:bodyPr>
          <a:lstStyle/>
          <a:p>
            <a:pPr>
              <a:spcBef>
                <a:spcPts val="0"/>
              </a:spcBef>
              <a:spcAft>
                <a:spcPts val="0"/>
              </a:spcAft>
            </a:pPr>
            <a:r>
              <a:rPr sz="725" b="0">
                <a:solidFill>
                  <a:srgbClr val="84867E"/>
                </a:solidFill>
                <a:latin typeface="Spline Sans Mono"/>
              </a:rPr>
              <a:t>05</a:t>
            </a:r>
          </a:p>
        </p:txBody>
      </p:sp>
      <p:sp>
        <p:nvSpPr>
          <p:cNvPr id="52" name="TextBox 51"/>
          <p:cNvSpPr txBox="1"/>
          <p:nvPr/>
        </p:nvSpPr>
        <p:spPr>
          <a:xfrm>
            <a:off x="10206963" y="3573387"/>
            <a:ext cx="137736" cy="127000"/>
          </a:xfrm>
          <a:prstGeom prst="rect">
            <a:avLst/>
          </a:prstGeom>
          <a:noFill/>
        </p:spPr>
        <p:txBody>
          <a:bodyPr wrap="none" lIns="0" rIns="0" tIns="0" bIns="0">
            <a:noAutofit/>
          </a:bodyPr>
          <a:lstStyle/>
          <a:p>
            <a:pPr>
              <a:spcBef>
                <a:spcPts val="0"/>
              </a:spcBef>
              <a:spcAft>
                <a:spcPts val="0"/>
              </a:spcAft>
            </a:pPr>
            <a:r>
              <a:rPr sz="725" b="0">
                <a:solidFill>
                  <a:srgbClr val="84867E"/>
                </a:solidFill>
                <a:latin typeface="Spline Sans Mono"/>
              </a:rPr>
              <a:t>06</a:t>
            </a:r>
          </a:p>
        </p:txBody>
      </p:sp>
      <p:sp>
        <p:nvSpPr>
          <p:cNvPr id="53" name="TextBox 52"/>
          <p:cNvSpPr txBox="1"/>
          <p:nvPr/>
        </p:nvSpPr>
        <p:spPr>
          <a:xfrm>
            <a:off x="10612076" y="3573387"/>
            <a:ext cx="137736" cy="127000"/>
          </a:xfrm>
          <a:prstGeom prst="rect">
            <a:avLst/>
          </a:prstGeom>
          <a:noFill/>
        </p:spPr>
        <p:txBody>
          <a:bodyPr wrap="none" lIns="0" rIns="0" tIns="0" bIns="0">
            <a:noAutofit/>
          </a:bodyPr>
          <a:lstStyle/>
          <a:p>
            <a:pPr>
              <a:spcBef>
                <a:spcPts val="0"/>
              </a:spcBef>
              <a:spcAft>
                <a:spcPts val="0"/>
              </a:spcAft>
            </a:pPr>
            <a:r>
              <a:rPr sz="725" b="0">
                <a:solidFill>
                  <a:srgbClr val="84867E"/>
                </a:solidFill>
                <a:latin typeface="Spline Sans Mono"/>
              </a:rPr>
              <a:t>07</a:t>
            </a:r>
          </a:p>
        </p:txBody>
      </p:sp>
      <p:sp>
        <p:nvSpPr>
          <p:cNvPr id="54" name="TextBox 53"/>
          <p:cNvSpPr txBox="1"/>
          <p:nvPr/>
        </p:nvSpPr>
        <p:spPr>
          <a:xfrm>
            <a:off x="11017190" y="3573387"/>
            <a:ext cx="135830" cy="127000"/>
          </a:xfrm>
          <a:prstGeom prst="rect">
            <a:avLst/>
          </a:prstGeom>
          <a:noFill/>
        </p:spPr>
        <p:txBody>
          <a:bodyPr wrap="none" lIns="0" rIns="0" tIns="0" bIns="0">
            <a:noAutofit/>
          </a:bodyPr>
          <a:lstStyle/>
          <a:p>
            <a:pPr>
              <a:spcBef>
                <a:spcPts val="0"/>
              </a:spcBef>
              <a:spcAft>
                <a:spcPts val="0"/>
              </a:spcAft>
            </a:pPr>
            <a:r>
              <a:rPr sz="725" b="0">
                <a:solidFill>
                  <a:srgbClr val="84867E"/>
                </a:solidFill>
                <a:latin typeface="Spline Sans Mono"/>
              </a:rPr>
              <a:t>08</a:t>
            </a:r>
          </a:p>
        </p:txBody>
      </p:sp>
      <p:sp>
        <p:nvSpPr>
          <p:cNvPr id="55" name="TextBox 54"/>
          <p:cNvSpPr txBox="1"/>
          <p:nvPr/>
        </p:nvSpPr>
        <p:spPr>
          <a:xfrm>
            <a:off x="9396737" y="3057788"/>
            <a:ext cx="246161" cy="127001"/>
          </a:xfrm>
          <a:prstGeom prst="rect">
            <a:avLst/>
          </a:prstGeom>
          <a:noFill/>
        </p:spPr>
        <p:txBody>
          <a:bodyPr wrap="none" lIns="0" rIns="0" tIns="0" bIns="0">
            <a:noAutofit/>
          </a:bodyPr>
          <a:lstStyle/>
          <a:p>
            <a:pPr>
              <a:spcBef>
                <a:spcPts val="0"/>
              </a:spcBef>
              <a:spcAft>
                <a:spcPts val="0"/>
              </a:spcAft>
            </a:pPr>
            <a:r>
              <a:rPr sz="725" b="0">
                <a:solidFill>
                  <a:srgbClr val="2F4FA2"/>
                </a:solidFill>
                <a:latin typeface="Spline Sans Mono"/>
              </a:rPr>
              <a:t>GATE</a:t>
            </a:r>
          </a:p>
        </p:txBody>
      </p:sp>
      <p:sp>
        <p:nvSpPr>
          <p:cNvPr id="56" name="TextBox 55"/>
          <p:cNvSpPr txBox="1"/>
          <p:nvPr/>
        </p:nvSpPr>
        <p:spPr>
          <a:xfrm>
            <a:off x="7825387" y="3812560"/>
            <a:ext cx="1909564" cy="146050"/>
          </a:xfrm>
          <a:prstGeom prst="rect">
            <a:avLst/>
          </a:prstGeom>
          <a:noFill/>
        </p:spPr>
        <p:txBody>
          <a:bodyPr wrap="none" lIns="0" rIns="0" tIns="0" bIns="0">
            <a:noAutofit/>
          </a:bodyPr>
          <a:lstStyle/>
          <a:p>
            <a:pPr>
              <a:spcBef>
                <a:spcPts val="0"/>
              </a:spcBef>
              <a:spcAft>
                <a:spcPts val="0"/>
              </a:spcAft>
            </a:pPr>
            <a:r>
              <a:rPr sz="773" b="0">
                <a:solidFill>
                  <a:srgbClr val="2F4FA2"/>
                </a:solidFill>
                <a:latin typeface="Spline Sans Mono"/>
              </a:rPr>
              <a:t>START HERE · STEP 01, UNDERSTAND</a:t>
            </a:r>
          </a:p>
        </p:txBody>
      </p:sp>
      <p:sp>
        <p:nvSpPr>
          <p:cNvPr id="57" name="TextBox 56"/>
          <p:cNvSpPr txBox="1"/>
          <p:nvPr/>
        </p:nvSpPr>
        <p:spPr>
          <a:xfrm>
            <a:off x="10305173" y="3812560"/>
            <a:ext cx="790872" cy="139700"/>
          </a:xfrm>
          <a:prstGeom prst="rect">
            <a:avLst/>
          </a:prstGeom>
          <a:noFill/>
        </p:spPr>
        <p:txBody>
          <a:bodyPr wrap="none" lIns="0" rIns="0" tIns="0" bIns="0">
            <a:noAutofit/>
          </a:bodyPr>
          <a:lstStyle/>
          <a:p>
            <a:pPr>
              <a:spcBef>
                <a:spcPts val="0"/>
              </a:spcBef>
              <a:spcAft>
                <a:spcPts val="0"/>
              </a:spcAft>
            </a:pPr>
            <a:r>
              <a:rPr sz="773" b="0">
                <a:solidFill>
                  <a:srgbClr val="84867E"/>
                </a:solidFill>
                <a:latin typeface="Spline Sans Mono"/>
              </a:rPr>
              <a:t>08 · TRANSFER</a:t>
            </a:r>
          </a:p>
        </p:txBody>
      </p:sp>
      <p:sp>
        <p:nvSpPr>
          <p:cNvPr id="58" name="TextBox 57"/>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SCHULTE &amp; CO. · GROWTH BY DESIGN</a:t>
            </a:r>
          </a:p>
        </p:txBody>
      </p:sp>
      <p:sp>
        <p:nvSpPr>
          <p:cNvPr id="59" name="TextBox 58"/>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SHEET 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609600" y="6572250"/>
            <a:ext cx="10972800" cy="6350"/>
          </a:xfrm>
          <a:prstGeom prst="rect">
            <a:avLst/>
          </a:prstGeom>
          <a:solidFill>
            <a:srgbClr val="131417"/>
          </a:solidFill>
          <a:ln>
            <a:noFill/>
          </a:ln>
          <a:effectLst/>
        </p:spPr>
        <p:txBody>
          <a:bodyPr rtlCol="0" anchor="ctr"/>
          <a:lstStyle/>
          <a:p>
            <a:pPr algn="ctr"/>
          </a:p>
        </p:txBody>
      </p:sp>
      <p:sp>
        <p:nvSpPr>
          <p:cNvPr id="3" name="Rectangle 2"/>
          <p:cNvSpPr/>
          <p:nvPr/>
        </p:nvSpPr>
        <p:spPr>
          <a:xfrm>
            <a:off x="609600" y="6540500"/>
            <a:ext cx="6350" cy="69850"/>
          </a:xfrm>
          <a:prstGeom prst="rect">
            <a:avLst/>
          </a:prstGeom>
          <a:solidFill>
            <a:srgbClr val="131417"/>
          </a:solidFill>
          <a:ln>
            <a:noFill/>
          </a:ln>
          <a:effectLst/>
        </p:spPr>
        <p:txBody>
          <a:bodyPr rtlCol="0" anchor="ctr"/>
          <a:lstStyle/>
          <a:p>
            <a:pPr algn="ctr"/>
          </a:p>
        </p:txBody>
      </p:sp>
      <p:sp>
        <p:nvSpPr>
          <p:cNvPr id="4" name="Rectangle 3"/>
          <p:cNvSpPr/>
          <p:nvPr/>
        </p:nvSpPr>
        <p:spPr>
          <a:xfrm>
            <a:off x="1828800" y="6540500"/>
            <a:ext cx="6350" cy="69850"/>
          </a:xfrm>
          <a:prstGeom prst="rect">
            <a:avLst/>
          </a:prstGeom>
          <a:solidFill>
            <a:srgbClr val="131417"/>
          </a:solidFill>
          <a:ln>
            <a:noFill/>
          </a:ln>
          <a:effectLst/>
        </p:spPr>
        <p:txBody>
          <a:bodyPr rtlCol="0" anchor="ctr"/>
          <a:lstStyle/>
          <a:p>
            <a:pPr algn="ctr"/>
          </a:p>
        </p:txBody>
      </p:sp>
      <p:sp>
        <p:nvSpPr>
          <p:cNvPr id="5" name="Rectangle 4"/>
          <p:cNvSpPr/>
          <p:nvPr/>
        </p:nvSpPr>
        <p:spPr>
          <a:xfrm>
            <a:off x="3048000" y="6540500"/>
            <a:ext cx="6350" cy="69850"/>
          </a:xfrm>
          <a:prstGeom prst="rect">
            <a:avLst/>
          </a:prstGeom>
          <a:solidFill>
            <a:srgbClr val="131417"/>
          </a:solidFill>
          <a:ln>
            <a:noFill/>
          </a:ln>
          <a:effectLst/>
        </p:spPr>
        <p:txBody>
          <a:bodyPr rtlCol="0" anchor="ctr"/>
          <a:lstStyle/>
          <a:p>
            <a:pPr algn="ctr"/>
          </a:p>
        </p:txBody>
      </p:sp>
      <p:sp>
        <p:nvSpPr>
          <p:cNvPr id="6" name="Rectangle 5"/>
          <p:cNvSpPr/>
          <p:nvPr/>
        </p:nvSpPr>
        <p:spPr>
          <a:xfrm>
            <a:off x="4267101" y="6540500"/>
            <a:ext cx="6350" cy="69850"/>
          </a:xfrm>
          <a:prstGeom prst="rect">
            <a:avLst/>
          </a:prstGeom>
          <a:solidFill>
            <a:srgbClr val="131417"/>
          </a:solidFill>
          <a:ln>
            <a:noFill/>
          </a:ln>
          <a:effectLst/>
        </p:spPr>
        <p:txBody>
          <a:bodyPr rtlCol="0" anchor="ctr"/>
          <a:lstStyle/>
          <a:p>
            <a:pPr algn="ctr"/>
          </a:p>
        </p:txBody>
      </p:sp>
      <p:sp>
        <p:nvSpPr>
          <p:cNvPr id="7" name="Rectangle 6"/>
          <p:cNvSpPr/>
          <p:nvPr/>
        </p:nvSpPr>
        <p:spPr>
          <a:xfrm>
            <a:off x="5486400" y="6540500"/>
            <a:ext cx="6350" cy="69850"/>
          </a:xfrm>
          <a:prstGeom prst="rect">
            <a:avLst/>
          </a:prstGeom>
          <a:solidFill>
            <a:srgbClr val="131417"/>
          </a:solidFill>
          <a:ln>
            <a:noFill/>
          </a:ln>
          <a:effectLst/>
        </p:spPr>
        <p:txBody>
          <a:bodyPr rtlCol="0" anchor="ctr"/>
          <a:lstStyle/>
          <a:p>
            <a:pPr algn="ctr"/>
          </a:p>
        </p:txBody>
      </p:sp>
      <p:sp>
        <p:nvSpPr>
          <p:cNvPr id="8" name="Rectangle 7"/>
          <p:cNvSpPr/>
          <p:nvPr/>
        </p:nvSpPr>
        <p:spPr>
          <a:xfrm>
            <a:off x="6705600" y="6540500"/>
            <a:ext cx="6350" cy="69850"/>
          </a:xfrm>
          <a:prstGeom prst="rect">
            <a:avLst/>
          </a:prstGeom>
          <a:solidFill>
            <a:srgbClr val="131417"/>
          </a:solidFill>
          <a:ln>
            <a:noFill/>
          </a:ln>
          <a:effectLst/>
        </p:spPr>
        <p:txBody>
          <a:bodyPr rtlCol="0" anchor="ctr"/>
          <a:lstStyle/>
          <a:p>
            <a:pPr algn="ctr"/>
          </a:p>
        </p:txBody>
      </p:sp>
      <p:sp>
        <p:nvSpPr>
          <p:cNvPr id="9" name="Rectangle 8"/>
          <p:cNvSpPr/>
          <p:nvPr/>
        </p:nvSpPr>
        <p:spPr>
          <a:xfrm>
            <a:off x="7924701" y="6540500"/>
            <a:ext cx="6350" cy="69850"/>
          </a:xfrm>
          <a:prstGeom prst="rect">
            <a:avLst/>
          </a:prstGeom>
          <a:solidFill>
            <a:srgbClr val="131417"/>
          </a:solidFill>
          <a:ln>
            <a:noFill/>
          </a:ln>
          <a:effectLst/>
        </p:spPr>
        <p:txBody>
          <a:bodyPr rtlCol="0" anchor="ctr"/>
          <a:lstStyle/>
          <a:p>
            <a:pPr algn="ctr"/>
          </a:p>
        </p:txBody>
      </p:sp>
      <p:sp>
        <p:nvSpPr>
          <p:cNvPr id="10" name="Rectangle 9"/>
          <p:cNvSpPr/>
          <p:nvPr/>
        </p:nvSpPr>
        <p:spPr>
          <a:xfrm>
            <a:off x="9144000" y="6540500"/>
            <a:ext cx="6350" cy="69850"/>
          </a:xfrm>
          <a:prstGeom prst="rect">
            <a:avLst/>
          </a:prstGeom>
          <a:solidFill>
            <a:srgbClr val="131417"/>
          </a:solidFill>
          <a:ln>
            <a:noFill/>
          </a:ln>
          <a:effectLst/>
        </p:spPr>
        <p:txBody>
          <a:bodyPr rtlCol="0" anchor="ctr"/>
          <a:lstStyle/>
          <a:p>
            <a:pPr algn="ctr"/>
          </a:p>
        </p:txBody>
      </p:sp>
      <p:sp>
        <p:nvSpPr>
          <p:cNvPr id="11" name="Rectangle 10"/>
          <p:cNvSpPr/>
          <p:nvPr/>
        </p:nvSpPr>
        <p:spPr>
          <a:xfrm>
            <a:off x="10363200" y="6540500"/>
            <a:ext cx="6350" cy="69850"/>
          </a:xfrm>
          <a:prstGeom prst="rect">
            <a:avLst/>
          </a:prstGeom>
          <a:solidFill>
            <a:srgbClr val="131417"/>
          </a:solidFill>
          <a:ln>
            <a:noFill/>
          </a:ln>
          <a:effectLst/>
        </p:spPr>
        <p:txBody>
          <a:bodyPr rtlCol="0" anchor="ctr"/>
          <a:lstStyle/>
          <a:p>
            <a:pPr algn="ctr"/>
          </a:p>
        </p:txBody>
      </p:sp>
      <p:sp>
        <p:nvSpPr>
          <p:cNvPr id="12" name="Rectangle 11"/>
          <p:cNvSpPr/>
          <p:nvPr/>
        </p:nvSpPr>
        <p:spPr>
          <a:xfrm>
            <a:off x="11582400" y="6540500"/>
            <a:ext cx="6350" cy="69850"/>
          </a:xfrm>
          <a:prstGeom prst="rect">
            <a:avLst/>
          </a:prstGeom>
          <a:solidFill>
            <a:srgbClr val="131417"/>
          </a:solidFill>
          <a:ln>
            <a:noFill/>
          </a:ln>
          <a:effectLst/>
        </p:spPr>
        <p:txBody>
          <a:bodyPr rtlCol="0" anchor="ctr"/>
          <a:lstStyle/>
          <a:p>
            <a:pPr algn="ctr"/>
          </a:p>
        </p:txBody>
      </p:sp>
      <p:sp>
        <p:nvSpPr>
          <p:cNvPr id="13" name="Diamond 12"/>
          <p:cNvSpPr/>
          <p:nvPr/>
        </p:nvSpPr>
        <p:spPr>
          <a:xfrm>
            <a:off x="3016250" y="6546850"/>
            <a:ext cx="63500" cy="63500"/>
          </a:xfrm>
          <a:prstGeom prst="diamond">
            <a:avLst/>
          </a:prstGeom>
          <a:solidFill>
            <a:srgbClr val="D93A1F"/>
          </a:solidFill>
          <a:ln>
            <a:noFill/>
          </a:ln>
          <a:effectLst/>
        </p:spPr>
        <p:txBody>
          <a:bodyPr rtlCol="0" anchor="ctr"/>
          <a:lstStyle/>
          <a:p>
            <a:pPr algn="ctr"/>
          </a:p>
        </p:txBody>
      </p:sp>
      <p:cxnSp>
        <p:nvCxnSpPr>
          <p:cNvPr id="14" name="Connector 13"/>
          <p:cNvCxnSpPr/>
          <p:nvPr/>
        </p:nvCxnSpPr>
        <p:spPr>
          <a:xfrm>
            <a:off x="609600" y="412750"/>
            <a:ext cx="10972800" cy="0"/>
          </a:xfrm>
          <a:prstGeom prst="line">
            <a:avLst/>
          </a:prstGeom>
          <a:ln w="12700">
            <a:solidFill>
              <a:srgbClr val="131417"/>
            </a:solidFill>
          </a:ln>
          <a:effectLst/>
        </p:spPr>
      </p:cxnSp>
      <p:cxnSp>
        <p:nvCxnSpPr>
          <p:cNvPr id="15" name="Connector 14"/>
          <p:cNvCxnSpPr/>
          <p:nvPr/>
        </p:nvCxnSpPr>
        <p:spPr>
          <a:xfrm>
            <a:off x="609600" y="2305348"/>
            <a:ext cx="2260600" cy="0"/>
          </a:xfrm>
          <a:prstGeom prst="line">
            <a:avLst/>
          </a:prstGeom>
          <a:ln w="19050">
            <a:solidFill>
              <a:srgbClr val="131417"/>
            </a:solidFill>
          </a:ln>
          <a:effectLst/>
        </p:spPr>
      </p:cxnSp>
      <p:cxnSp>
        <p:nvCxnSpPr>
          <p:cNvPr id="16" name="Connector 15"/>
          <p:cNvCxnSpPr/>
          <p:nvPr/>
        </p:nvCxnSpPr>
        <p:spPr>
          <a:xfrm>
            <a:off x="609600" y="2641898"/>
            <a:ext cx="2260600" cy="0"/>
          </a:xfrm>
          <a:prstGeom prst="line">
            <a:avLst/>
          </a:prstGeom>
          <a:ln w="6350">
            <a:solidFill>
              <a:srgbClr val="E4E4DD"/>
            </a:solidFill>
          </a:ln>
          <a:effectLst/>
        </p:spPr>
      </p:cxnSp>
      <p:cxnSp>
        <p:nvCxnSpPr>
          <p:cNvPr id="17" name="Connector 16"/>
          <p:cNvCxnSpPr/>
          <p:nvPr/>
        </p:nvCxnSpPr>
        <p:spPr>
          <a:xfrm>
            <a:off x="609600" y="2933998"/>
            <a:ext cx="2260600" cy="0"/>
          </a:xfrm>
          <a:prstGeom prst="line">
            <a:avLst/>
          </a:prstGeom>
          <a:ln w="6350">
            <a:solidFill>
              <a:srgbClr val="E4E4DD"/>
            </a:solidFill>
          </a:ln>
          <a:effectLst/>
        </p:spPr>
      </p:cxnSp>
      <p:cxnSp>
        <p:nvCxnSpPr>
          <p:cNvPr id="18" name="Connector 17"/>
          <p:cNvCxnSpPr/>
          <p:nvPr/>
        </p:nvCxnSpPr>
        <p:spPr>
          <a:xfrm>
            <a:off x="609600" y="3226098"/>
            <a:ext cx="2260600" cy="0"/>
          </a:xfrm>
          <a:prstGeom prst="line">
            <a:avLst/>
          </a:prstGeom>
          <a:ln w="6350">
            <a:solidFill>
              <a:srgbClr val="E4E4DD"/>
            </a:solidFill>
          </a:ln>
          <a:effectLst/>
        </p:spPr>
      </p:cxnSp>
      <p:cxnSp>
        <p:nvCxnSpPr>
          <p:cNvPr id="19" name="Connector 18"/>
          <p:cNvCxnSpPr/>
          <p:nvPr/>
        </p:nvCxnSpPr>
        <p:spPr>
          <a:xfrm>
            <a:off x="609600" y="3518198"/>
            <a:ext cx="2260600" cy="0"/>
          </a:xfrm>
          <a:prstGeom prst="line">
            <a:avLst/>
          </a:prstGeom>
          <a:ln w="6350">
            <a:solidFill>
              <a:srgbClr val="E4E4DD"/>
            </a:solidFill>
          </a:ln>
          <a:effectLst/>
        </p:spPr>
      </p:cxnSp>
      <p:cxnSp>
        <p:nvCxnSpPr>
          <p:cNvPr id="20" name="Connector 19"/>
          <p:cNvCxnSpPr/>
          <p:nvPr/>
        </p:nvCxnSpPr>
        <p:spPr>
          <a:xfrm>
            <a:off x="609600" y="3810298"/>
            <a:ext cx="2260600" cy="0"/>
          </a:xfrm>
          <a:prstGeom prst="line">
            <a:avLst/>
          </a:prstGeom>
          <a:ln w="6350">
            <a:solidFill>
              <a:srgbClr val="E4E4DD"/>
            </a:solidFill>
          </a:ln>
          <a:effectLst/>
        </p:spPr>
      </p:cxnSp>
      <p:cxnSp>
        <p:nvCxnSpPr>
          <p:cNvPr id="21" name="Connector 20"/>
          <p:cNvCxnSpPr/>
          <p:nvPr/>
        </p:nvCxnSpPr>
        <p:spPr>
          <a:xfrm>
            <a:off x="609600" y="4102398"/>
            <a:ext cx="2260600" cy="0"/>
          </a:xfrm>
          <a:prstGeom prst="line">
            <a:avLst/>
          </a:prstGeom>
          <a:ln w="6350">
            <a:solidFill>
              <a:srgbClr val="E4E4DD"/>
            </a:solidFill>
          </a:ln>
          <a:effectLst/>
        </p:spPr>
      </p:cxnSp>
      <p:cxnSp>
        <p:nvCxnSpPr>
          <p:cNvPr id="22" name="Connector 21"/>
          <p:cNvCxnSpPr/>
          <p:nvPr/>
        </p:nvCxnSpPr>
        <p:spPr>
          <a:xfrm>
            <a:off x="609600" y="4394498"/>
            <a:ext cx="2260600" cy="0"/>
          </a:xfrm>
          <a:prstGeom prst="line">
            <a:avLst/>
          </a:prstGeom>
          <a:ln w="6350">
            <a:solidFill>
              <a:srgbClr val="E4E4DD"/>
            </a:solidFill>
          </a:ln>
          <a:effectLst/>
        </p:spPr>
      </p:cxnSp>
      <p:cxnSp>
        <p:nvCxnSpPr>
          <p:cNvPr id="23" name="Connector 22"/>
          <p:cNvCxnSpPr/>
          <p:nvPr/>
        </p:nvCxnSpPr>
        <p:spPr>
          <a:xfrm>
            <a:off x="609600" y="4686598"/>
            <a:ext cx="2260600" cy="0"/>
          </a:xfrm>
          <a:prstGeom prst="line">
            <a:avLst/>
          </a:prstGeom>
          <a:ln w="6350">
            <a:solidFill>
              <a:srgbClr val="E4E4DD"/>
            </a:solidFill>
          </a:ln>
          <a:effectLst/>
        </p:spPr>
      </p:cxnSp>
      <p:cxnSp>
        <p:nvCxnSpPr>
          <p:cNvPr id="24" name="Connector 23"/>
          <p:cNvCxnSpPr/>
          <p:nvPr/>
        </p:nvCxnSpPr>
        <p:spPr>
          <a:xfrm>
            <a:off x="3175000" y="2305348"/>
            <a:ext cx="2260600" cy="0"/>
          </a:xfrm>
          <a:prstGeom prst="line">
            <a:avLst/>
          </a:prstGeom>
          <a:ln w="19050">
            <a:solidFill>
              <a:srgbClr val="131417"/>
            </a:solidFill>
          </a:ln>
          <a:effectLst/>
        </p:spPr>
      </p:cxnSp>
      <p:cxnSp>
        <p:nvCxnSpPr>
          <p:cNvPr id="25" name="Connector 24"/>
          <p:cNvCxnSpPr/>
          <p:nvPr/>
        </p:nvCxnSpPr>
        <p:spPr>
          <a:xfrm>
            <a:off x="3175000" y="2641898"/>
            <a:ext cx="2260600" cy="0"/>
          </a:xfrm>
          <a:prstGeom prst="line">
            <a:avLst/>
          </a:prstGeom>
          <a:ln w="6350">
            <a:solidFill>
              <a:srgbClr val="E4E4DD"/>
            </a:solidFill>
          </a:ln>
          <a:effectLst/>
        </p:spPr>
      </p:cxnSp>
      <p:cxnSp>
        <p:nvCxnSpPr>
          <p:cNvPr id="26" name="Connector 25"/>
          <p:cNvCxnSpPr/>
          <p:nvPr/>
        </p:nvCxnSpPr>
        <p:spPr>
          <a:xfrm>
            <a:off x="3175000" y="2933998"/>
            <a:ext cx="2260600" cy="0"/>
          </a:xfrm>
          <a:prstGeom prst="line">
            <a:avLst/>
          </a:prstGeom>
          <a:ln w="6350">
            <a:solidFill>
              <a:srgbClr val="E4E4DD"/>
            </a:solidFill>
          </a:ln>
          <a:effectLst/>
        </p:spPr>
      </p:cxnSp>
      <p:cxnSp>
        <p:nvCxnSpPr>
          <p:cNvPr id="27" name="Connector 26"/>
          <p:cNvCxnSpPr/>
          <p:nvPr/>
        </p:nvCxnSpPr>
        <p:spPr>
          <a:xfrm>
            <a:off x="3175000" y="3226098"/>
            <a:ext cx="2260600" cy="0"/>
          </a:xfrm>
          <a:prstGeom prst="line">
            <a:avLst/>
          </a:prstGeom>
          <a:ln w="6350">
            <a:solidFill>
              <a:srgbClr val="E4E4DD"/>
            </a:solidFill>
          </a:ln>
          <a:effectLst/>
        </p:spPr>
      </p:cxnSp>
      <p:cxnSp>
        <p:nvCxnSpPr>
          <p:cNvPr id="28" name="Connector 27"/>
          <p:cNvCxnSpPr/>
          <p:nvPr/>
        </p:nvCxnSpPr>
        <p:spPr>
          <a:xfrm>
            <a:off x="3175000" y="3518198"/>
            <a:ext cx="2260600" cy="0"/>
          </a:xfrm>
          <a:prstGeom prst="line">
            <a:avLst/>
          </a:prstGeom>
          <a:ln w="6350">
            <a:solidFill>
              <a:srgbClr val="E4E4DD"/>
            </a:solidFill>
          </a:ln>
          <a:effectLst/>
        </p:spPr>
      </p:cxnSp>
      <p:cxnSp>
        <p:nvCxnSpPr>
          <p:cNvPr id="29" name="Connector 28"/>
          <p:cNvCxnSpPr/>
          <p:nvPr/>
        </p:nvCxnSpPr>
        <p:spPr>
          <a:xfrm>
            <a:off x="3175000" y="3810298"/>
            <a:ext cx="2260600" cy="0"/>
          </a:xfrm>
          <a:prstGeom prst="line">
            <a:avLst/>
          </a:prstGeom>
          <a:ln w="6350">
            <a:solidFill>
              <a:srgbClr val="E4E4DD"/>
            </a:solidFill>
          </a:ln>
          <a:effectLst/>
        </p:spPr>
      </p:cxnSp>
      <p:cxnSp>
        <p:nvCxnSpPr>
          <p:cNvPr id="30" name="Connector 29"/>
          <p:cNvCxnSpPr/>
          <p:nvPr/>
        </p:nvCxnSpPr>
        <p:spPr>
          <a:xfrm>
            <a:off x="6354618" y="4383800"/>
            <a:ext cx="4865255" cy="0"/>
          </a:xfrm>
          <a:prstGeom prst="line">
            <a:avLst/>
          </a:prstGeom>
          <a:ln w="12411">
            <a:solidFill>
              <a:srgbClr val="E4E4DD"/>
            </a:solidFill>
          </a:ln>
          <a:effectLst/>
        </p:spPr>
      </p:cxnSp>
      <p:cxnSp>
        <p:nvCxnSpPr>
          <p:cNvPr id="31" name="Connector 30"/>
          <p:cNvCxnSpPr/>
          <p:nvPr/>
        </p:nvCxnSpPr>
        <p:spPr>
          <a:xfrm flipV="1">
            <a:off x="6354618" y="1876705"/>
            <a:ext cx="0" cy="2507095"/>
          </a:xfrm>
          <a:prstGeom prst="line">
            <a:avLst/>
          </a:prstGeom>
          <a:ln w="12411">
            <a:solidFill>
              <a:srgbClr val="E4E4DD"/>
            </a:solidFill>
          </a:ln>
          <a:effectLst/>
        </p:spPr>
      </p:cxnSp>
      <p:sp>
        <p:nvSpPr>
          <p:cNvPr id="32" name="Freeform 31"/>
          <p:cNvSpPr/>
          <p:nvPr/>
        </p:nvSpPr>
        <p:spPr>
          <a:xfrm>
            <a:off x="8972550" y="2152650"/>
            <a:ext cx="2051050" cy="1943100"/>
          </a:xfrm>
          <a:custGeom>
            <a:avLst/>
            <a:gdLst/>
            <a:ahLst/>
            <a:cxnLst/>
            <a:rect l="l" t="t" r="r" b="b"/>
            <a:pathLst>
              <a:path w="323" h="306">
                <a:moveTo>
                  <a:pt x="0" y="207"/>
                </a:moveTo>
                <a:lnTo>
                  <a:pt x="157" y="115"/>
                </a:lnTo>
                <a:lnTo>
                  <a:pt x="239" y="60"/>
                </a:lnTo>
                <a:lnTo>
                  <a:pt x="323" y="0"/>
                </a:lnTo>
                <a:lnTo>
                  <a:pt x="323" y="265"/>
                </a:lnTo>
                <a:lnTo>
                  <a:pt x="258" y="275"/>
                </a:lnTo>
                <a:lnTo>
                  <a:pt x="192" y="285"/>
                </a:lnTo>
                <a:lnTo>
                  <a:pt x="45" y="302"/>
                </a:lnTo>
                <a:lnTo>
                  <a:pt x="0" y="306"/>
                </a:lnTo>
                <a:close/>
              </a:path>
            </a:pathLst>
          </a:custGeom>
          <a:pattFill prst="ltDnDiag">
            <a:fgClr>
              <a:srgbClr val="EAA294"/>
            </a:fgClr>
            <a:bgClr>
              <a:srgbClr val="F7F7F3"/>
            </a:bgClr>
          </a:pattFill>
          <a:ln>
            <a:noFill/>
          </a:ln>
          <a:effectLst/>
        </p:spPr>
        <p:txBody>
          <a:bodyPr rtlCol="0" anchor="ctr"/>
          <a:lstStyle/>
          <a:p>
            <a:pPr algn="ctr"/>
          </a:p>
        </p:txBody>
      </p:sp>
      <p:cxnSp>
        <p:nvCxnSpPr>
          <p:cNvPr id="33" name="Connector 32"/>
          <p:cNvCxnSpPr/>
          <p:nvPr/>
        </p:nvCxnSpPr>
        <p:spPr>
          <a:xfrm>
            <a:off x="11120582" y="2149755"/>
            <a:ext cx="0" cy="1687945"/>
          </a:xfrm>
          <a:prstGeom prst="line">
            <a:avLst/>
          </a:prstGeom>
          <a:ln w="17375">
            <a:solidFill>
              <a:srgbClr val="D93A1F"/>
            </a:solidFill>
          </a:ln>
          <a:effectLst/>
        </p:spPr>
      </p:cxnSp>
      <p:cxnSp>
        <p:nvCxnSpPr>
          <p:cNvPr id="34" name="Connector 33"/>
          <p:cNvCxnSpPr/>
          <p:nvPr/>
        </p:nvCxnSpPr>
        <p:spPr>
          <a:xfrm>
            <a:off x="11046114" y="2149755"/>
            <a:ext cx="148936" cy="0"/>
          </a:xfrm>
          <a:prstGeom prst="line">
            <a:avLst/>
          </a:prstGeom>
          <a:ln w="14893">
            <a:solidFill>
              <a:srgbClr val="D93A1F"/>
            </a:solidFill>
          </a:ln>
          <a:effectLst/>
        </p:spPr>
      </p:cxnSp>
      <p:cxnSp>
        <p:nvCxnSpPr>
          <p:cNvPr id="35" name="Connector 34"/>
          <p:cNvCxnSpPr/>
          <p:nvPr/>
        </p:nvCxnSpPr>
        <p:spPr>
          <a:xfrm>
            <a:off x="11046114" y="3837700"/>
            <a:ext cx="148936" cy="0"/>
          </a:xfrm>
          <a:prstGeom prst="line">
            <a:avLst/>
          </a:prstGeom>
          <a:ln w="14893">
            <a:solidFill>
              <a:srgbClr val="D93A1F"/>
            </a:solidFill>
          </a:ln>
          <a:effectLst/>
        </p:spPr>
      </p:cxnSp>
      <p:sp>
        <p:nvSpPr>
          <p:cNvPr id="36" name="Freeform 35"/>
          <p:cNvSpPr/>
          <p:nvPr/>
        </p:nvSpPr>
        <p:spPr>
          <a:xfrm>
            <a:off x="6356350" y="2152650"/>
            <a:ext cx="4667250" cy="2133600"/>
          </a:xfrm>
          <a:custGeom>
            <a:avLst/>
            <a:gdLst/>
            <a:ahLst/>
            <a:cxnLst/>
            <a:rect l="l" t="t" r="r" b="b"/>
            <a:pathLst>
              <a:path w="735" h="336">
                <a:moveTo>
                  <a:pt x="0" y="336"/>
                </a:moveTo>
                <a:lnTo>
                  <a:pt x="23" y="334"/>
                </a:lnTo>
                <a:lnTo>
                  <a:pt x="47" y="331"/>
                </a:lnTo>
                <a:lnTo>
                  <a:pt x="71" y="328"/>
                </a:lnTo>
                <a:lnTo>
                  <a:pt x="96" y="323"/>
                </a:lnTo>
                <a:lnTo>
                  <a:pt x="121" y="318"/>
                </a:lnTo>
                <a:lnTo>
                  <a:pt x="146" y="311"/>
                </a:lnTo>
                <a:lnTo>
                  <a:pt x="172" y="304"/>
                </a:lnTo>
                <a:lnTo>
                  <a:pt x="199" y="296"/>
                </a:lnTo>
                <a:lnTo>
                  <a:pt x="225" y="287"/>
                </a:lnTo>
                <a:lnTo>
                  <a:pt x="252" y="277"/>
                </a:lnTo>
                <a:lnTo>
                  <a:pt x="280" y="267"/>
                </a:lnTo>
                <a:lnTo>
                  <a:pt x="308" y="255"/>
                </a:lnTo>
                <a:lnTo>
                  <a:pt x="336" y="242"/>
                </a:lnTo>
                <a:lnTo>
                  <a:pt x="365" y="229"/>
                </a:lnTo>
                <a:lnTo>
                  <a:pt x="394" y="215"/>
                </a:lnTo>
                <a:lnTo>
                  <a:pt x="424" y="200"/>
                </a:lnTo>
                <a:lnTo>
                  <a:pt x="453" y="183"/>
                </a:lnTo>
                <a:lnTo>
                  <a:pt x="483" y="167"/>
                </a:lnTo>
                <a:lnTo>
                  <a:pt x="514" y="149"/>
                </a:lnTo>
                <a:lnTo>
                  <a:pt x="544" y="130"/>
                </a:lnTo>
                <a:lnTo>
                  <a:pt x="575" y="110"/>
                </a:lnTo>
                <a:lnTo>
                  <a:pt x="607" y="90"/>
                </a:lnTo>
                <a:lnTo>
                  <a:pt x="638" y="69"/>
                </a:lnTo>
                <a:lnTo>
                  <a:pt x="670" y="47"/>
                </a:lnTo>
                <a:lnTo>
                  <a:pt x="702" y="23"/>
                </a:lnTo>
                <a:lnTo>
                  <a:pt x="735" y="0"/>
                </a:lnTo>
              </a:path>
            </a:pathLst>
          </a:custGeom>
          <a:noFill/>
          <a:ln w="21099">
            <a:solidFill>
              <a:srgbClr val="2E4B3F"/>
            </a:solidFill>
          </a:ln>
          <a:effectLst/>
        </p:spPr>
        <p:txBody>
          <a:bodyPr rtlCol="0" anchor="ctr"/>
          <a:lstStyle/>
          <a:p>
            <a:pPr algn="ctr"/>
          </a:p>
        </p:txBody>
      </p:sp>
      <p:sp>
        <p:nvSpPr>
          <p:cNvPr id="37" name="Freeform 36"/>
          <p:cNvSpPr/>
          <p:nvPr/>
        </p:nvSpPr>
        <p:spPr>
          <a:xfrm>
            <a:off x="6356350" y="3835400"/>
            <a:ext cx="4667250" cy="450850"/>
          </a:xfrm>
          <a:custGeom>
            <a:avLst/>
            <a:gdLst/>
            <a:ahLst/>
            <a:cxnLst/>
            <a:rect l="l" t="t" r="r" b="b"/>
            <a:pathLst>
              <a:path w="735" h="71">
                <a:moveTo>
                  <a:pt x="0" y="71"/>
                </a:moveTo>
                <a:lnTo>
                  <a:pt x="27" y="70"/>
                </a:lnTo>
                <a:lnTo>
                  <a:pt x="56" y="69"/>
                </a:lnTo>
                <a:lnTo>
                  <a:pt x="84" y="67"/>
                </a:lnTo>
                <a:lnTo>
                  <a:pt x="113" y="66"/>
                </a:lnTo>
                <a:lnTo>
                  <a:pt x="142" y="64"/>
                </a:lnTo>
                <a:lnTo>
                  <a:pt x="172" y="62"/>
                </a:lnTo>
                <a:lnTo>
                  <a:pt x="201" y="60"/>
                </a:lnTo>
                <a:lnTo>
                  <a:pt x="231" y="58"/>
                </a:lnTo>
                <a:lnTo>
                  <a:pt x="261" y="56"/>
                </a:lnTo>
                <a:lnTo>
                  <a:pt x="291" y="54"/>
                </a:lnTo>
                <a:lnTo>
                  <a:pt x="321" y="51"/>
                </a:lnTo>
                <a:lnTo>
                  <a:pt x="351" y="49"/>
                </a:lnTo>
                <a:lnTo>
                  <a:pt x="380" y="46"/>
                </a:lnTo>
                <a:lnTo>
                  <a:pt x="410" y="43"/>
                </a:lnTo>
                <a:lnTo>
                  <a:pt x="439" y="40"/>
                </a:lnTo>
                <a:lnTo>
                  <a:pt x="468" y="37"/>
                </a:lnTo>
                <a:lnTo>
                  <a:pt x="497" y="34"/>
                </a:lnTo>
                <a:lnTo>
                  <a:pt x="526" y="30"/>
                </a:lnTo>
                <a:lnTo>
                  <a:pt x="554" y="27"/>
                </a:lnTo>
                <a:lnTo>
                  <a:pt x="581" y="23"/>
                </a:lnTo>
                <a:lnTo>
                  <a:pt x="608" y="20"/>
                </a:lnTo>
                <a:lnTo>
                  <a:pt x="635" y="16"/>
                </a:lnTo>
                <a:lnTo>
                  <a:pt x="661" y="12"/>
                </a:lnTo>
                <a:lnTo>
                  <a:pt x="686" y="8"/>
                </a:lnTo>
                <a:lnTo>
                  <a:pt x="711" y="4"/>
                </a:lnTo>
                <a:lnTo>
                  <a:pt x="735" y="0"/>
                </a:lnTo>
              </a:path>
            </a:pathLst>
          </a:custGeom>
          <a:noFill/>
          <a:ln w="17375">
            <a:solidFill>
              <a:srgbClr val="131417"/>
            </a:solidFill>
          </a:ln>
          <a:effectLst/>
        </p:spPr>
        <p:txBody>
          <a:bodyPr rtlCol="0" anchor="ctr"/>
          <a:lstStyle/>
          <a:p>
            <a:pPr algn="ctr"/>
          </a:p>
        </p:txBody>
      </p:sp>
      <p:sp>
        <p:nvSpPr>
          <p:cNvPr id="38" name="TextBox 37"/>
          <p:cNvSpPr txBox="1"/>
          <p:nvPr/>
        </p:nvSpPr>
        <p:spPr>
          <a:xfrm>
            <a:off x="596900" y="787400"/>
            <a:ext cx="599777" cy="158750"/>
          </a:xfrm>
          <a:prstGeom prst="rect">
            <a:avLst/>
          </a:prstGeom>
          <a:noFill/>
        </p:spPr>
        <p:txBody>
          <a:bodyPr wrap="none" lIns="0" rIns="0" tIns="0" bIns="0">
            <a:noAutofit/>
          </a:bodyPr>
          <a:lstStyle/>
          <a:p>
            <a:pPr>
              <a:spcBef>
                <a:spcPts val="0"/>
              </a:spcBef>
              <a:spcAft>
                <a:spcPts val="0"/>
              </a:spcAft>
            </a:pPr>
            <a:r>
              <a:rPr sz="950" b="1" spc="76">
                <a:solidFill>
                  <a:srgbClr val="D93A1F"/>
                </a:solidFill>
                <a:latin typeface="Spline Sans Mono"/>
              </a:rPr>
              <a:t>FIG. 02</a:t>
            </a:r>
          </a:p>
        </p:txBody>
      </p:sp>
      <p:sp>
        <p:nvSpPr>
          <p:cNvPr id="39" name="TextBox 38"/>
          <p:cNvSpPr txBox="1"/>
          <p:nvPr/>
        </p:nvSpPr>
        <p:spPr>
          <a:xfrm>
            <a:off x="1349077" y="539750"/>
            <a:ext cx="2469158" cy="441623"/>
          </a:xfrm>
          <a:prstGeom prst="rect">
            <a:avLst/>
          </a:prstGeom>
          <a:noFill/>
        </p:spPr>
        <p:txBody>
          <a:bodyPr wrap="none" lIns="0" rIns="0" tIns="0" bIns="0">
            <a:noAutofit/>
          </a:bodyPr>
          <a:lstStyle/>
          <a:p>
            <a:pPr>
              <a:lnSpc>
                <a:spcPts val="3328"/>
              </a:lnSpc>
              <a:spcBef>
                <a:spcPts val="0"/>
              </a:spcBef>
              <a:spcAft>
                <a:spcPts val="0"/>
              </a:spcAft>
            </a:pPr>
            <a:r>
              <a:rPr sz="3200" b="0">
                <a:solidFill>
                  <a:srgbClr val="131417"/>
                </a:solidFill>
                <a:latin typeface="Gloock"/>
              </a:rPr>
              <a:t>The Problem</a:t>
            </a:r>
          </a:p>
        </p:txBody>
      </p:sp>
      <p:sp>
        <p:nvSpPr>
          <p:cNvPr id="40" name="TextBox 39"/>
          <p:cNvSpPr txBox="1"/>
          <p:nvPr/>
        </p:nvSpPr>
        <p:spPr>
          <a:xfrm>
            <a:off x="9466560" y="806450"/>
            <a:ext cx="2128540" cy="139700"/>
          </a:xfrm>
          <a:prstGeom prst="rect">
            <a:avLst/>
          </a:prstGeom>
          <a:noFill/>
        </p:spPr>
        <p:txBody>
          <a:bodyPr wrap="none" lIns="0" rIns="0" tIns="0" bIns="0">
            <a:noAutofit/>
          </a:bodyPr>
          <a:lstStyle/>
          <a:p>
            <a:pPr>
              <a:spcBef>
                <a:spcPts val="0"/>
              </a:spcBef>
              <a:spcAft>
                <a:spcPts val="0"/>
              </a:spcAft>
            </a:pPr>
            <a:r>
              <a:rPr sz="800" b="0" spc="72">
                <a:solidFill>
                  <a:srgbClr val="84867E"/>
                </a:solidFill>
                <a:latin typeface="Spline Sans Mono"/>
              </a:rPr>
              <a:t>GROWTH VS. THE OPERATING MODEL</a:t>
            </a:r>
          </a:p>
        </p:txBody>
      </p:sp>
      <p:sp>
        <p:nvSpPr>
          <p:cNvPr id="41" name="TextBox 40"/>
          <p:cNvSpPr txBox="1"/>
          <p:nvPr/>
        </p:nvSpPr>
        <p:spPr>
          <a:xfrm>
            <a:off x="596900" y="2118023"/>
            <a:ext cx="2286000" cy="139700"/>
          </a:xfrm>
          <a:prstGeom prst="rect">
            <a:avLst/>
          </a:prstGeom>
          <a:noFill/>
        </p:spPr>
        <p:txBody>
          <a:bodyPr wrap="none" lIns="0" rIns="0" tIns="0" bIns="0">
            <a:noAutofit/>
          </a:bodyPr>
          <a:lstStyle/>
          <a:p>
            <a:pPr>
              <a:spcBef>
                <a:spcPts val="0"/>
              </a:spcBef>
              <a:spcAft>
                <a:spcPts val="0"/>
              </a:spcAft>
            </a:pPr>
            <a:r>
              <a:rPr sz="800" b="1" spc="80">
                <a:solidFill>
                  <a:srgbClr val="2E4B3F"/>
                </a:solidFill>
                <a:latin typeface="Spline Sans Mono"/>
              </a:rPr>
              <a:t>GROWTH ADDS</a:t>
            </a:r>
          </a:p>
        </p:txBody>
      </p:sp>
      <p:sp>
        <p:nvSpPr>
          <p:cNvPr id="42" name="TextBox 41"/>
          <p:cNvSpPr txBox="1"/>
          <p:nvPr/>
        </p:nvSpPr>
        <p:spPr>
          <a:xfrm>
            <a:off x="596900" y="24482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G-01</a:t>
            </a:r>
          </a:p>
        </p:txBody>
      </p:sp>
      <p:sp>
        <p:nvSpPr>
          <p:cNvPr id="43" name="TextBox 42"/>
          <p:cNvSpPr txBox="1"/>
          <p:nvPr/>
        </p:nvSpPr>
        <p:spPr>
          <a:xfrm>
            <a:off x="1054100" y="2403773"/>
            <a:ext cx="734616"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Employees</a:t>
            </a:r>
          </a:p>
        </p:txBody>
      </p:sp>
      <p:sp>
        <p:nvSpPr>
          <p:cNvPr id="44" name="TextBox 43"/>
          <p:cNvSpPr txBox="1"/>
          <p:nvPr/>
        </p:nvSpPr>
        <p:spPr>
          <a:xfrm>
            <a:off x="596900" y="27403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G-02</a:t>
            </a:r>
          </a:p>
        </p:txBody>
      </p:sp>
      <p:sp>
        <p:nvSpPr>
          <p:cNvPr id="45" name="TextBox 44"/>
          <p:cNvSpPr txBox="1"/>
          <p:nvPr/>
        </p:nvSpPr>
        <p:spPr>
          <a:xfrm>
            <a:off x="1054100" y="2695873"/>
            <a:ext cx="610890"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Software</a:t>
            </a:r>
          </a:p>
        </p:txBody>
      </p:sp>
      <p:sp>
        <p:nvSpPr>
          <p:cNvPr id="46" name="TextBox 45"/>
          <p:cNvSpPr txBox="1"/>
          <p:nvPr/>
        </p:nvSpPr>
        <p:spPr>
          <a:xfrm>
            <a:off x="596900" y="30324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G-03</a:t>
            </a:r>
          </a:p>
        </p:txBody>
      </p:sp>
      <p:sp>
        <p:nvSpPr>
          <p:cNvPr id="47" name="TextBox 46"/>
          <p:cNvSpPr txBox="1"/>
          <p:nvPr/>
        </p:nvSpPr>
        <p:spPr>
          <a:xfrm>
            <a:off x="1054100" y="2987973"/>
            <a:ext cx="728166"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Customers</a:t>
            </a:r>
          </a:p>
        </p:txBody>
      </p:sp>
      <p:sp>
        <p:nvSpPr>
          <p:cNvPr id="48" name="TextBox 47"/>
          <p:cNvSpPr txBox="1"/>
          <p:nvPr/>
        </p:nvSpPr>
        <p:spPr>
          <a:xfrm>
            <a:off x="596900" y="33245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G-04</a:t>
            </a:r>
          </a:p>
        </p:txBody>
      </p:sp>
      <p:sp>
        <p:nvSpPr>
          <p:cNvPr id="49" name="TextBox 48"/>
          <p:cNvSpPr txBox="1"/>
          <p:nvPr/>
        </p:nvSpPr>
        <p:spPr>
          <a:xfrm>
            <a:off x="1054100" y="3280073"/>
            <a:ext cx="560685"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Vendors</a:t>
            </a:r>
          </a:p>
        </p:txBody>
      </p:sp>
      <p:sp>
        <p:nvSpPr>
          <p:cNvPr id="50" name="TextBox 49"/>
          <p:cNvSpPr txBox="1"/>
          <p:nvPr/>
        </p:nvSpPr>
        <p:spPr>
          <a:xfrm>
            <a:off x="596900" y="36166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G-05</a:t>
            </a:r>
          </a:p>
        </p:txBody>
      </p:sp>
      <p:sp>
        <p:nvSpPr>
          <p:cNvPr id="51" name="TextBox 50"/>
          <p:cNvSpPr txBox="1"/>
          <p:nvPr/>
        </p:nvSpPr>
        <p:spPr>
          <a:xfrm>
            <a:off x="1054100" y="3572173"/>
            <a:ext cx="880864"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Sales activity</a:t>
            </a:r>
          </a:p>
        </p:txBody>
      </p:sp>
      <p:sp>
        <p:nvSpPr>
          <p:cNvPr id="52" name="TextBox 51"/>
          <p:cNvSpPr txBox="1"/>
          <p:nvPr/>
        </p:nvSpPr>
        <p:spPr>
          <a:xfrm>
            <a:off x="596900" y="39087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G-06</a:t>
            </a:r>
          </a:p>
        </p:txBody>
      </p:sp>
      <p:sp>
        <p:nvSpPr>
          <p:cNvPr id="53" name="TextBox 52"/>
          <p:cNvSpPr txBox="1"/>
          <p:nvPr/>
        </p:nvSpPr>
        <p:spPr>
          <a:xfrm>
            <a:off x="1054100" y="3864273"/>
            <a:ext cx="796230"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Consultants</a:t>
            </a:r>
          </a:p>
        </p:txBody>
      </p:sp>
      <p:sp>
        <p:nvSpPr>
          <p:cNvPr id="54" name="TextBox 53"/>
          <p:cNvSpPr txBox="1"/>
          <p:nvPr/>
        </p:nvSpPr>
        <p:spPr>
          <a:xfrm>
            <a:off x="596900" y="42008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G-07</a:t>
            </a:r>
          </a:p>
        </p:txBody>
      </p:sp>
      <p:sp>
        <p:nvSpPr>
          <p:cNvPr id="55" name="TextBox 54"/>
          <p:cNvSpPr txBox="1"/>
          <p:nvPr/>
        </p:nvSpPr>
        <p:spPr>
          <a:xfrm>
            <a:off x="1054100" y="4156373"/>
            <a:ext cx="618331"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Meetings</a:t>
            </a:r>
          </a:p>
        </p:txBody>
      </p:sp>
      <p:sp>
        <p:nvSpPr>
          <p:cNvPr id="56" name="TextBox 55"/>
          <p:cNvSpPr txBox="1"/>
          <p:nvPr/>
        </p:nvSpPr>
        <p:spPr>
          <a:xfrm>
            <a:off x="596900" y="44929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G-08</a:t>
            </a:r>
          </a:p>
        </p:txBody>
      </p:sp>
      <p:sp>
        <p:nvSpPr>
          <p:cNvPr id="57" name="TextBox 56"/>
          <p:cNvSpPr txBox="1"/>
          <p:nvPr/>
        </p:nvSpPr>
        <p:spPr>
          <a:xfrm>
            <a:off x="1054100" y="4448473"/>
            <a:ext cx="618331"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AI on top</a:t>
            </a:r>
          </a:p>
        </p:txBody>
      </p:sp>
      <p:sp>
        <p:nvSpPr>
          <p:cNvPr id="58" name="TextBox 57"/>
          <p:cNvSpPr txBox="1"/>
          <p:nvPr/>
        </p:nvSpPr>
        <p:spPr>
          <a:xfrm>
            <a:off x="3162300" y="2118023"/>
            <a:ext cx="2286000" cy="139700"/>
          </a:xfrm>
          <a:prstGeom prst="rect">
            <a:avLst/>
          </a:prstGeom>
          <a:noFill/>
        </p:spPr>
        <p:txBody>
          <a:bodyPr wrap="none" lIns="0" rIns="0" tIns="0" bIns="0">
            <a:noAutofit/>
          </a:bodyPr>
          <a:lstStyle/>
          <a:p>
            <a:pPr>
              <a:spcBef>
                <a:spcPts val="0"/>
              </a:spcBef>
              <a:spcAft>
                <a:spcPts val="0"/>
              </a:spcAft>
            </a:pPr>
            <a:r>
              <a:rPr sz="800" b="1" spc="80">
                <a:solidFill>
                  <a:srgbClr val="D93A1F"/>
                </a:solidFill>
                <a:latin typeface="Spline Sans Mono"/>
              </a:rPr>
              <a:t>THE OPERATING MODEL LAGS</a:t>
            </a:r>
          </a:p>
        </p:txBody>
      </p:sp>
      <p:sp>
        <p:nvSpPr>
          <p:cNvPr id="59" name="TextBox 58"/>
          <p:cNvSpPr txBox="1"/>
          <p:nvPr/>
        </p:nvSpPr>
        <p:spPr>
          <a:xfrm>
            <a:off x="3162300" y="2448223"/>
            <a:ext cx="381000" cy="133350"/>
          </a:xfrm>
          <a:prstGeom prst="rect">
            <a:avLst/>
          </a:prstGeom>
          <a:noFill/>
        </p:spPr>
        <p:txBody>
          <a:bodyPr wrap="none" lIns="0" rIns="0" tIns="0" bIns="0">
            <a:noAutofit/>
          </a:bodyPr>
          <a:lstStyle/>
          <a:p>
            <a:pPr>
              <a:spcBef>
                <a:spcPts val="0"/>
              </a:spcBef>
              <a:spcAft>
                <a:spcPts val="0"/>
              </a:spcAft>
            </a:pPr>
            <a:r>
              <a:rPr sz="750" b="0">
                <a:solidFill>
                  <a:srgbClr val="D93A1F"/>
                </a:solidFill>
                <a:latin typeface="Spline Sans Mono"/>
              </a:rPr>
              <a:t>L-01</a:t>
            </a:r>
          </a:p>
        </p:txBody>
      </p:sp>
      <p:sp>
        <p:nvSpPr>
          <p:cNvPr id="60" name="TextBox 59"/>
          <p:cNvSpPr txBox="1"/>
          <p:nvPr/>
        </p:nvSpPr>
        <p:spPr>
          <a:xfrm>
            <a:off x="3619500" y="2403773"/>
            <a:ext cx="1240433"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Unclear ownership</a:t>
            </a:r>
          </a:p>
        </p:txBody>
      </p:sp>
      <p:sp>
        <p:nvSpPr>
          <p:cNvPr id="61" name="TextBox 60"/>
          <p:cNvSpPr txBox="1"/>
          <p:nvPr/>
        </p:nvSpPr>
        <p:spPr>
          <a:xfrm>
            <a:off x="3162300" y="2740323"/>
            <a:ext cx="381000" cy="133350"/>
          </a:xfrm>
          <a:prstGeom prst="rect">
            <a:avLst/>
          </a:prstGeom>
          <a:noFill/>
        </p:spPr>
        <p:txBody>
          <a:bodyPr wrap="none" lIns="0" rIns="0" tIns="0" bIns="0">
            <a:noAutofit/>
          </a:bodyPr>
          <a:lstStyle/>
          <a:p>
            <a:pPr>
              <a:spcBef>
                <a:spcPts val="0"/>
              </a:spcBef>
              <a:spcAft>
                <a:spcPts val="0"/>
              </a:spcAft>
            </a:pPr>
            <a:r>
              <a:rPr sz="750" b="0">
                <a:solidFill>
                  <a:srgbClr val="D93A1F"/>
                </a:solidFill>
                <a:latin typeface="Spline Sans Mono"/>
              </a:rPr>
              <a:t>L-02</a:t>
            </a:r>
          </a:p>
        </p:txBody>
      </p:sp>
      <p:sp>
        <p:nvSpPr>
          <p:cNvPr id="62" name="TextBox 61"/>
          <p:cNvSpPr txBox="1"/>
          <p:nvPr/>
        </p:nvSpPr>
        <p:spPr>
          <a:xfrm>
            <a:off x="3619500" y="2695873"/>
            <a:ext cx="1088727"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Broken handoffs</a:t>
            </a:r>
          </a:p>
        </p:txBody>
      </p:sp>
      <p:sp>
        <p:nvSpPr>
          <p:cNvPr id="63" name="TextBox 62"/>
          <p:cNvSpPr txBox="1"/>
          <p:nvPr/>
        </p:nvSpPr>
        <p:spPr>
          <a:xfrm>
            <a:off x="3162300" y="3032423"/>
            <a:ext cx="381000" cy="133350"/>
          </a:xfrm>
          <a:prstGeom prst="rect">
            <a:avLst/>
          </a:prstGeom>
          <a:noFill/>
        </p:spPr>
        <p:txBody>
          <a:bodyPr wrap="none" lIns="0" rIns="0" tIns="0" bIns="0">
            <a:noAutofit/>
          </a:bodyPr>
          <a:lstStyle/>
          <a:p>
            <a:pPr>
              <a:spcBef>
                <a:spcPts val="0"/>
              </a:spcBef>
              <a:spcAft>
                <a:spcPts val="0"/>
              </a:spcAft>
            </a:pPr>
            <a:r>
              <a:rPr sz="750" b="0">
                <a:solidFill>
                  <a:srgbClr val="D93A1F"/>
                </a:solidFill>
                <a:latin typeface="Spline Sans Mono"/>
              </a:rPr>
              <a:t>L-03</a:t>
            </a:r>
          </a:p>
        </p:txBody>
      </p:sp>
      <p:sp>
        <p:nvSpPr>
          <p:cNvPr id="64" name="TextBox 63"/>
          <p:cNvSpPr txBox="1"/>
          <p:nvPr/>
        </p:nvSpPr>
        <p:spPr>
          <a:xfrm>
            <a:off x="3619500" y="2987973"/>
            <a:ext cx="1210072"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Manual processes</a:t>
            </a:r>
          </a:p>
        </p:txBody>
      </p:sp>
      <p:sp>
        <p:nvSpPr>
          <p:cNvPr id="65" name="TextBox 64"/>
          <p:cNvSpPr txBox="1"/>
          <p:nvPr/>
        </p:nvSpPr>
        <p:spPr>
          <a:xfrm>
            <a:off x="3162300" y="3324523"/>
            <a:ext cx="381000" cy="133350"/>
          </a:xfrm>
          <a:prstGeom prst="rect">
            <a:avLst/>
          </a:prstGeom>
          <a:noFill/>
        </p:spPr>
        <p:txBody>
          <a:bodyPr wrap="none" lIns="0" rIns="0" tIns="0" bIns="0">
            <a:noAutofit/>
          </a:bodyPr>
          <a:lstStyle/>
          <a:p>
            <a:pPr>
              <a:spcBef>
                <a:spcPts val="0"/>
              </a:spcBef>
              <a:spcAft>
                <a:spcPts val="0"/>
              </a:spcAft>
            </a:pPr>
            <a:r>
              <a:rPr sz="750" b="0">
                <a:solidFill>
                  <a:srgbClr val="D93A1F"/>
                </a:solidFill>
                <a:latin typeface="Spline Sans Mono"/>
              </a:rPr>
              <a:t>L-04</a:t>
            </a:r>
          </a:p>
        </p:txBody>
      </p:sp>
      <p:sp>
        <p:nvSpPr>
          <p:cNvPr id="66" name="TextBox 65"/>
          <p:cNvSpPr txBox="1"/>
          <p:nvPr/>
        </p:nvSpPr>
        <p:spPr>
          <a:xfrm>
            <a:off x="3619500" y="3280073"/>
            <a:ext cx="1134864"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Tribal knowledge</a:t>
            </a:r>
          </a:p>
        </p:txBody>
      </p:sp>
      <p:sp>
        <p:nvSpPr>
          <p:cNvPr id="67" name="TextBox 66"/>
          <p:cNvSpPr txBox="1"/>
          <p:nvPr/>
        </p:nvSpPr>
        <p:spPr>
          <a:xfrm>
            <a:off x="3162300" y="3616623"/>
            <a:ext cx="381000" cy="133350"/>
          </a:xfrm>
          <a:prstGeom prst="rect">
            <a:avLst/>
          </a:prstGeom>
          <a:noFill/>
        </p:spPr>
        <p:txBody>
          <a:bodyPr wrap="none" lIns="0" rIns="0" tIns="0" bIns="0">
            <a:noAutofit/>
          </a:bodyPr>
          <a:lstStyle/>
          <a:p>
            <a:pPr>
              <a:spcBef>
                <a:spcPts val="0"/>
              </a:spcBef>
              <a:spcAft>
                <a:spcPts val="0"/>
              </a:spcAft>
            </a:pPr>
            <a:r>
              <a:rPr sz="750" b="0">
                <a:solidFill>
                  <a:srgbClr val="D93A1F"/>
                </a:solidFill>
                <a:latin typeface="Spline Sans Mono"/>
              </a:rPr>
              <a:t>L-05</a:t>
            </a:r>
          </a:p>
        </p:txBody>
      </p:sp>
      <p:sp>
        <p:nvSpPr>
          <p:cNvPr id="68" name="TextBox 67"/>
          <p:cNvSpPr txBox="1"/>
          <p:nvPr/>
        </p:nvSpPr>
        <p:spPr>
          <a:xfrm>
            <a:off x="3619500" y="3572173"/>
            <a:ext cx="1488579"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Disconnected systems</a:t>
            </a:r>
          </a:p>
        </p:txBody>
      </p:sp>
      <p:sp>
        <p:nvSpPr>
          <p:cNvPr id="69" name="TextBox 68"/>
          <p:cNvSpPr txBox="1"/>
          <p:nvPr/>
        </p:nvSpPr>
        <p:spPr>
          <a:xfrm>
            <a:off x="10114945" y="2773762"/>
            <a:ext cx="520105" cy="158750"/>
          </a:xfrm>
          <a:prstGeom prst="rect">
            <a:avLst/>
          </a:prstGeom>
          <a:noFill/>
        </p:spPr>
        <p:txBody>
          <a:bodyPr wrap="none" lIns="0" rIns="0" tIns="0" bIns="0">
            <a:noAutofit/>
          </a:bodyPr>
          <a:lstStyle/>
          <a:p>
            <a:pPr>
              <a:spcBef>
                <a:spcPts val="0"/>
              </a:spcBef>
              <a:spcAft>
                <a:spcPts val="0"/>
              </a:spcAft>
            </a:pPr>
            <a:r>
              <a:rPr sz="928" b="1">
                <a:solidFill>
                  <a:srgbClr val="D93A1F"/>
                </a:solidFill>
                <a:latin typeface="Spline Sans Mono"/>
              </a:rPr>
              <a:t>THE GAP</a:t>
            </a:r>
          </a:p>
        </p:txBody>
      </p:sp>
      <p:sp>
        <p:nvSpPr>
          <p:cNvPr id="70" name="TextBox 69"/>
          <p:cNvSpPr txBox="1"/>
          <p:nvPr/>
        </p:nvSpPr>
        <p:spPr>
          <a:xfrm>
            <a:off x="10090124" y="2258845"/>
            <a:ext cx="427236" cy="152400"/>
          </a:xfrm>
          <a:prstGeom prst="rect">
            <a:avLst/>
          </a:prstGeom>
          <a:noFill/>
        </p:spPr>
        <p:txBody>
          <a:bodyPr wrap="none" lIns="0" rIns="0" tIns="0" bIns="0">
            <a:noAutofit/>
          </a:bodyPr>
          <a:lstStyle/>
          <a:p>
            <a:pPr>
              <a:spcBef>
                <a:spcPts val="0"/>
              </a:spcBef>
              <a:spcAft>
                <a:spcPts val="0"/>
              </a:spcAft>
            </a:pPr>
            <a:r>
              <a:rPr sz="879" b="0">
                <a:solidFill>
                  <a:srgbClr val="2E4B3F"/>
                </a:solidFill>
                <a:latin typeface="Spline Sans Mono"/>
              </a:rPr>
              <a:t>GROWTH</a:t>
            </a:r>
          </a:p>
        </p:txBody>
      </p:sp>
      <p:sp>
        <p:nvSpPr>
          <p:cNvPr id="71" name="TextBox 70"/>
          <p:cNvSpPr txBox="1"/>
          <p:nvPr/>
        </p:nvSpPr>
        <p:spPr>
          <a:xfrm>
            <a:off x="9519212" y="4170158"/>
            <a:ext cx="1029990" cy="152400"/>
          </a:xfrm>
          <a:prstGeom prst="rect">
            <a:avLst/>
          </a:prstGeom>
          <a:noFill/>
        </p:spPr>
        <p:txBody>
          <a:bodyPr wrap="none" lIns="0" rIns="0" tIns="0" bIns="0">
            <a:noAutofit/>
          </a:bodyPr>
          <a:lstStyle/>
          <a:p>
            <a:pPr>
              <a:spcBef>
                <a:spcPts val="0"/>
              </a:spcBef>
              <a:spcAft>
                <a:spcPts val="0"/>
              </a:spcAft>
            </a:pPr>
            <a:r>
              <a:rPr sz="879" b="0">
                <a:solidFill>
                  <a:srgbClr val="131417"/>
                </a:solidFill>
                <a:latin typeface="Spline Sans Mono"/>
              </a:rPr>
              <a:t>OPERATING MODEL</a:t>
            </a:r>
          </a:p>
        </p:txBody>
      </p:sp>
      <p:sp>
        <p:nvSpPr>
          <p:cNvPr id="72" name="TextBox 71"/>
          <p:cNvSpPr txBox="1"/>
          <p:nvPr/>
        </p:nvSpPr>
        <p:spPr>
          <a:xfrm>
            <a:off x="10710680" y="4648130"/>
            <a:ext cx="405309" cy="146050"/>
          </a:xfrm>
          <a:prstGeom prst="rect">
            <a:avLst/>
          </a:prstGeom>
          <a:noFill/>
        </p:spPr>
        <p:txBody>
          <a:bodyPr wrap="none" lIns="0" rIns="0" tIns="0" bIns="0">
            <a:noAutofit/>
          </a:bodyPr>
          <a:lstStyle/>
          <a:p>
            <a:pPr>
              <a:spcBef>
                <a:spcPts val="0"/>
              </a:spcBef>
              <a:spcAft>
                <a:spcPts val="0"/>
              </a:spcAft>
            </a:pPr>
            <a:r>
              <a:rPr sz="830" b="0">
                <a:solidFill>
                  <a:srgbClr val="84867E"/>
                </a:solidFill>
                <a:latin typeface="Spline Sans Mono"/>
              </a:rPr>
              <a:t>TIME →</a:t>
            </a:r>
          </a:p>
        </p:txBody>
      </p:sp>
      <p:sp>
        <p:nvSpPr>
          <p:cNvPr id="73" name="TextBox 72"/>
          <p:cNvSpPr txBox="1"/>
          <p:nvPr/>
        </p:nvSpPr>
        <p:spPr>
          <a:xfrm>
            <a:off x="5994400" y="4950619"/>
            <a:ext cx="5600700" cy="247650"/>
          </a:xfrm>
          <a:prstGeom prst="rect">
            <a:avLst/>
          </a:prstGeom>
          <a:noFill/>
        </p:spPr>
        <p:txBody>
          <a:bodyPr wrap="square" lIns="0" rIns="0" tIns="0" bIns="0">
            <a:noAutofit/>
          </a:bodyPr>
          <a:lstStyle/>
          <a:p>
            <a:pPr>
              <a:spcBef>
                <a:spcPts val="0"/>
              </a:spcBef>
              <a:spcAft>
                <a:spcPts val="0"/>
              </a:spcAft>
            </a:pPr>
            <a:r>
              <a:rPr sz="750" b="0" spc="45">
                <a:solidFill>
                  <a:srgbClr val="84867E"/>
                </a:solidFill>
                <a:latin typeface="Spline Sans Mono"/>
              </a:rPr>
              <a:t>THE HATCHED AREA IS WHERE COMPANIES QUIETLY LEAK TIME, MARGIN, AND PATIENCE. IT IS ALSO WHERE WE WORK.</a:t>
            </a:r>
          </a:p>
        </p:txBody>
      </p:sp>
      <p:sp>
        <p:nvSpPr>
          <p:cNvPr id="74" name="TextBox 73"/>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SCHULTE &amp; CO. · GROWTH BY DESIGN</a:t>
            </a:r>
          </a:p>
        </p:txBody>
      </p:sp>
      <p:sp>
        <p:nvSpPr>
          <p:cNvPr id="75" name="TextBox 74"/>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SHEET 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609600" y="6572250"/>
            <a:ext cx="10972800" cy="6350"/>
          </a:xfrm>
          <a:prstGeom prst="rect">
            <a:avLst/>
          </a:prstGeom>
          <a:solidFill>
            <a:srgbClr val="131417"/>
          </a:solidFill>
          <a:ln>
            <a:noFill/>
          </a:ln>
          <a:effectLst/>
        </p:spPr>
        <p:txBody>
          <a:bodyPr rtlCol="0" anchor="ctr"/>
          <a:lstStyle/>
          <a:p>
            <a:pPr algn="ctr"/>
          </a:p>
        </p:txBody>
      </p:sp>
      <p:sp>
        <p:nvSpPr>
          <p:cNvPr id="3" name="Rectangle 2"/>
          <p:cNvSpPr/>
          <p:nvPr/>
        </p:nvSpPr>
        <p:spPr>
          <a:xfrm>
            <a:off x="609600" y="6540500"/>
            <a:ext cx="6350" cy="69850"/>
          </a:xfrm>
          <a:prstGeom prst="rect">
            <a:avLst/>
          </a:prstGeom>
          <a:solidFill>
            <a:srgbClr val="131417"/>
          </a:solidFill>
          <a:ln>
            <a:noFill/>
          </a:ln>
          <a:effectLst/>
        </p:spPr>
        <p:txBody>
          <a:bodyPr rtlCol="0" anchor="ctr"/>
          <a:lstStyle/>
          <a:p>
            <a:pPr algn="ctr"/>
          </a:p>
        </p:txBody>
      </p:sp>
      <p:sp>
        <p:nvSpPr>
          <p:cNvPr id="4" name="Rectangle 3"/>
          <p:cNvSpPr/>
          <p:nvPr/>
        </p:nvSpPr>
        <p:spPr>
          <a:xfrm>
            <a:off x="1828800" y="6540500"/>
            <a:ext cx="6350" cy="69850"/>
          </a:xfrm>
          <a:prstGeom prst="rect">
            <a:avLst/>
          </a:prstGeom>
          <a:solidFill>
            <a:srgbClr val="131417"/>
          </a:solidFill>
          <a:ln>
            <a:noFill/>
          </a:ln>
          <a:effectLst/>
        </p:spPr>
        <p:txBody>
          <a:bodyPr rtlCol="0" anchor="ctr"/>
          <a:lstStyle/>
          <a:p>
            <a:pPr algn="ctr"/>
          </a:p>
        </p:txBody>
      </p:sp>
      <p:sp>
        <p:nvSpPr>
          <p:cNvPr id="5" name="Rectangle 4"/>
          <p:cNvSpPr/>
          <p:nvPr/>
        </p:nvSpPr>
        <p:spPr>
          <a:xfrm>
            <a:off x="3048000" y="6540500"/>
            <a:ext cx="6350" cy="69850"/>
          </a:xfrm>
          <a:prstGeom prst="rect">
            <a:avLst/>
          </a:prstGeom>
          <a:solidFill>
            <a:srgbClr val="131417"/>
          </a:solidFill>
          <a:ln>
            <a:noFill/>
          </a:ln>
          <a:effectLst/>
        </p:spPr>
        <p:txBody>
          <a:bodyPr rtlCol="0" anchor="ctr"/>
          <a:lstStyle/>
          <a:p>
            <a:pPr algn="ctr"/>
          </a:p>
        </p:txBody>
      </p:sp>
      <p:sp>
        <p:nvSpPr>
          <p:cNvPr id="6" name="Rectangle 5"/>
          <p:cNvSpPr/>
          <p:nvPr/>
        </p:nvSpPr>
        <p:spPr>
          <a:xfrm>
            <a:off x="4267101" y="6540500"/>
            <a:ext cx="6350" cy="69850"/>
          </a:xfrm>
          <a:prstGeom prst="rect">
            <a:avLst/>
          </a:prstGeom>
          <a:solidFill>
            <a:srgbClr val="131417"/>
          </a:solidFill>
          <a:ln>
            <a:noFill/>
          </a:ln>
          <a:effectLst/>
        </p:spPr>
        <p:txBody>
          <a:bodyPr rtlCol="0" anchor="ctr"/>
          <a:lstStyle/>
          <a:p>
            <a:pPr algn="ctr"/>
          </a:p>
        </p:txBody>
      </p:sp>
      <p:sp>
        <p:nvSpPr>
          <p:cNvPr id="7" name="Rectangle 6"/>
          <p:cNvSpPr/>
          <p:nvPr/>
        </p:nvSpPr>
        <p:spPr>
          <a:xfrm>
            <a:off x="5486400" y="6540500"/>
            <a:ext cx="6350" cy="69850"/>
          </a:xfrm>
          <a:prstGeom prst="rect">
            <a:avLst/>
          </a:prstGeom>
          <a:solidFill>
            <a:srgbClr val="131417"/>
          </a:solidFill>
          <a:ln>
            <a:noFill/>
          </a:ln>
          <a:effectLst/>
        </p:spPr>
        <p:txBody>
          <a:bodyPr rtlCol="0" anchor="ctr"/>
          <a:lstStyle/>
          <a:p>
            <a:pPr algn="ctr"/>
          </a:p>
        </p:txBody>
      </p:sp>
      <p:sp>
        <p:nvSpPr>
          <p:cNvPr id="8" name="Rectangle 7"/>
          <p:cNvSpPr/>
          <p:nvPr/>
        </p:nvSpPr>
        <p:spPr>
          <a:xfrm>
            <a:off x="6705600" y="6540500"/>
            <a:ext cx="6350" cy="69850"/>
          </a:xfrm>
          <a:prstGeom prst="rect">
            <a:avLst/>
          </a:prstGeom>
          <a:solidFill>
            <a:srgbClr val="131417"/>
          </a:solidFill>
          <a:ln>
            <a:noFill/>
          </a:ln>
          <a:effectLst/>
        </p:spPr>
        <p:txBody>
          <a:bodyPr rtlCol="0" anchor="ctr"/>
          <a:lstStyle/>
          <a:p>
            <a:pPr algn="ctr"/>
          </a:p>
        </p:txBody>
      </p:sp>
      <p:sp>
        <p:nvSpPr>
          <p:cNvPr id="9" name="Rectangle 8"/>
          <p:cNvSpPr/>
          <p:nvPr/>
        </p:nvSpPr>
        <p:spPr>
          <a:xfrm>
            <a:off x="7924701" y="6540500"/>
            <a:ext cx="6350" cy="69850"/>
          </a:xfrm>
          <a:prstGeom prst="rect">
            <a:avLst/>
          </a:prstGeom>
          <a:solidFill>
            <a:srgbClr val="131417"/>
          </a:solidFill>
          <a:ln>
            <a:noFill/>
          </a:ln>
          <a:effectLst/>
        </p:spPr>
        <p:txBody>
          <a:bodyPr rtlCol="0" anchor="ctr"/>
          <a:lstStyle/>
          <a:p>
            <a:pPr algn="ctr"/>
          </a:p>
        </p:txBody>
      </p:sp>
      <p:sp>
        <p:nvSpPr>
          <p:cNvPr id="10" name="Rectangle 9"/>
          <p:cNvSpPr/>
          <p:nvPr/>
        </p:nvSpPr>
        <p:spPr>
          <a:xfrm>
            <a:off x="9144000" y="6540500"/>
            <a:ext cx="6350" cy="69850"/>
          </a:xfrm>
          <a:prstGeom prst="rect">
            <a:avLst/>
          </a:prstGeom>
          <a:solidFill>
            <a:srgbClr val="131417"/>
          </a:solidFill>
          <a:ln>
            <a:noFill/>
          </a:ln>
          <a:effectLst/>
        </p:spPr>
        <p:txBody>
          <a:bodyPr rtlCol="0" anchor="ctr"/>
          <a:lstStyle/>
          <a:p>
            <a:pPr algn="ctr"/>
          </a:p>
        </p:txBody>
      </p:sp>
      <p:sp>
        <p:nvSpPr>
          <p:cNvPr id="11" name="Rectangle 10"/>
          <p:cNvSpPr/>
          <p:nvPr/>
        </p:nvSpPr>
        <p:spPr>
          <a:xfrm>
            <a:off x="10363200" y="6540500"/>
            <a:ext cx="6350" cy="69850"/>
          </a:xfrm>
          <a:prstGeom prst="rect">
            <a:avLst/>
          </a:prstGeom>
          <a:solidFill>
            <a:srgbClr val="131417"/>
          </a:solidFill>
          <a:ln>
            <a:noFill/>
          </a:ln>
          <a:effectLst/>
        </p:spPr>
        <p:txBody>
          <a:bodyPr rtlCol="0" anchor="ctr"/>
          <a:lstStyle/>
          <a:p>
            <a:pPr algn="ctr"/>
          </a:p>
        </p:txBody>
      </p:sp>
      <p:sp>
        <p:nvSpPr>
          <p:cNvPr id="12" name="Rectangle 11"/>
          <p:cNvSpPr/>
          <p:nvPr/>
        </p:nvSpPr>
        <p:spPr>
          <a:xfrm>
            <a:off x="11582400" y="6540500"/>
            <a:ext cx="6350" cy="69850"/>
          </a:xfrm>
          <a:prstGeom prst="rect">
            <a:avLst/>
          </a:prstGeom>
          <a:solidFill>
            <a:srgbClr val="131417"/>
          </a:solidFill>
          <a:ln>
            <a:noFill/>
          </a:ln>
          <a:effectLst/>
        </p:spPr>
        <p:txBody>
          <a:bodyPr rtlCol="0" anchor="ctr"/>
          <a:lstStyle/>
          <a:p>
            <a:pPr algn="ctr"/>
          </a:p>
        </p:txBody>
      </p:sp>
      <p:sp>
        <p:nvSpPr>
          <p:cNvPr id="13" name="Diamond 12"/>
          <p:cNvSpPr/>
          <p:nvPr/>
        </p:nvSpPr>
        <p:spPr>
          <a:xfrm>
            <a:off x="4235351" y="6546850"/>
            <a:ext cx="63500" cy="63500"/>
          </a:xfrm>
          <a:prstGeom prst="diamond">
            <a:avLst/>
          </a:prstGeom>
          <a:solidFill>
            <a:srgbClr val="D93A1F"/>
          </a:solidFill>
          <a:ln>
            <a:noFill/>
          </a:ln>
          <a:effectLst/>
        </p:spPr>
        <p:txBody>
          <a:bodyPr rtlCol="0" anchor="ctr"/>
          <a:lstStyle/>
          <a:p>
            <a:pPr algn="ctr"/>
          </a:p>
        </p:txBody>
      </p:sp>
      <p:cxnSp>
        <p:nvCxnSpPr>
          <p:cNvPr id="14" name="Connector 13"/>
          <p:cNvCxnSpPr/>
          <p:nvPr/>
        </p:nvCxnSpPr>
        <p:spPr>
          <a:xfrm>
            <a:off x="609600" y="412750"/>
            <a:ext cx="10972800" cy="0"/>
          </a:xfrm>
          <a:prstGeom prst="line">
            <a:avLst/>
          </a:prstGeom>
          <a:ln w="12700">
            <a:solidFill>
              <a:srgbClr val="131417"/>
            </a:solidFill>
          </a:ln>
          <a:effectLst/>
        </p:spPr>
      </p:cxnSp>
      <p:cxnSp>
        <p:nvCxnSpPr>
          <p:cNvPr id="15" name="Connector 14"/>
          <p:cNvCxnSpPr/>
          <p:nvPr/>
        </p:nvCxnSpPr>
        <p:spPr>
          <a:xfrm>
            <a:off x="609600" y="2083098"/>
            <a:ext cx="5956300" cy="0"/>
          </a:xfrm>
          <a:prstGeom prst="line">
            <a:avLst/>
          </a:prstGeom>
          <a:ln w="19050">
            <a:solidFill>
              <a:srgbClr val="131417"/>
            </a:solidFill>
          </a:ln>
          <a:effectLst/>
        </p:spPr>
      </p:cxnSp>
      <p:cxnSp>
        <p:nvCxnSpPr>
          <p:cNvPr id="16" name="Connector 15"/>
          <p:cNvCxnSpPr/>
          <p:nvPr/>
        </p:nvCxnSpPr>
        <p:spPr>
          <a:xfrm>
            <a:off x="609600" y="2419648"/>
            <a:ext cx="2838450" cy="0"/>
          </a:xfrm>
          <a:prstGeom prst="line">
            <a:avLst/>
          </a:prstGeom>
          <a:ln w="6350">
            <a:solidFill>
              <a:srgbClr val="E4E4DD"/>
            </a:solidFill>
          </a:ln>
          <a:effectLst/>
        </p:spPr>
      </p:cxnSp>
      <p:cxnSp>
        <p:nvCxnSpPr>
          <p:cNvPr id="17" name="Connector 16"/>
          <p:cNvCxnSpPr/>
          <p:nvPr/>
        </p:nvCxnSpPr>
        <p:spPr>
          <a:xfrm>
            <a:off x="3727450" y="2419648"/>
            <a:ext cx="2838450" cy="0"/>
          </a:xfrm>
          <a:prstGeom prst="line">
            <a:avLst/>
          </a:prstGeom>
          <a:ln w="6350">
            <a:solidFill>
              <a:srgbClr val="E4E4DD"/>
            </a:solidFill>
          </a:ln>
          <a:effectLst/>
        </p:spPr>
      </p:cxnSp>
      <p:cxnSp>
        <p:nvCxnSpPr>
          <p:cNvPr id="18" name="Connector 17"/>
          <p:cNvCxnSpPr/>
          <p:nvPr/>
        </p:nvCxnSpPr>
        <p:spPr>
          <a:xfrm>
            <a:off x="609600" y="2711748"/>
            <a:ext cx="2838450" cy="0"/>
          </a:xfrm>
          <a:prstGeom prst="line">
            <a:avLst/>
          </a:prstGeom>
          <a:ln w="6350">
            <a:solidFill>
              <a:srgbClr val="E4E4DD"/>
            </a:solidFill>
          </a:ln>
          <a:effectLst/>
        </p:spPr>
      </p:cxnSp>
      <p:cxnSp>
        <p:nvCxnSpPr>
          <p:cNvPr id="19" name="Connector 18"/>
          <p:cNvCxnSpPr/>
          <p:nvPr/>
        </p:nvCxnSpPr>
        <p:spPr>
          <a:xfrm>
            <a:off x="3727450" y="2711748"/>
            <a:ext cx="2838450" cy="0"/>
          </a:xfrm>
          <a:prstGeom prst="line">
            <a:avLst/>
          </a:prstGeom>
          <a:ln w="6350">
            <a:solidFill>
              <a:srgbClr val="E4E4DD"/>
            </a:solidFill>
          </a:ln>
          <a:effectLst/>
        </p:spPr>
      </p:cxnSp>
      <p:cxnSp>
        <p:nvCxnSpPr>
          <p:cNvPr id="20" name="Connector 19"/>
          <p:cNvCxnSpPr/>
          <p:nvPr/>
        </p:nvCxnSpPr>
        <p:spPr>
          <a:xfrm>
            <a:off x="609600" y="3003848"/>
            <a:ext cx="2838450" cy="0"/>
          </a:xfrm>
          <a:prstGeom prst="line">
            <a:avLst/>
          </a:prstGeom>
          <a:ln w="6350">
            <a:solidFill>
              <a:srgbClr val="E4E4DD"/>
            </a:solidFill>
          </a:ln>
          <a:effectLst/>
        </p:spPr>
      </p:cxnSp>
      <p:cxnSp>
        <p:nvCxnSpPr>
          <p:cNvPr id="21" name="Connector 20"/>
          <p:cNvCxnSpPr/>
          <p:nvPr/>
        </p:nvCxnSpPr>
        <p:spPr>
          <a:xfrm>
            <a:off x="609600" y="3403898"/>
            <a:ext cx="5956300" cy="0"/>
          </a:xfrm>
          <a:prstGeom prst="line">
            <a:avLst/>
          </a:prstGeom>
          <a:ln w="19050">
            <a:solidFill>
              <a:srgbClr val="131417"/>
            </a:solidFill>
          </a:ln>
          <a:effectLst/>
        </p:spPr>
      </p:cxnSp>
      <p:cxnSp>
        <p:nvCxnSpPr>
          <p:cNvPr id="22" name="Connector 21"/>
          <p:cNvCxnSpPr/>
          <p:nvPr/>
        </p:nvCxnSpPr>
        <p:spPr>
          <a:xfrm>
            <a:off x="609600" y="3740448"/>
            <a:ext cx="2838450" cy="0"/>
          </a:xfrm>
          <a:prstGeom prst="line">
            <a:avLst/>
          </a:prstGeom>
          <a:ln w="6350">
            <a:solidFill>
              <a:srgbClr val="E4E4DD"/>
            </a:solidFill>
          </a:ln>
          <a:effectLst/>
        </p:spPr>
      </p:cxnSp>
      <p:cxnSp>
        <p:nvCxnSpPr>
          <p:cNvPr id="23" name="Connector 22"/>
          <p:cNvCxnSpPr/>
          <p:nvPr/>
        </p:nvCxnSpPr>
        <p:spPr>
          <a:xfrm>
            <a:off x="3727450" y="3740448"/>
            <a:ext cx="2838450" cy="0"/>
          </a:xfrm>
          <a:prstGeom prst="line">
            <a:avLst/>
          </a:prstGeom>
          <a:ln w="6350">
            <a:solidFill>
              <a:srgbClr val="E4E4DD"/>
            </a:solidFill>
          </a:ln>
          <a:effectLst/>
        </p:spPr>
      </p:cxnSp>
      <p:cxnSp>
        <p:nvCxnSpPr>
          <p:cNvPr id="24" name="Connector 23"/>
          <p:cNvCxnSpPr/>
          <p:nvPr/>
        </p:nvCxnSpPr>
        <p:spPr>
          <a:xfrm>
            <a:off x="609600" y="4032548"/>
            <a:ext cx="2838450" cy="0"/>
          </a:xfrm>
          <a:prstGeom prst="line">
            <a:avLst/>
          </a:prstGeom>
          <a:ln w="6350">
            <a:solidFill>
              <a:srgbClr val="E4E4DD"/>
            </a:solidFill>
          </a:ln>
          <a:effectLst/>
        </p:spPr>
      </p:cxnSp>
      <p:cxnSp>
        <p:nvCxnSpPr>
          <p:cNvPr id="25" name="Connector 24"/>
          <p:cNvCxnSpPr/>
          <p:nvPr/>
        </p:nvCxnSpPr>
        <p:spPr>
          <a:xfrm>
            <a:off x="3727450" y="4032548"/>
            <a:ext cx="2838450" cy="0"/>
          </a:xfrm>
          <a:prstGeom prst="line">
            <a:avLst/>
          </a:prstGeom>
          <a:ln w="6350">
            <a:solidFill>
              <a:srgbClr val="E4E4DD"/>
            </a:solidFill>
          </a:ln>
          <a:effectLst/>
        </p:spPr>
      </p:cxnSp>
      <p:cxnSp>
        <p:nvCxnSpPr>
          <p:cNvPr id="26" name="Connector 25"/>
          <p:cNvCxnSpPr/>
          <p:nvPr/>
        </p:nvCxnSpPr>
        <p:spPr>
          <a:xfrm>
            <a:off x="609600" y="4324648"/>
            <a:ext cx="2838450" cy="0"/>
          </a:xfrm>
          <a:prstGeom prst="line">
            <a:avLst/>
          </a:prstGeom>
          <a:ln w="6350">
            <a:solidFill>
              <a:srgbClr val="E4E4DD"/>
            </a:solidFill>
          </a:ln>
          <a:effectLst/>
        </p:spPr>
      </p:cxnSp>
      <p:cxnSp>
        <p:nvCxnSpPr>
          <p:cNvPr id="27" name="Connector 26"/>
          <p:cNvCxnSpPr/>
          <p:nvPr/>
        </p:nvCxnSpPr>
        <p:spPr>
          <a:xfrm>
            <a:off x="3727450" y="4324648"/>
            <a:ext cx="2838450" cy="0"/>
          </a:xfrm>
          <a:prstGeom prst="line">
            <a:avLst/>
          </a:prstGeom>
          <a:ln w="6350">
            <a:solidFill>
              <a:srgbClr val="E4E4DD"/>
            </a:solidFill>
          </a:ln>
          <a:effectLst/>
        </p:spPr>
      </p:cxnSp>
      <p:cxnSp>
        <p:nvCxnSpPr>
          <p:cNvPr id="28" name="Connector 27"/>
          <p:cNvCxnSpPr/>
          <p:nvPr/>
        </p:nvCxnSpPr>
        <p:spPr>
          <a:xfrm>
            <a:off x="609600" y="4616748"/>
            <a:ext cx="2838450" cy="0"/>
          </a:xfrm>
          <a:prstGeom prst="line">
            <a:avLst/>
          </a:prstGeom>
          <a:ln w="6350">
            <a:solidFill>
              <a:srgbClr val="E4E4DD"/>
            </a:solidFill>
          </a:ln>
          <a:effectLst/>
        </p:spPr>
      </p:cxnSp>
      <p:cxnSp>
        <p:nvCxnSpPr>
          <p:cNvPr id="29" name="Connector 28"/>
          <p:cNvCxnSpPr/>
          <p:nvPr/>
        </p:nvCxnSpPr>
        <p:spPr>
          <a:xfrm>
            <a:off x="3727450" y="4616748"/>
            <a:ext cx="2838450" cy="0"/>
          </a:xfrm>
          <a:prstGeom prst="line">
            <a:avLst/>
          </a:prstGeom>
          <a:ln w="6350">
            <a:solidFill>
              <a:srgbClr val="E4E4DD"/>
            </a:solidFill>
          </a:ln>
          <a:effectLst/>
        </p:spPr>
      </p:cxnSp>
      <p:cxnSp>
        <p:nvCxnSpPr>
          <p:cNvPr id="30" name="Connector 29"/>
          <p:cNvCxnSpPr/>
          <p:nvPr/>
        </p:nvCxnSpPr>
        <p:spPr>
          <a:xfrm>
            <a:off x="609600" y="4908848"/>
            <a:ext cx="2838450" cy="0"/>
          </a:xfrm>
          <a:prstGeom prst="line">
            <a:avLst/>
          </a:prstGeom>
          <a:ln w="6350">
            <a:solidFill>
              <a:srgbClr val="E4E4DD"/>
            </a:solidFill>
          </a:ln>
          <a:effectLst/>
        </p:spPr>
      </p:cxnSp>
      <p:cxnSp>
        <p:nvCxnSpPr>
          <p:cNvPr id="31" name="Connector 30"/>
          <p:cNvCxnSpPr/>
          <p:nvPr/>
        </p:nvCxnSpPr>
        <p:spPr>
          <a:xfrm>
            <a:off x="7523747" y="2566246"/>
            <a:ext cx="0" cy="2545347"/>
          </a:xfrm>
          <a:prstGeom prst="line">
            <a:avLst/>
          </a:prstGeom>
          <a:ln w="11363">
            <a:solidFill>
              <a:srgbClr val="E4E4DD"/>
            </a:solidFill>
            <a:prstDash val="dash"/>
          </a:ln>
          <a:effectLst/>
        </p:spPr>
      </p:cxnSp>
      <p:sp>
        <p:nvSpPr>
          <p:cNvPr id="32" name="Freeform 31"/>
          <p:cNvSpPr/>
          <p:nvPr/>
        </p:nvSpPr>
        <p:spPr>
          <a:xfrm>
            <a:off x="8502650" y="1930400"/>
            <a:ext cx="1270000" cy="635000"/>
          </a:xfrm>
          <a:custGeom>
            <a:avLst/>
            <a:gdLst/>
            <a:ahLst/>
            <a:cxnLst/>
            <a:rect l="l" t="t" r="r" b="b"/>
            <a:pathLst>
              <a:path w="200" h="100">
                <a:moveTo>
                  <a:pt x="0" y="100"/>
                </a:moveTo>
                <a:lnTo>
                  <a:pt x="86" y="0"/>
                </a:lnTo>
                <a:lnTo>
                  <a:pt x="136" y="50"/>
                </a:lnTo>
                <a:lnTo>
                  <a:pt x="200" y="100"/>
                </a:lnTo>
              </a:path>
            </a:pathLst>
          </a:custGeom>
          <a:noFill/>
          <a:ln w="13635">
            <a:solidFill>
              <a:srgbClr val="131417"/>
            </a:solidFill>
          </a:ln>
          <a:effectLst/>
        </p:spPr>
        <p:txBody>
          <a:bodyPr rtlCol="0" anchor="ctr"/>
          <a:lstStyle/>
          <a:p>
            <a:pPr algn="ctr"/>
          </a:p>
        </p:txBody>
      </p:sp>
      <p:sp>
        <p:nvSpPr>
          <p:cNvPr id="33" name="Freeform 32"/>
          <p:cNvSpPr/>
          <p:nvPr/>
        </p:nvSpPr>
        <p:spPr>
          <a:xfrm>
            <a:off x="7296150" y="2552700"/>
            <a:ext cx="4133850" cy="25400"/>
          </a:xfrm>
          <a:custGeom>
            <a:avLst/>
            <a:gdLst/>
            <a:ahLst/>
            <a:cxnLst/>
            <a:rect l="l" t="t" r="r" b="b"/>
            <a:pathLst>
              <a:path w="651" h="4">
                <a:moveTo>
                  <a:pt x="0" y="2"/>
                </a:moveTo>
                <a:lnTo>
                  <a:pt x="10" y="1"/>
                </a:lnTo>
                <a:lnTo>
                  <a:pt x="21" y="1"/>
                </a:lnTo>
                <a:lnTo>
                  <a:pt x="31" y="0"/>
                </a:lnTo>
                <a:lnTo>
                  <a:pt x="41" y="0"/>
                </a:lnTo>
                <a:lnTo>
                  <a:pt x="52" y="0"/>
                </a:lnTo>
                <a:lnTo>
                  <a:pt x="62" y="0"/>
                </a:lnTo>
                <a:lnTo>
                  <a:pt x="73" y="0"/>
                </a:lnTo>
                <a:lnTo>
                  <a:pt x="83" y="0"/>
                </a:lnTo>
                <a:lnTo>
                  <a:pt x="94" y="1"/>
                </a:lnTo>
                <a:lnTo>
                  <a:pt x="104" y="1"/>
                </a:lnTo>
                <a:lnTo>
                  <a:pt x="115" y="1"/>
                </a:lnTo>
                <a:lnTo>
                  <a:pt x="126" y="2"/>
                </a:lnTo>
                <a:lnTo>
                  <a:pt x="137" y="2"/>
                </a:lnTo>
                <a:lnTo>
                  <a:pt x="147" y="3"/>
                </a:lnTo>
                <a:lnTo>
                  <a:pt x="158" y="3"/>
                </a:lnTo>
                <a:lnTo>
                  <a:pt x="169" y="3"/>
                </a:lnTo>
                <a:lnTo>
                  <a:pt x="181" y="4"/>
                </a:lnTo>
                <a:lnTo>
                  <a:pt x="192" y="4"/>
                </a:lnTo>
                <a:lnTo>
                  <a:pt x="203" y="4"/>
                </a:lnTo>
                <a:lnTo>
                  <a:pt x="215" y="4"/>
                </a:lnTo>
                <a:lnTo>
                  <a:pt x="226" y="4"/>
                </a:lnTo>
                <a:lnTo>
                  <a:pt x="238" y="4"/>
                </a:lnTo>
                <a:lnTo>
                  <a:pt x="250" y="4"/>
                </a:lnTo>
                <a:lnTo>
                  <a:pt x="262" y="3"/>
                </a:lnTo>
                <a:lnTo>
                  <a:pt x="274" y="3"/>
                </a:lnTo>
                <a:lnTo>
                  <a:pt x="286" y="2"/>
                </a:lnTo>
                <a:lnTo>
                  <a:pt x="299" y="1"/>
                </a:lnTo>
                <a:lnTo>
                  <a:pt x="311" y="1"/>
                </a:lnTo>
                <a:lnTo>
                  <a:pt x="323" y="0"/>
                </a:lnTo>
                <a:lnTo>
                  <a:pt x="335" y="0"/>
                </a:lnTo>
                <a:lnTo>
                  <a:pt x="347" y="0"/>
                </a:lnTo>
                <a:lnTo>
                  <a:pt x="358" y="0"/>
                </a:lnTo>
                <a:lnTo>
                  <a:pt x="370" y="0"/>
                </a:lnTo>
                <a:lnTo>
                  <a:pt x="381" y="0"/>
                </a:lnTo>
                <a:lnTo>
                  <a:pt x="393" y="1"/>
                </a:lnTo>
                <a:lnTo>
                  <a:pt x="404" y="1"/>
                </a:lnTo>
                <a:lnTo>
                  <a:pt x="416" y="1"/>
                </a:lnTo>
                <a:lnTo>
                  <a:pt x="427" y="2"/>
                </a:lnTo>
                <a:lnTo>
                  <a:pt x="438" y="2"/>
                </a:lnTo>
                <a:lnTo>
                  <a:pt x="450" y="3"/>
                </a:lnTo>
                <a:lnTo>
                  <a:pt x="461" y="3"/>
                </a:lnTo>
                <a:lnTo>
                  <a:pt x="473" y="3"/>
                </a:lnTo>
                <a:lnTo>
                  <a:pt x="484" y="4"/>
                </a:lnTo>
                <a:lnTo>
                  <a:pt x="496" y="4"/>
                </a:lnTo>
                <a:lnTo>
                  <a:pt x="507" y="4"/>
                </a:lnTo>
                <a:lnTo>
                  <a:pt x="519" y="4"/>
                </a:lnTo>
                <a:lnTo>
                  <a:pt x="530" y="4"/>
                </a:lnTo>
                <a:lnTo>
                  <a:pt x="542" y="4"/>
                </a:lnTo>
                <a:lnTo>
                  <a:pt x="554" y="4"/>
                </a:lnTo>
                <a:lnTo>
                  <a:pt x="566" y="3"/>
                </a:lnTo>
                <a:lnTo>
                  <a:pt x="578" y="3"/>
                </a:lnTo>
                <a:lnTo>
                  <a:pt x="591" y="2"/>
                </a:lnTo>
                <a:lnTo>
                  <a:pt x="604" y="2"/>
                </a:lnTo>
                <a:lnTo>
                  <a:pt x="615" y="2"/>
                </a:lnTo>
                <a:lnTo>
                  <a:pt x="624" y="2"/>
                </a:lnTo>
                <a:lnTo>
                  <a:pt x="632" y="2"/>
                </a:lnTo>
                <a:lnTo>
                  <a:pt x="638" y="2"/>
                </a:lnTo>
                <a:lnTo>
                  <a:pt x="643" y="3"/>
                </a:lnTo>
                <a:lnTo>
                  <a:pt x="647" y="3"/>
                </a:lnTo>
                <a:lnTo>
                  <a:pt x="651" y="2"/>
                </a:lnTo>
              </a:path>
            </a:pathLst>
          </a:custGeom>
          <a:noFill/>
          <a:ln w="18181">
            <a:solidFill>
              <a:srgbClr val="2F4FA2"/>
            </a:solidFill>
          </a:ln>
          <a:effectLst/>
        </p:spPr>
        <p:txBody>
          <a:bodyPr rtlCol="0" anchor="ctr"/>
          <a:lstStyle/>
          <a:p>
            <a:pPr algn="ctr"/>
          </a:p>
        </p:txBody>
      </p:sp>
      <p:sp>
        <p:nvSpPr>
          <p:cNvPr id="34" name="Freeform 33"/>
          <p:cNvSpPr/>
          <p:nvPr/>
        </p:nvSpPr>
        <p:spPr>
          <a:xfrm>
            <a:off x="7975600" y="2565400"/>
            <a:ext cx="2368550" cy="2273300"/>
          </a:xfrm>
          <a:custGeom>
            <a:avLst/>
            <a:gdLst/>
            <a:ahLst/>
            <a:cxnLst/>
            <a:rect l="l" t="t" r="r" b="b"/>
            <a:pathLst>
              <a:path w="373" h="358">
                <a:moveTo>
                  <a:pt x="40" y="0"/>
                </a:moveTo>
                <a:lnTo>
                  <a:pt x="0" y="97"/>
                </a:lnTo>
                <a:lnTo>
                  <a:pt x="33" y="222"/>
                </a:lnTo>
                <a:lnTo>
                  <a:pt x="136" y="358"/>
                </a:lnTo>
                <a:lnTo>
                  <a:pt x="272" y="308"/>
                </a:lnTo>
                <a:lnTo>
                  <a:pt x="348" y="168"/>
                </a:lnTo>
                <a:lnTo>
                  <a:pt x="373" y="43"/>
                </a:lnTo>
                <a:lnTo>
                  <a:pt x="326" y="0"/>
                </a:lnTo>
                <a:close/>
              </a:path>
            </a:pathLst>
          </a:custGeom>
          <a:pattFill prst="ltDnDiag">
            <a:fgClr>
              <a:srgbClr val="ABB7D4"/>
            </a:fgClr>
            <a:bgClr>
              <a:srgbClr val="F7F7F3"/>
            </a:bgClr>
          </a:pattFill>
          <a:ln w="13635">
            <a:solidFill>
              <a:srgbClr val="131417"/>
            </a:solidFill>
          </a:ln>
          <a:effectLst/>
        </p:spPr>
        <p:txBody>
          <a:bodyPr rtlCol="0" anchor="ctr"/>
          <a:lstStyle/>
          <a:p>
            <a:pPr algn="ctr"/>
          </a:p>
        </p:txBody>
      </p:sp>
      <p:sp>
        <p:nvSpPr>
          <p:cNvPr id="35" name="TextBox 34"/>
          <p:cNvSpPr txBox="1"/>
          <p:nvPr/>
        </p:nvSpPr>
        <p:spPr>
          <a:xfrm>
            <a:off x="596900" y="787400"/>
            <a:ext cx="599777" cy="158750"/>
          </a:xfrm>
          <a:prstGeom prst="rect">
            <a:avLst/>
          </a:prstGeom>
          <a:noFill/>
        </p:spPr>
        <p:txBody>
          <a:bodyPr wrap="none" lIns="0" rIns="0" tIns="0" bIns="0">
            <a:noAutofit/>
          </a:bodyPr>
          <a:lstStyle/>
          <a:p>
            <a:pPr>
              <a:spcBef>
                <a:spcPts val="0"/>
              </a:spcBef>
              <a:spcAft>
                <a:spcPts val="0"/>
              </a:spcAft>
            </a:pPr>
            <a:r>
              <a:rPr sz="950" b="1" spc="76">
                <a:solidFill>
                  <a:srgbClr val="D93A1F"/>
                </a:solidFill>
                <a:latin typeface="Spline Sans Mono"/>
              </a:rPr>
              <a:t>FIG. 03</a:t>
            </a:r>
          </a:p>
        </p:txBody>
      </p:sp>
      <p:sp>
        <p:nvSpPr>
          <p:cNvPr id="36" name="TextBox 35"/>
          <p:cNvSpPr txBox="1"/>
          <p:nvPr/>
        </p:nvSpPr>
        <p:spPr>
          <a:xfrm>
            <a:off x="1349077" y="539750"/>
            <a:ext cx="3344962" cy="441623"/>
          </a:xfrm>
          <a:prstGeom prst="rect">
            <a:avLst/>
          </a:prstGeom>
          <a:noFill/>
        </p:spPr>
        <p:txBody>
          <a:bodyPr wrap="none" lIns="0" rIns="0" tIns="0" bIns="0">
            <a:noAutofit/>
          </a:bodyPr>
          <a:lstStyle/>
          <a:p>
            <a:pPr>
              <a:lnSpc>
                <a:spcPts val="3328"/>
              </a:lnSpc>
              <a:spcBef>
                <a:spcPts val="0"/>
              </a:spcBef>
              <a:spcAft>
                <a:spcPts val="0"/>
              </a:spcAft>
            </a:pPr>
            <a:r>
              <a:rPr sz="3200" b="0">
                <a:solidFill>
                  <a:srgbClr val="131417"/>
                </a:solidFill>
                <a:latin typeface="Gloock"/>
              </a:rPr>
              <a:t>Below the Surface</a:t>
            </a:r>
          </a:p>
        </p:txBody>
      </p:sp>
      <p:sp>
        <p:nvSpPr>
          <p:cNvPr id="37" name="TextBox 36"/>
          <p:cNvSpPr txBox="1"/>
          <p:nvPr/>
        </p:nvSpPr>
        <p:spPr>
          <a:xfrm>
            <a:off x="8765480" y="806450"/>
            <a:ext cx="2829620" cy="139700"/>
          </a:xfrm>
          <a:prstGeom prst="rect">
            <a:avLst/>
          </a:prstGeom>
          <a:noFill/>
        </p:spPr>
        <p:txBody>
          <a:bodyPr wrap="none" lIns="0" rIns="0" tIns="0" bIns="0">
            <a:noAutofit/>
          </a:bodyPr>
          <a:lstStyle/>
          <a:p>
            <a:pPr>
              <a:spcBef>
                <a:spcPts val="0"/>
              </a:spcBef>
              <a:spcAft>
                <a:spcPts val="0"/>
              </a:spcAft>
            </a:pPr>
            <a:r>
              <a:rPr sz="800" b="0" spc="72">
                <a:solidFill>
                  <a:srgbClr val="84867E"/>
                </a:solidFill>
                <a:latin typeface="Spline Sans Mono"/>
              </a:rPr>
              <a:t>FIVE SYMPTOMS ABOVE · NINE COSTS BENEATH</a:t>
            </a:r>
          </a:p>
        </p:txBody>
      </p:sp>
      <p:sp>
        <p:nvSpPr>
          <p:cNvPr id="38" name="TextBox 37"/>
          <p:cNvSpPr txBox="1"/>
          <p:nvPr/>
        </p:nvSpPr>
        <p:spPr>
          <a:xfrm>
            <a:off x="596900" y="1895773"/>
            <a:ext cx="5981700" cy="139700"/>
          </a:xfrm>
          <a:prstGeom prst="rect">
            <a:avLst/>
          </a:prstGeom>
          <a:noFill/>
        </p:spPr>
        <p:txBody>
          <a:bodyPr wrap="none" lIns="0" rIns="0" tIns="0" bIns="0">
            <a:noAutofit/>
          </a:bodyPr>
          <a:lstStyle/>
          <a:p>
            <a:pPr>
              <a:spcBef>
                <a:spcPts val="0"/>
              </a:spcBef>
              <a:spcAft>
                <a:spcPts val="0"/>
              </a:spcAft>
            </a:pPr>
            <a:r>
              <a:rPr sz="800" b="1" spc="80">
                <a:solidFill>
                  <a:srgbClr val="2E4B3F"/>
                </a:solidFill>
                <a:latin typeface="Spline Sans Mono"/>
              </a:rPr>
              <a:t>ABOVE THE SURFACE · WHAT THE P&amp;L SEES</a:t>
            </a:r>
          </a:p>
        </p:txBody>
      </p:sp>
      <p:sp>
        <p:nvSpPr>
          <p:cNvPr id="39" name="TextBox 38"/>
          <p:cNvSpPr txBox="1"/>
          <p:nvPr/>
        </p:nvSpPr>
        <p:spPr>
          <a:xfrm>
            <a:off x="596900" y="222597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V-01</a:t>
            </a:r>
          </a:p>
        </p:txBody>
      </p:sp>
      <p:sp>
        <p:nvSpPr>
          <p:cNvPr id="40" name="TextBox 39"/>
          <p:cNvSpPr txBox="1"/>
          <p:nvPr/>
        </p:nvSpPr>
        <p:spPr>
          <a:xfrm>
            <a:off x="1054100" y="2181523"/>
            <a:ext cx="974427"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Missed targets</a:t>
            </a:r>
          </a:p>
        </p:txBody>
      </p:sp>
      <p:sp>
        <p:nvSpPr>
          <p:cNvPr id="41" name="TextBox 40"/>
          <p:cNvSpPr txBox="1"/>
          <p:nvPr/>
        </p:nvSpPr>
        <p:spPr>
          <a:xfrm>
            <a:off x="3714750" y="222597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V-02</a:t>
            </a:r>
          </a:p>
        </p:txBody>
      </p:sp>
      <p:sp>
        <p:nvSpPr>
          <p:cNvPr id="42" name="TextBox 41"/>
          <p:cNvSpPr txBox="1"/>
          <p:nvPr/>
        </p:nvSpPr>
        <p:spPr>
          <a:xfrm>
            <a:off x="4171950" y="2181523"/>
            <a:ext cx="964803"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Slower growth</a:t>
            </a:r>
          </a:p>
        </p:txBody>
      </p:sp>
      <p:sp>
        <p:nvSpPr>
          <p:cNvPr id="43" name="TextBox 42"/>
          <p:cNvSpPr txBox="1"/>
          <p:nvPr/>
        </p:nvSpPr>
        <p:spPr>
          <a:xfrm>
            <a:off x="596900" y="251807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V-03</a:t>
            </a:r>
          </a:p>
        </p:txBody>
      </p:sp>
      <p:sp>
        <p:nvSpPr>
          <p:cNvPr id="44" name="TextBox 43"/>
          <p:cNvSpPr txBox="1"/>
          <p:nvPr/>
        </p:nvSpPr>
        <p:spPr>
          <a:xfrm>
            <a:off x="1054100" y="2473623"/>
            <a:ext cx="1075730"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Margin pressure</a:t>
            </a:r>
          </a:p>
        </p:txBody>
      </p:sp>
      <p:sp>
        <p:nvSpPr>
          <p:cNvPr id="45" name="TextBox 44"/>
          <p:cNvSpPr txBox="1"/>
          <p:nvPr/>
        </p:nvSpPr>
        <p:spPr>
          <a:xfrm>
            <a:off x="3714750" y="251807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V-04</a:t>
            </a:r>
          </a:p>
        </p:txBody>
      </p:sp>
      <p:sp>
        <p:nvSpPr>
          <p:cNvPr id="46" name="TextBox 45"/>
          <p:cNvSpPr txBox="1"/>
          <p:nvPr/>
        </p:nvSpPr>
        <p:spPr>
          <a:xfrm>
            <a:off x="4171950" y="2473623"/>
            <a:ext cx="1363960"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Customer frustration</a:t>
            </a:r>
          </a:p>
        </p:txBody>
      </p:sp>
      <p:sp>
        <p:nvSpPr>
          <p:cNvPr id="47" name="TextBox 46"/>
          <p:cNvSpPr txBox="1"/>
          <p:nvPr/>
        </p:nvSpPr>
        <p:spPr>
          <a:xfrm>
            <a:off x="596900" y="281017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V-05</a:t>
            </a:r>
          </a:p>
        </p:txBody>
      </p:sp>
      <p:sp>
        <p:nvSpPr>
          <p:cNvPr id="48" name="TextBox 47"/>
          <p:cNvSpPr txBox="1"/>
          <p:nvPr/>
        </p:nvSpPr>
        <p:spPr>
          <a:xfrm>
            <a:off x="1054100" y="2765723"/>
            <a:ext cx="492423"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Layoffs</a:t>
            </a:r>
          </a:p>
        </p:txBody>
      </p:sp>
      <p:sp>
        <p:nvSpPr>
          <p:cNvPr id="49" name="TextBox 48"/>
          <p:cNvSpPr txBox="1"/>
          <p:nvPr/>
        </p:nvSpPr>
        <p:spPr>
          <a:xfrm>
            <a:off x="596900" y="3216573"/>
            <a:ext cx="5981700" cy="139700"/>
          </a:xfrm>
          <a:prstGeom prst="rect">
            <a:avLst/>
          </a:prstGeom>
          <a:noFill/>
        </p:spPr>
        <p:txBody>
          <a:bodyPr wrap="none" lIns="0" rIns="0" tIns="0" bIns="0">
            <a:noAutofit/>
          </a:bodyPr>
          <a:lstStyle/>
          <a:p>
            <a:pPr>
              <a:spcBef>
                <a:spcPts val="0"/>
              </a:spcBef>
              <a:spcAft>
                <a:spcPts val="0"/>
              </a:spcAft>
            </a:pPr>
            <a:r>
              <a:rPr sz="800" b="1" spc="80">
                <a:solidFill>
                  <a:srgbClr val="2F4FA2"/>
                </a:solidFill>
                <a:latin typeface="Spline Sans Mono"/>
              </a:rPr>
              <a:t>BELOW THE SURFACE · WHERE THE COST LIVES</a:t>
            </a:r>
          </a:p>
        </p:txBody>
      </p:sp>
      <p:sp>
        <p:nvSpPr>
          <p:cNvPr id="50" name="TextBox 49"/>
          <p:cNvSpPr txBox="1"/>
          <p:nvPr/>
        </p:nvSpPr>
        <p:spPr>
          <a:xfrm>
            <a:off x="596900" y="3546773"/>
            <a:ext cx="381000" cy="133350"/>
          </a:xfrm>
          <a:prstGeom prst="rect">
            <a:avLst/>
          </a:prstGeom>
          <a:noFill/>
        </p:spPr>
        <p:txBody>
          <a:bodyPr wrap="none" lIns="0" rIns="0" tIns="0" bIns="0">
            <a:noAutofit/>
          </a:bodyPr>
          <a:lstStyle/>
          <a:p>
            <a:pPr>
              <a:spcBef>
                <a:spcPts val="0"/>
              </a:spcBef>
              <a:spcAft>
                <a:spcPts val="0"/>
              </a:spcAft>
            </a:pPr>
            <a:r>
              <a:rPr sz="750" b="0">
                <a:solidFill>
                  <a:srgbClr val="2F4FA2"/>
                </a:solidFill>
                <a:latin typeface="Spline Sans Mono"/>
              </a:rPr>
              <a:t>H-01</a:t>
            </a:r>
          </a:p>
        </p:txBody>
      </p:sp>
      <p:sp>
        <p:nvSpPr>
          <p:cNvPr id="51" name="TextBox 50"/>
          <p:cNvSpPr txBox="1"/>
          <p:nvPr/>
        </p:nvSpPr>
        <p:spPr>
          <a:xfrm>
            <a:off x="1054100" y="3502323"/>
            <a:ext cx="1501973"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Wasted employee time</a:t>
            </a:r>
          </a:p>
        </p:txBody>
      </p:sp>
      <p:sp>
        <p:nvSpPr>
          <p:cNvPr id="52" name="TextBox 51"/>
          <p:cNvSpPr txBox="1"/>
          <p:nvPr/>
        </p:nvSpPr>
        <p:spPr>
          <a:xfrm>
            <a:off x="2795191" y="3553123"/>
            <a:ext cx="665559" cy="120650"/>
          </a:xfrm>
          <a:prstGeom prst="rect">
            <a:avLst/>
          </a:prstGeom>
          <a:noFill/>
        </p:spPr>
        <p:txBody>
          <a:bodyPr wrap="none" lIns="0" rIns="0" tIns="0" bIns="0">
            <a:noAutofit/>
          </a:bodyPr>
          <a:lstStyle/>
          <a:p>
            <a:pPr>
              <a:spcBef>
                <a:spcPts val="0"/>
              </a:spcBef>
              <a:spcAft>
                <a:spcPts val="0"/>
              </a:spcAft>
            </a:pPr>
            <a:r>
              <a:rPr sz="700" b="0">
                <a:solidFill>
                  <a:srgbClr val="9C6F22"/>
                </a:solidFill>
                <a:latin typeface="Spline Sans Mono"/>
              </a:rPr>
              <a:t>TIME · LABOR</a:t>
            </a:r>
          </a:p>
        </p:txBody>
      </p:sp>
      <p:sp>
        <p:nvSpPr>
          <p:cNvPr id="53" name="TextBox 52"/>
          <p:cNvSpPr txBox="1"/>
          <p:nvPr/>
        </p:nvSpPr>
        <p:spPr>
          <a:xfrm>
            <a:off x="3714750" y="3546773"/>
            <a:ext cx="381000" cy="133350"/>
          </a:xfrm>
          <a:prstGeom prst="rect">
            <a:avLst/>
          </a:prstGeom>
          <a:noFill/>
        </p:spPr>
        <p:txBody>
          <a:bodyPr wrap="none" lIns="0" rIns="0" tIns="0" bIns="0">
            <a:noAutofit/>
          </a:bodyPr>
          <a:lstStyle/>
          <a:p>
            <a:pPr>
              <a:spcBef>
                <a:spcPts val="0"/>
              </a:spcBef>
              <a:spcAft>
                <a:spcPts val="0"/>
              </a:spcAft>
            </a:pPr>
            <a:r>
              <a:rPr sz="750" b="0">
                <a:solidFill>
                  <a:srgbClr val="2F4FA2"/>
                </a:solidFill>
                <a:latin typeface="Spline Sans Mono"/>
              </a:rPr>
              <a:t>H-02</a:t>
            </a:r>
          </a:p>
        </p:txBody>
      </p:sp>
      <p:sp>
        <p:nvSpPr>
          <p:cNvPr id="54" name="TextBox 53"/>
          <p:cNvSpPr txBox="1"/>
          <p:nvPr/>
        </p:nvSpPr>
        <p:spPr>
          <a:xfrm>
            <a:off x="4171950" y="3502323"/>
            <a:ext cx="1080790"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Duplicated work</a:t>
            </a:r>
          </a:p>
        </p:txBody>
      </p:sp>
      <p:sp>
        <p:nvSpPr>
          <p:cNvPr id="55" name="TextBox 54"/>
          <p:cNvSpPr txBox="1"/>
          <p:nvPr/>
        </p:nvSpPr>
        <p:spPr>
          <a:xfrm>
            <a:off x="6286500" y="3553123"/>
            <a:ext cx="292100" cy="120650"/>
          </a:xfrm>
          <a:prstGeom prst="rect">
            <a:avLst/>
          </a:prstGeom>
          <a:noFill/>
        </p:spPr>
        <p:txBody>
          <a:bodyPr wrap="none" lIns="0" rIns="0" tIns="0" bIns="0">
            <a:noAutofit/>
          </a:bodyPr>
          <a:lstStyle/>
          <a:p>
            <a:pPr>
              <a:spcBef>
                <a:spcPts val="0"/>
              </a:spcBef>
              <a:spcAft>
                <a:spcPts val="0"/>
              </a:spcAft>
            </a:pPr>
            <a:r>
              <a:rPr sz="700" b="0">
                <a:solidFill>
                  <a:srgbClr val="9C6F22"/>
                </a:solidFill>
                <a:latin typeface="Spline Sans Mono"/>
              </a:rPr>
              <a:t>LABOR</a:t>
            </a:r>
          </a:p>
        </p:txBody>
      </p:sp>
      <p:sp>
        <p:nvSpPr>
          <p:cNvPr id="56" name="TextBox 55"/>
          <p:cNvSpPr txBox="1"/>
          <p:nvPr/>
        </p:nvSpPr>
        <p:spPr>
          <a:xfrm>
            <a:off x="596900" y="3838873"/>
            <a:ext cx="381000" cy="133350"/>
          </a:xfrm>
          <a:prstGeom prst="rect">
            <a:avLst/>
          </a:prstGeom>
          <a:noFill/>
        </p:spPr>
        <p:txBody>
          <a:bodyPr wrap="none" lIns="0" rIns="0" tIns="0" bIns="0">
            <a:noAutofit/>
          </a:bodyPr>
          <a:lstStyle/>
          <a:p>
            <a:pPr>
              <a:spcBef>
                <a:spcPts val="0"/>
              </a:spcBef>
              <a:spcAft>
                <a:spcPts val="0"/>
              </a:spcAft>
            </a:pPr>
            <a:r>
              <a:rPr sz="750" b="0">
                <a:solidFill>
                  <a:srgbClr val="2F4FA2"/>
                </a:solidFill>
                <a:latin typeface="Spline Sans Mono"/>
              </a:rPr>
              <a:t>H-03</a:t>
            </a:r>
          </a:p>
        </p:txBody>
      </p:sp>
      <p:sp>
        <p:nvSpPr>
          <p:cNvPr id="57" name="TextBox 56"/>
          <p:cNvSpPr txBox="1"/>
          <p:nvPr/>
        </p:nvSpPr>
        <p:spPr>
          <a:xfrm>
            <a:off x="1054100" y="3794423"/>
            <a:ext cx="1351359"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Poor process design</a:t>
            </a:r>
          </a:p>
        </p:txBody>
      </p:sp>
      <p:sp>
        <p:nvSpPr>
          <p:cNvPr id="58" name="TextBox 57"/>
          <p:cNvSpPr txBox="1"/>
          <p:nvPr/>
        </p:nvSpPr>
        <p:spPr>
          <a:xfrm>
            <a:off x="3115270" y="3845223"/>
            <a:ext cx="345480" cy="120650"/>
          </a:xfrm>
          <a:prstGeom prst="rect">
            <a:avLst/>
          </a:prstGeom>
          <a:noFill/>
        </p:spPr>
        <p:txBody>
          <a:bodyPr wrap="none" lIns="0" rIns="0" tIns="0" bIns="0">
            <a:noAutofit/>
          </a:bodyPr>
          <a:lstStyle/>
          <a:p>
            <a:pPr>
              <a:spcBef>
                <a:spcPts val="0"/>
              </a:spcBef>
              <a:spcAft>
                <a:spcPts val="0"/>
              </a:spcAft>
            </a:pPr>
            <a:r>
              <a:rPr sz="700" b="0">
                <a:solidFill>
                  <a:srgbClr val="9C6F22"/>
                </a:solidFill>
                <a:latin typeface="Spline Sans Mono"/>
              </a:rPr>
              <a:t>MARGIN</a:t>
            </a:r>
          </a:p>
        </p:txBody>
      </p:sp>
      <p:sp>
        <p:nvSpPr>
          <p:cNvPr id="59" name="TextBox 58"/>
          <p:cNvSpPr txBox="1"/>
          <p:nvPr/>
        </p:nvSpPr>
        <p:spPr>
          <a:xfrm>
            <a:off x="3714750" y="3838873"/>
            <a:ext cx="381000" cy="133350"/>
          </a:xfrm>
          <a:prstGeom prst="rect">
            <a:avLst/>
          </a:prstGeom>
          <a:noFill/>
        </p:spPr>
        <p:txBody>
          <a:bodyPr wrap="none" lIns="0" rIns="0" tIns="0" bIns="0">
            <a:noAutofit/>
          </a:bodyPr>
          <a:lstStyle/>
          <a:p>
            <a:pPr>
              <a:spcBef>
                <a:spcPts val="0"/>
              </a:spcBef>
              <a:spcAft>
                <a:spcPts val="0"/>
              </a:spcAft>
            </a:pPr>
            <a:r>
              <a:rPr sz="750" b="0">
                <a:solidFill>
                  <a:srgbClr val="2F4FA2"/>
                </a:solidFill>
                <a:latin typeface="Spline Sans Mono"/>
              </a:rPr>
              <a:t>H-04</a:t>
            </a:r>
          </a:p>
        </p:txBody>
      </p:sp>
      <p:sp>
        <p:nvSpPr>
          <p:cNvPr id="60" name="TextBox 59"/>
          <p:cNvSpPr txBox="1"/>
          <p:nvPr/>
        </p:nvSpPr>
        <p:spPr>
          <a:xfrm>
            <a:off x="4171950" y="3794423"/>
            <a:ext cx="1240433"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Unclear ownership</a:t>
            </a:r>
          </a:p>
        </p:txBody>
      </p:sp>
      <p:sp>
        <p:nvSpPr>
          <p:cNvPr id="61" name="TextBox 60"/>
          <p:cNvSpPr txBox="1"/>
          <p:nvPr/>
        </p:nvSpPr>
        <p:spPr>
          <a:xfrm>
            <a:off x="6339780" y="3845223"/>
            <a:ext cx="238820" cy="120650"/>
          </a:xfrm>
          <a:prstGeom prst="rect">
            <a:avLst/>
          </a:prstGeom>
          <a:noFill/>
        </p:spPr>
        <p:txBody>
          <a:bodyPr wrap="none" lIns="0" rIns="0" tIns="0" bIns="0">
            <a:noAutofit/>
          </a:bodyPr>
          <a:lstStyle/>
          <a:p>
            <a:pPr>
              <a:spcBef>
                <a:spcPts val="0"/>
              </a:spcBef>
              <a:spcAft>
                <a:spcPts val="0"/>
              </a:spcAft>
            </a:pPr>
            <a:r>
              <a:rPr sz="700" b="0">
                <a:solidFill>
                  <a:srgbClr val="9C6F22"/>
                </a:solidFill>
                <a:latin typeface="Spline Sans Mono"/>
              </a:rPr>
              <a:t>RISK</a:t>
            </a:r>
          </a:p>
        </p:txBody>
      </p:sp>
      <p:sp>
        <p:nvSpPr>
          <p:cNvPr id="62" name="TextBox 61"/>
          <p:cNvSpPr txBox="1"/>
          <p:nvPr/>
        </p:nvSpPr>
        <p:spPr>
          <a:xfrm>
            <a:off x="596900" y="4130973"/>
            <a:ext cx="381000" cy="133350"/>
          </a:xfrm>
          <a:prstGeom prst="rect">
            <a:avLst/>
          </a:prstGeom>
          <a:noFill/>
        </p:spPr>
        <p:txBody>
          <a:bodyPr wrap="none" lIns="0" rIns="0" tIns="0" bIns="0">
            <a:noAutofit/>
          </a:bodyPr>
          <a:lstStyle/>
          <a:p>
            <a:pPr>
              <a:spcBef>
                <a:spcPts val="0"/>
              </a:spcBef>
              <a:spcAft>
                <a:spcPts val="0"/>
              </a:spcAft>
            </a:pPr>
            <a:r>
              <a:rPr sz="750" b="0">
                <a:solidFill>
                  <a:srgbClr val="2F4FA2"/>
                </a:solidFill>
                <a:latin typeface="Spline Sans Mono"/>
              </a:rPr>
              <a:t>H-05</a:t>
            </a:r>
          </a:p>
        </p:txBody>
      </p:sp>
      <p:sp>
        <p:nvSpPr>
          <p:cNvPr id="63" name="TextBox 62"/>
          <p:cNvSpPr txBox="1"/>
          <p:nvPr/>
        </p:nvSpPr>
        <p:spPr>
          <a:xfrm>
            <a:off x="1054100" y="4086523"/>
            <a:ext cx="881062"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Bad handoffs</a:t>
            </a:r>
          </a:p>
        </p:txBody>
      </p:sp>
      <p:sp>
        <p:nvSpPr>
          <p:cNvPr id="64" name="TextBox 63"/>
          <p:cNvSpPr txBox="1"/>
          <p:nvPr/>
        </p:nvSpPr>
        <p:spPr>
          <a:xfrm>
            <a:off x="3328591" y="4137323"/>
            <a:ext cx="132159" cy="120650"/>
          </a:xfrm>
          <a:prstGeom prst="rect">
            <a:avLst/>
          </a:prstGeom>
          <a:noFill/>
        </p:spPr>
        <p:txBody>
          <a:bodyPr wrap="none" lIns="0" rIns="0" tIns="0" bIns="0">
            <a:noAutofit/>
          </a:bodyPr>
          <a:lstStyle/>
          <a:p>
            <a:pPr>
              <a:spcBef>
                <a:spcPts val="0"/>
              </a:spcBef>
              <a:spcAft>
                <a:spcPts val="0"/>
              </a:spcAft>
            </a:pPr>
            <a:r>
              <a:rPr sz="700" b="0">
                <a:solidFill>
                  <a:srgbClr val="9C6F22"/>
                </a:solidFill>
                <a:latin typeface="Spline Sans Mono"/>
              </a:rPr>
              <a:t>CX</a:t>
            </a:r>
          </a:p>
        </p:txBody>
      </p:sp>
      <p:sp>
        <p:nvSpPr>
          <p:cNvPr id="65" name="TextBox 64"/>
          <p:cNvSpPr txBox="1"/>
          <p:nvPr/>
        </p:nvSpPr>
        <p:spPr>
          <a:xfrm>
            <a:off x="3714750" y="4130973"/>
            <a:ext cx="381000" cy="133350"/>
          </a:xfrm>
          <a:prstGeom prst="rect">
            <a:avLst/>
          </a:prstGeom>
          <a:noFill/>
        </p:spPr>
        <p:txBody>
          <a:bodyPr wrap="none" lIns="0" rIns="0" tIns="0" bIns="0">
            <a:noAutofit/>
          </a:bodyPr>
          <a:lstStyle/>
          <a:p>
            <a:pPr>
              <a:spcBef>
                <a:spcPts val="0"/>
              </a:spcBef>
              <a:spcAft>
                <a:spcPts val="0"/>
              </a:spcAft>
            </a:pPr>
            <a:r>
              <a:rPr sz="750" b="0">
                <a:solidFill>
                  <a:srgbClr val="2F4FA2"/>
                </a:solidFill>
                <a:latin typeface="Spline Sans Mono"/>
              </a:rPr>
              <a:t>H-06</a:t>
            </a:r>
          </a:p>
        </p:txBody>
      </p:sp>
      <p:sp>
        <p:nvSpPr>
          <p:cNvPr id="66" name="TextBox 65"/>
          <p:cNvSpPr txBox="1"/>
          <p:nvPr/>
        </p:nvSpPr>
        <p:spPr>
          <a:xfrm>
            <a:off x="4171950" y="4086523"/>
            <a:ext cx="1134864"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Tribal knowledge</a:t>
            </a:r>
          </a:p>
        </p:txBody>
      </p:sp>
      <p:sp>
        <p:nvSpPr>
          <p:cNvPr id="67" name="TextBox 66"/>
          <p:cNvSpPr txBox="1"/>
          <p:nvPr/>
        </p:nvSpPr>
        <p:spPr>
          <a:xfrm>
            <a:off x="6339780" y="4137323"/>
            <a:ext cx="238820" cy="120650"/>
          </a:xfrm>
          <a:prstGeom prst="rect">
            <a:avLst/>
          </a:prstGeom>
          <a:noFill/>
        </p:spPr>
        <p:txBody>
          <a:bodyPr wrap="none" lIns="0" rIns="0" tIns="0" bIns="0">
            <a:noAutofit/>
          </a:bodyPr>
          <a:lstStyle/>
          <a:p>
            <a:pPr>
              <a:spcBef>
                <a:spcPts val="0"/>
              </a:spcBef>
              <a:spcAft>
                <a:spcPts val="0"/>
              </a:spcAft>
            </a:pPr>
            <a:r>
              <a:rPr sz="700" b="0">
                <a:solidFill>
                  <a:srgbClr val="9C6F22"/>
                </a:solidFill>
                <a:latin typeface="Spline Sans Mono"/>
              </a:rPr>
              <a:t>RISK</a:t>
            </a:r>
          </a:p>
        </p:txBody>
      </p:sp>
      <p:sp>
        <p:nvSpPr>
          <p:cNvPr id="68" name="TextBox 67"/>
          <p:cNvSpPr txBox="1"/>
          <p:nvPr/>
        </p:nvSpPr>
        <p:spPr>
          <a:xfrm>
            <a:off x="596900" y="4423073"/>
            <a:ext cx="381000" cy="133350"/>
          </a:xfrm>
          <a:prstGeom prst="rect">
            <a:avLst/>
          </a:prstGeom>
          <a:noFill/>
        </p:spPr>
        <p:txBody>
          <a:bodyPr wrap="none" lIns="0" rIns="0" tIns="0" bIns="0">
            <a:noAutofit/>
          </a:bodyPr>
          <a:lstStyle/>
          <a:p>
            <a:pPr>
              <a:spcBef>
                <a:spcPts val="0"/>
              </a:spcBef>
              <a:spcAft>
                <a:spcPts val="0"/>
              </a:spcAft>
            </a:pPr>
            <a:r>
              <a:rPr sz="750" b="0">
                <a:solidFill>
                  <a:srgbClr val="2F4FA2"/>
                </a:solidFill>
                <a:latin typeface="Spline Sans Mono"/>
              </a:rPr>
              <a:t>H-07</a:t>
            </a:r>
          </a:p>
        </p:txBody>
      </p:sp>
      <p:sp>
        <p:nvSpPr>
          <p:cNvPr id="69" name="TextBox 68"/>
          <p:cNvSpPr txBox="1"/>
          <p:nvPr/>
        </p:nvSpPr>
        <p:spPr>
          <a:xfrm>
            <a:off x="1054100" y="4378623"/>
            <a:ext cx="1333202"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Redundant software</a:t>
            </a:r>
          </a:p>
        </p:txBody>
      </p:sp>
      <p:sp>
        <p:nvSpPr>
          <p:cNvPr id="70" name="TextBox 69"/>
          <p:cNvSpPr txBox="1"/>
          <p:nvPr/>
        </p:nvSpPr>
        <p:spPr>
          <a:xfrm>
            <a:off x="3168650" y="4429423"/>
            <a:ext cx="292100" cy="120650"/>
          </a:xfrm>
          <a:prstGeom prst="rect">
            <a:avLst/>
          </a:prstGeom>
          <a:noFill/>
        </p:spPr>
        <p:txBody>
          <a:bodyPr wrap="none" lIns="0" rIns="0" tIns="0" bIns="0">
            <a:noAutofit/>
          </a:bodyPr>
          <a:lstStyle/>
          <a:p>
            <a:pPr>
              <a:spcBef>
                <a:spcPts val="0"/>
              </a:spcBef>
              <a:spcAft>
                <a:spcPts val="0"/>
              </a:spcAft>
            </a:pPr>
            <a:r>
              <a:rPr sz="700" b="0">
                <a:solidFill>
                  <a:srgbClr val="9C6F22"/>
                </a:solidFill>
                <a:latin typeface="Spline Sans Mono"/>
              </a:rPr>
              <a:t>SPEND</a:t>
            </a:r>
          </a:p>
        </p:txBody>
      </p:sp>
      <p:sp>
        <p:nvSpPr>
          <p:cNvPr id="71" name="TextBox 70"/>
          <p:cNvSpPr txBox="1"/>
          <p:nvPr/>
        </p:nvSpPr>
        <p:spPr>
          <a:xfrm>
            <a:off x="3714750" y="4423073"/>
            <a:ext cx="381000" cy="133350"/>
          </a:xfrm>
          <a:prstGeom prst="rect">
            <a:avLst/>
          </a:prstGeom>
          <a:noFill/>
        </p:spPr>
        <p:txBody>
          <a:bodyPr wrap="none" lIns="0" rIns="0" tIns="0" bIns="0">
            <a:noAutofit/>
          </a:bodyPr>
          <a:lstStyle/>
          <a:p>
            <a:pPr>
              <a:spcBef>
                <a:spcPts val="0"/>
              </a:spcBef>
              <a:spcAft>
                <a:spcPts val="0"/>
              </a:spcAft>
            </a:pPr>
            <a:r>
              <a:rPr sz="750" b="0">
                <a:solidFill>
                  <a:srgbClr val="2F4FA2"/>
                </a:solidFill>
                <a:latin typeface="Spline Sans Mono"/>
              </a:rPr>
              <a:t>H-08</a:t>
            </a:r>
          </a:p>
        </p:txBody>
      </p:sp>
      <p:sp>
        <p:nvSpPr>
          <p:cNvPr id="72" name="TextBox 71"/>
          <p:cNvSpPr txBox="1"/>
          <p:nvPr/>
        </p:nvSpPr>
        <p:spPr>
          <a:xfrm>
            <a:off x="4171950" y="4378623"/>
            <a:ext cx="1536402"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Weak knowledge mgmt</a:t>
            </a:r>
          </a:p>
        </p:txBody>
      </p:sp>
      <p:sp>
        <p:nvSpPr>
          <p:cNvPr id="73" name="TextBox 72"/>
          <p:cNvSpPr txBox="1"/>
          <p:nvPr/>
        </p:nvSpPr>
        <p:spPr>
          <a:xfrm>
            <a:off x="6339780" y="4429423"/>
            <a:ext cx="238820" cy="120650"/>
          </a:xfrm>
          <a:prstGeom prst="rect">
            <a:avLst/>
          </a:prstGeom>
          <a:noFill/>
        </p:spPr>
        <p:txBody>
          <a:bodyPr wrap="none" lIns="0" rIns="0" tIns="0" bIns="0">
            <a:noAutofit/>
          </a:bodyPr>
          <a:lstStyle/>
          <a:p>
            <a:pPr>
              <a:spcBef>
                <a:spcPts val="0"/>
              </a:spcBef>
              <a:spcAft>
                <a:spcPts val="0"/>
              </a:spcAft>
            </a:pPr>
            <a:r>
              <a:rPr sz="700" b="0">
                <a:solidFill>
                  <a:srgbClr val="9C6F22"/>
                </a:solidFill>
                <a:latin typeface="Spline Sans Mono"/>
              </a:rPr>
              <a:t>TIME</a:t>
            </a:r>
          </a:p>
        </p:txBody>
      </p:sp>
      <p:sp>
        <p:nvSpPr>
          <p:cNvPr id="74" name="TextBox 73"/>
          <p:cNvSpPr txBox="1"/>
          <p:nvPr/>
        </p:nvSpPr>
        <p:spPr>
          <a:xfrm>
            <a:off x="596900" y="4715173"/>
            <a:ext cx="381000" cy="133350"/>
          </a:xfrm>
          <a:prstGeom prst="rect">
            <a:avLst/>
          </a:prstGeom>
          <a:noFill/>
        </p:spPr>
        <p:txBody>
          <a:bodyPr wrap="none" lIns="0" rIns="0" tIns="0" bIns="0">
            <a:noAutofit/>
          </a:bodyPr>
          <a:lstStyle/>
          <a:p>
            <a:pPr>
              <a:spcBef>
                <a:spcPts val="0"/>
              </a:spcBef>
              <a:spcAft>
                <a:spcPts val="0"/>
              </a:spcAft>
            </a:pPr>
            <a:r>
              <a:rPr sz="750" b="0">
                <a:solidFill>
                  <a:srgbClr val="2F4FA2"/>
                </a:solidFill>
                <a:latin typeface="Spline Sans Mono"/>
              </a:rPr>
              <a:t>H-09</a:t>
            </a:r>
          </a:p>
        </p:txBody>
      </p:sp>
      <p:sp>
        <p:nvSpPr>
          <p:cNvPr id="75" name="TextBox 74"/>
          <p:cNvSpPr txBox="1"/>
          <p:nvPr/>
        </p:nvSpPr>
        <p:spPr>
          <a:xfrm>
            <a:off x="1054100" y="4670723"/>
            <a:ext cx="1619845"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Key-person dependency</a:t>
            </a:r>
          </a:p>
        </p:txBody>
      </p:sp>
      <p:sp>
        <p:nvSpPr>
          <p:cNvPr id="76" name="TextBox 75"/>
          <p:cNvSpPr txBox="1"/>
          <p:nvPr/>
        </p:nvSpPr>
        <p:spPr>
          <a:xfrm>
            <a:off x="3221930" y="4721523"/>
            <a:ext cx="238820" cy="120650"/>
          </a:xfrm>
          <a:prstGeom prst="rect">
            <a:avLst/>
          </a:prstGeom>
          <a:noFill/>
        </p:spPr>
        <p:txBody>
          <a:bodyPr wrap="none" lIns="0" rIns="0" tIns="0" bIns="0">
            <a:noAutofit/>
          </a:bodyPr>
          <a:lstStyle/>
          <a:p>
            <a:pPr>
              <a:spcBef>
                <a:spcPts val="0"/>
              </a:spcBef>
              <a:spcAft>
                <a:spcPts val="0"/>
              </a:spcAft>
            </a:pPr>
            <a:r>
              <a:rPr sz="700" b="0">
                <a:solidFill>
                  <a:srgbClr val="9C6F22"/>
                </a:solidFill>
                <a:latin typeface="Spline Sans Mono"/>
              </a:rPr>
              <a:t>RISK</a:t>
            </a:r>
          </a:p>
        </p:txBody>
      </p:sp>
      <p:sp>
        <p:nvSpPr>
          <p:cNvPr id="77" name="TextBox 76"/>
          <p:cNvSpPr txBox="1"/>
          <p:nvPr/>
        </p:nvSpPr>
        <p:spPr>
          <a:xfrm>
            <a:off x="7170204" y="2498708"/>
            <a:ext cx="83344" cy="139700"/>
          </a:xfrm>
          <a:prstGeom prst="rect">
            <a:avLst/>
          </a:prstGeom>
          <a:noFill/>
        </p:spPr>
        <p:txBody>
          <a:bodyPr wrap="none" lIns="0" rIns="0" tIns="0" bIns="0">
            <a:noAutofit/>
          </a:bodyPr>
          <a:lstStyle/>
          <a:p>
            <a:pPr>
              <a:spcBef>
                <a:spcPts val="0"/>
              </a:spcBef>
              <a:spcAft>
                <a:spcPts val="0"/>
              </a:spcAft>
            </a:pPr>
            <a:r>
              <a:rPr sz="760" b="0">
                <a:solidFill>
                  <a:srgbClr val="84867E"/>
                </a:solidFill>
                <a:latin typeface="Spline Sans Mono"/>
              </a:rPr>
              <a:t>0</a:t>
            </a:r>
          </a:p>
        </p:txBody>
      </p:sp>
      <p:sp>
        <p:nvSpPr>
          <p:cNvPr id="78" name="TextBox 77"/>
          <p:cNvSpPr txBox="1"/>
          <p:nvPr/>
        </p:nvSpPr>
        <p:spPr>
          <a:xfrm>
            <a:off x="7170204" y="3339560"/>
            <a:ext cx="199231" cy="139700"/>
          </a:xfrm>
          <a:prstGeom prst="rect">
            <a:avLst/>
          </a:prstGeom>
          <a:noFill/>
        </p:spPr>
        <p:txBody>
          <a:bodyPr wrap="none" lIns="0" rIns="0" tIns="0" bIns="0">
            <a:noAutofit/>
          </a:bodyPr>
          <a:lstStyle/>
          <a:p>
            <a:pPr>
              <a:spcBef>
                <a:spcPts val="0"/>
              </a:spcBef>
              <a:spcAft>
                <a:spcPts val="0"/>
              </a:spcAft>
            </a:pPr>
            <a:r>
              <a:rPr sz="760" b="0">
                <a:solidFill>
                  <a:srgbClr val="84867E"/>
                </a:solidFill>
                <a:latin typeface="Spline Sans Mono"/>
              </a:rPr>
              <a:t>−10</a:t>
            </a:r>
          </a:p>
        </p:txBody>
      </p:sp>
      <p:sp>
        <p:nvSpPr>
          <p:cNvPr id="79" name="TextBox 78"/>
          <p:cNvSpPr txBox="1"/>
          <p:nvPr/>
        </p:nvSpPr>
        <p:spPr>
          <a:xfrm>
            <a:off x="7170204" y="4180415"/>
            <a:ext cx="199231" cy="139700"/>
          </a:xfrm>
          <a:prstGeom prst="rect">
            <a:avLst/>
          </a:prstGeom>
          <a:noFill/>
        </p:spPr>
        <p:txBody>
          <a:bodyPr wrap="none" lIns="0" rIns="0" tIns="0" bIns="0">
            <a:noAutofit/>
          </a:bodyPr>
          <a:lstStyle/>
          <a:p>
            <a:pPr>
              <a:spcBef>
                <a:spcPts val="0"/>
              </a:spcBef>
              <a:spcAft>
                <a:spcPts val="0"/>
              </a:spcAft>
            </a:pPr>
            <a:r>
              <a:rPr sz="760" b="0">
                <a:solidFill>
                  <a:srgbClr val="84867E"/>
                </a:solidFill>
                <a:latin typeface="Spline Sans Mono"/>
              </a:rPr>
              <a:t>−20</a:t>
            </a:r>
          </a:p>
        </p:txBody>
      </p:sp>
      <p:sp>
        <p:nvSpPr>
          <p:cNvPr id="80" name="TextBox 79"/>
          <p:cNvSpPr txBox="1"/>
          <p:nvPr/>
        </p:nvSpPr>
        <p:spPr>
          <a:xfrm>
            <a:off x="7170204" y="5021269"/>
            <a:ext cx="199231" cy="139700"/>
          </a:xfrm>
          <a:prstGeom prst="rect">
            <a:avLst/>
          </a:prstGeom>
          <a:noFill/>
        </p:spPr>
        <p:txBody>
          <a:bodyPr wrap="none" lIns="0" rIns="0" tIns="0" bIns="0">
            <a:noAutofit/>
          </a:bodyPr>
          <a:lstStyle/>
          <a:p>
            <a:pPr>
              <a:spcBef>
                <a:spcPts val="0"/>
              </a:spcBef>
              <a:spcAft>
                <a:spcPts val="0"/>
              </a:spcAft>
            </a:pPr>
            <a:r>
              <a:rPr sz="760" b="0">
                <a:solidFill>
                  <a:srgbClr val="84867E"/>
                </a:solidFill>
                <a:latin typeface="Spline Sans Mono"/>
              </a:rPr>
              <a:t>−30</a:t>
            </a:r>
          </a:p>
        </p:txBody>
      </p:sp>
      <p:sp>
        <p:nvSpPr>
          <p:cNvPr id="81" name="TextBox 80"/>
          <p:cNvSpPr txBox="1"/>
          <p:nvPr/>
        </p:nvSpPr>
        <p:spPr>
          <a:xfrm>
            <a:off x="9851844" y="1964652"/>
            <a:ext cx="1415653" cy="146050"/>
          </a:xfrm>
          <a:prstGeom prst="rect">
            <a:avLst/>
          </a:prstGeom>
          <a:noFill/>
        </p:spPr>
        <p:txBody>
          <a:bodyPr wrap="none" lIns="0" rIns="0" tIns="0" bIns="0">
            <a:noAutofit/>
          </a:bodyPr>
          <a:lstStyle/>
          <a:p>
            <a:pPr>
              <a:spcBef>
                <a:spcPts val="0"/>
              </a:spcBef>
              <a:spcAft>
                <a:spcPts val="0"/>
              </a:spcAft>
            </a:pPr>
            <a:r>
              <a:rPr sz="760" b="0">
                <a:solidFill>
                  <a:srgbClr val="84867E"/>
                </a:solidFill>
                <a:latin typeface="Spline Sans Mono"/>
              </a:rPr>
              <a:t>VISIBLE: MISSED TARGETS,</a:t>
            </a:r>
          </a:p>
        </p:txBody>
      </p:sp>
      <p:sp>
        <p:nvSpPr>
          <p:cNvPr id="82" name="TextBox 81"/>
          <p:cNvSpPr txBox="1"/>
          <p:nvPr/>
        </p:nvSpPr>
        <p:spPr>
          <a:xfrm>
            <a:off x="9851844" y="2101007"/>
            <a:ext cx="1415653" cy="146050"/>
          </a:xfrm>
          <a:prstGeom prst="rect">
            <a:avLst/>
          </a:prstGeom>
          <a:noFill/>
        </p:spPr>
        <p:txBody>
          <a:bodyPr wrap="none" lIns="0" rIns="0" tIns="0" bIns="0">
            <a:noAutofit/>
          </a:bodyPr>
          <a:lstStyle/>
          <a:p>
            <a:pPr>
              <a:spcBef>
                <a:spcPts val="0"/>
              </a:spcBef>
              <a:spcAft>
                <a:spcPts val="0"/>
              </a:spcAft>
            </a:pPr>
            <a:r>
              <a:rPr sz="760" b="0">
                <a:solidFill>
                  <a:srgbClr val="84867E"/>
                </a:solidFill>
                <a:latin typeface="Spline Sans Mono"/>
              </a:rPr>
              <a:t>MARGIN PRESSURE, LAYOFFS</a:t>
            </a:r>
          </a:p>
        </p:txBody>
      </p:sp>
      <p:sp>
        <p:nvSpPr>
          <p:cNvPr id="83" name="TextBox 82"/>
          <p:cNvSpPr txBox="1"/>
          <p:nvPr/>
        </p:nvSpPr>
        <p:spPr>
          <a:xfrm>
            <a:off x="8579201" y="3412751"/>
            <a:ext cx="996156" cy="146050"/>
          </a:xfrm>
          <a:prstGeom prst="rect">
            <a:avLst/>
          </a:prstGeom>
          <a:noFill/>
        </p:spPr>
        <p:txBody>
          <a:bodyPr wrap="none" lIns="0" rIns="0" tIns="0" bIns="0">
            <a:noAutofit/>
          </a:bodyPr>
          <a:lstStyle/>
          <a:p>
            <a:pPr>
              <a:spcBef>
                <a:spcPts val="0"/>
              </a:spcBef>
              <a:spcAft>
                <a:spcPts val="0"/>
              </a:spcAft>
            </a:pPr>
            <a:r>
              <a:rPr sz="850" b="1">
                <a:solidFill>
                  <a:srgbClr val="2F4FA2"/>
                </a:solidFill>
                <a:latin typeface="Spline Sans Mono"/>
              </a:rPr>
              <a:t>HIDDEN: 9 COSTS</a:t>
            </a:r>
          </a:p>
        </p:txBody>
      </p:sp>
      <p:sp>
        <p:nvSpPr>
          <p:cNvPr id="84" name="TextBox 83"/>
          <p:cNvSpPr txBox="1"/>
          <p:nvPr/>
        </p:nvSpPr>
        <p:spPr>
          <a:xfrm>
            <a:off x="8397395" y="3600907"/>
            <a:ext cx="1589385" cy="139700"/>
          </a:xfrm>
          <a:prstGeom prst="rect">
            <a:avLst/>
          </a:prstGeom>
          <a:noFill/>
        </p:spPr>
        <p:txBody>
          <a:bodyPr wrap="none" lIns="0" rIns="0" tIns="0" bIns="0">
            <a:noAutofit/>
          </a:bodyPr>
          <a:lstStyle/>
          <a:p>
            <a:pPr>
              <a:spcBef>
                <a:spcPts val="0"/>
              </a:spcBef>
              <a:spcAft>
                <a:spcPts val="0"/>
              </a:spcAft>
            </a:pPr>
            <a:r>
              <a:rPr sz="760" b="0">
                <a:solidFill>
                  <a:srgbClr val="2F4FA2"/>
                </a:solidFill>
                <a:latin typeface="Spline Sans Mono"/>
              </a:rPr>
              <a:t>TRIBAL KNOWLEDGE · REWORK ·</a:t>
            </a:r>
          </a:p>
        </p:txBody>
      </p:sp>
      <p:sp>
        <p:nvSpPr>
          <p:cNvPr id="85" name="TextBox 84"/>
          <p:cNvSpPr txBox="1"/>
          <p:nvPr/>
        </p:nvSpPr>
        <p:spPr>
          <a:xfrm>
            <a:off x="8397395" y="3748625"/>
            <a:ext cx="1299766" cy="139700"/>
          </a:xfrm>
          <a:prstGeom prst="rect">
            <a:avLst/>
          </a:prstGeom>
          <a:noFill/>
        </p:spPr>
        <p:txBody>
          <a:bodyPr wrap="none" lIns="0" rIns="0" tIns="0" bIns="0">
            <a:noAutofit/>
          </a:bodyPr>
          <a:lstStyle/>
          <a:p>
            <a:pPr>
              <a:spcBef>
                <a:spcPts val="0"/>
              </a:spcBef>
              <a:spcAft>
                <a:spcPts val="0"/>
              </a:spcAft>
            </a:pPr>
            <a:r>
              <a:rPr sz="760" b="0">
                <a:solidFill>
                  <a:srgbClr val="2F4FA2"/>
                </a:solidFill>
                <a:latin typeface="Spline Sans Mono"/>
              </a:rPr>
              <a:t>KEY-PERSON DEPENDENCY…</a:t>
            </a:r>
          </a:p>
        </p:txBody>
      </p:sp>
      <p:sp>
        <p:nvSpPr>
          <p:cNvPr id="86" name="TextBox 85"/>
          <p:cNvSpPr txBox="1"/>
          <p:nvPr/>
        </p:nvSpPr>
        <p:spPr>
          <a:xfrm>
            <a:off x="7647445" y="5168985"/>
            <a:ext cx="2863652" cy="139700"/>
          </a:xfrm>
          <a:prstGeom prst="rect">
            <a:avLst/>
          </a:prstGeom>
          <a:noFill/>
        </p:spPr>
        <p:txBody>
          <a:bodyPr wrap="none" lIns="0" rIns="0" tIns="0" bIns="0">
            <a:noAutofit/>
          </a:bodyPr>
          <a:lstStyle/>
          <a:p>
            <a:pPr>
              <a:spcBef>
                <a:spcPts val="0"/>
              </a:spcBef>
              <a:spcAft>
                <a:spcPts val="0"/>
              </a:spcAft>
            </a:pPr>
            <a:r>
              <a:rPr sz="760" b="0">
                <a:solidFill>
                  <a:srgbClr val="84867E"/>
                </a:solidFill>
                <a:latin typeface="Spline Sans Mono"/>
              </a:rPr>
              <a:t>SOUNDING: MOST OF THE MASS IS UNDER THE WATERLINE</a:t>
            </a:r>
          </a:p>
        </p:txBody>
      </p:sp>
      <p:sp>
        <p:nvSpPr>
          <p:cNvPr id="87" name="TextBox 86"/>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SCHULTE &amp; CO. · GROWTH BY DESIGN</a:t>
            </a:r>
          </a:p>
        </p:txBody>
      </p:sp>
      <p:sp>
        <p:nvSpPr>
          <p:cNvPr id="88" name="TextBox 87"/>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SHEET 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Oval 1"/>
          <p:cNvSpPr/>
          <p:nvPr/>
        </p:nvSpPr>
        <p:spPr>
          <a:xfrm>
            <a:off x="609600" y="1282998"/>
            <a:ext cx="254000" cy="254000"/>
          </a:xfrm>
          <a:prstGeom prst="ellipse">
            <a:avLst/>
          </a:prstGeom>
          <a:solidFill>
            <a:srgbClr val="F7F7F3"/>
          </a:solidFill>
          <a:ln w="12700">
            <a:solidFill>
              <a:srgbClr val="131417"/>
            </a:solidFill>
          </a:ln>
          <a:effectLst/>
        </p:spPr>
        <p:txBody>
          <a:bodyPr rtlCol="0" anchor="ctr"/>
          <a:lstStyle/>
          <a:p>
            <a:pPr algn="ctr"/>
          </a:p>
        </p:txBody>
      </p:sp>
      <p:sp>
        <p:nvSpPr>
          <p:cNvPr id="3" name="Oval 2"/>
          <p:cNvSpPr/>
          <p:nvPr/>
        </p:nvSpPr>
        <p:spPr>
          <a:xfrm>
            <a:off x="609600" y="1702098"/>
            <a:ext cx="254000" cy="254000"/>
          </a:xfrm>
          <a:prstGeom prst="ellipse">
            <a:avLst/>
          </a:prstGeom>
          <a:solidFill>
            <a:srgbClr val="F7F7F3"/>
          </a:solidFill>
          <a:ln w="12700">
            <a:solidFill>
              <a:srgbClr val="131417"/>
            </a:solidFill>
          </a:ln>
          <a:effectLst/>
        </p:spPr>
        <p:txBody>
          <a:bodyPr rtlCol="0" anchor="ctr"/>
          <a:lstStyle/>
          <a:p>
            <a:pPr algn="ctr"/>
          </a:p>
        </p:txBody>
      </p:sp>
      <p:sp>
        <p:nvSpPr>
          <p:cNvPr id="4" name="Oval 3"/>
          <p:cNvSpPr/>
          <p:nvPr/>
        </p:nvSpPr>
        <p:spPr>
          <a:xfrm>
            <a:off x="609600" y="2121198"/>
            <a:ext cx="254000" cy="254000"/>
          </a:xfrm>
          <a:prstGeom prst="ellipse">
            <a:avLst/>
          </a:prstGeom>
          <a:solidFill>
            <a:srgbClr val="F7F7F3"/>
          </a:solidFill>
          <a:ln w="12700">
            <a:solidFill>
              <a:srgbClr val="131417"/>
            </a:solidFill>
          </a:ln>
          <a:effectLst/>
        </p:spPr>
        <p:txBody>
          <a:bodyPr rtlCol="0" anchor="ctr"/>
          <a:lstStyle/>
          <a:p>
            <a:pPr algn="ctr"/>
          </a:p>
        </p:txBody>
      </p:sp>
      <p:sp>
        <p:nvSpPr>
          <p:cNvPr id="5" name="Oval 4"/>
          <p:cNvSpPr/>
          <p:nvPr/>
        </p:nvSpPr>
        <p:spPr>
          <a:xfrm>
            <a:off x="609600" y="2540298"/>
            <a:ext cx="254000" cy="254000"/>
          </a:xfrm>
          <a:prstGeom prst="ellipse">
            <a:avLst/>
          </a:prstGeom>
          <a:solidFill>
            <a:srgbClr val="F7F7F3"/>
          </a:solidFill>
          <a:ln w="12700">
            <a:solidFill>
              <a:srgbClr val="131417"/>
            </a:solidFill>
          </a:ln>
          <a:effectLst/>
        </p:spPr>
        <p:txBody>
          <a:bodyPr rtlCol="0" anchor="ctr"/>
          <a:lstStyle/>
          <a:p>
            <a:pPr algn="ctr"/>
          </a:p>
        </p:txBody>
      </p:sp>
      <p:sp>
        <p:nvSpPr>
          <p:cNvPr id="6" name="Rectangle 5"/>
          <p:cNvSpPr/>
          <p:nvPr/>
        </p:nvSpPr>
        <p:spPr>
          <a:xfrm>
            <a:off x="609600" y="2880023"/>
            <a:ext cx="10972800" cy="406400"/>
          </a:xfrm>
          <a:prstGeom prst="rect">
            <a:avLst/>
          </a:prstGeom>
          <a:solidFill>
            <a:srgbClr val="EDEFEF"/>
          </a:solidFill>
          <a:ln>
            <a:noFill/>
          </a:ln>
          <a:effectLst/>
        </p:spPr>
        <p:txBody>
          <a:bodyPr rtlCol="0" anchor="ctr"/>
          <a:lstStyle/>
          <a:p>
            <a:pPr algn="ctr"/>
          </a:p>
        </p:txBody>
      </p:sp>
      <p:sp>
        <p:nvSpPr>
          <p:cNvPr id="7" name="Diamond 6"/>
          <p:cNvSpPr/>
          <p:nvPr/>
        </p:nvSpPr>
        <p:spPr>
          <a:xfrm>
            <a:off x="564886" y="2914684"/>
            <a:ext cx="305329" cy="305327"/>
          </a:xfrm>
          <a:prstGeom prst="diamond">
            <a:avLst/>
          </a:prstGeom>
          <a:solidFill>
            <a:srgbClr val="F7F7F3"/>
          </a:solidFill>
          <a:ln w="12700">
            <a:solidFill>
              <a:srgbClr val="2F4FA2"/>
            </a:solidFill>
          </a:ln>
          <a:effectLst/>
        </p:spPr>
        <p:txBody>
          <a:bodyPr rtlCol="0" anchor="ctr"/>
          <a:lstStyle/>
          <a:p>
            <a:pPr algn="ctr"/>
          </a:p>
        </p:txBody>
      </p:sp>
      <p:sp>
        <p:nvSpPr>
          <p:cNvPr id="8" name="Oval 7"/>
          <p:cNvSpPr/>
          <p:nvPr/>
        </p:nvSpPr>
        <p:spPr>
          <a:xfrm>
            <a:off x="609600" y="3365798"/>
            <a:ext cx="254000" cy="254000"/>
          </a:xfrm>
          <a:prstGeom prst="ellipse">
            <a:avLst/>
          </a:prstGeom>
          <a:solidFill>
            <a:srgbClr val="F7F7F3"/>
          </a:solidFill>
          <a:ln w="12700">
            <a:solidFill>
              <a:srgbClr val="131417"/>
            </a:solidFill>
          </a:ln>
          <a:effectLst/>
        </p:spPr>
        <p:txBody>
          <a:bodyPr rtlCol="0" anchor="ctr"/>
          <a:lstStyle/>
          <a:p>
            <a:pPr algn="ctr"/>
          </a:p>
        </p:txBody>
      </p:sp>
      <p:sp>
        <p:nvSpPr>
          <p:cNvPr id="9" name="Oval 8"/>
          <p:cNvSpPr/>
          <p:nvPr/>
        </p:nvSpPr>
        <p:spPr>
          <a:xfrm>
            <a:off x="609600" y="3784898"/>
            <a:ext cx="254000" cy="254000"/>
          </a:xfrm>
          <a:prstGeom prst="ellipse">
            <a:avLst/>
          </a:prstGeom>
          <a:solidFill>
            <a:srgbClr val="F7F7F3"/>
          </a:solidFill>
          <a:ln w="12700">
            <a:solidFill>
              <a:srgbClr val="131417"/>
            </a:solidFill>
          </a:ln>
          <a:effectLst/>
        </p:spPr>
        <p:txBody>
          <a:bodyPr rtlCol="0" anchor="ctr"/>
          <a:lstStyle/>
          <a:p>
            <a:pPr algn="ctr"/>
          </a:p>
        </p:txBody>
      </p:sp>
      <p:sp>
        <p:nvSpPr>
          <p:cNvPr id="10" name="Oval 9"/>
          <p:cNvSpPr/>
          <p:nvPr/>
        </p:nvSpPr>
        <p:spPr>
          <a:xfrm>
            <a:off x="609600" y="4203998"/>
            <a:ext cx="254000" cy="254000"/>
          </a:xfrm>
          <a:prstGeom prst="ellipse">
            <a:avLst/>
          </a:prstGeom>
          <a:solidFill>
            <a:srgbClr val="F7F7F3"/>
          </a:solidFill>
          <a:ln w="12700">
            <a:solidFill>
              <a:srgbClr val="131417"/>
            </a:solidFill>
          </a:ln>
          <a:effectLst/>
        </p:spPr>
        <p:txBody>
          <a:bodyPr rtlCol="0" anchor="ctr"/>
          <a:lstStyle/>
          <a:p>
            <a:pPr algn="ctr"/>
          </a:p>
        </p:txBody>
      </p:sp>
      <p:sp>
        <p:nvSpPr>
          <p:cNvPr id="11" name="Oval 10"/>
          <p:cNvSpPr/>
          <p:nvPr/>
        </p:nvSpPr>
        <p:spPr>
          <a:xfrm>
            <a:off x="609600" y="4623098"/>
            <a:ext cx="254000" cy="254000"/>
          </a:xfrm>
          <a:prstGeom prst="ellipse">
            <a:avLst/>
          </a:prstGeom>
          <a:solidFill>
            <a:srgbClr val="F7F7F3"/>
          </a:solidFill>
          <a:ln w="12700">
            <a:solidFill>
              <a:srgbClr val="131417"/>
            </a:solidFill>
          </a:ln>
          <a:effectLst/>
        </p:spPr>
        <p:txBody>
          <a:bodyPr rtlCol="0" anchor="ctr"/>
          <a:lstStyle/>
          <a:p>
            <a:pPr algn="ctr"/>
          </a:p>
        </p:txBody>
      </p:sp>
      <p:sp>
        <p:nvSpPr>
          <p:cNvPr id="12" name="Rectangle 11"/>
          <p:cNvSpPr/>
          <p:nvPr/>
        </p:nvSpPr>
        <p:spPr>
          <a:xfrm>
            <a:off x="609600" y="6572250"/>
            <a:ext cx="10972800" cy="6350"/>
          </a:xfrm>
          <a:prstGeom prst="rect">
            <a:avLst/>
          </a:prstGeom>
          <a:solidFill>
            <a:srgbClr val="131417"/>
          </a:solidFill>
          <a:ln>
            <a:noFill/>
          </a:ln>
          <a:effectLst/>
        </p:spPr>
        <p:txBody>
          <a:bodyPr rtlCol="0" anchor="ctr"/>
          <a:lstStyle/>
          <a:p>
            <a:pPr algn="ctr"/>
          </a:p>
        </p:txBody>
      </p:sp>
      <p:sp>
        <p:nvSpPr>
          <p:cNvPr id="13" name="Rectangle 12"/>
          <p:cNvSpPr/>
          <p:nvPr/>
        </p:nvSpPr>
        <p:spPr>
          <a:xfrm>
            <a:off x="609600" y="6540500"/>
            <a:ext cx="6350" cy="69850"/>
          </a:xfrm>
          <a:prstGeom prst="rect">
            <a:avLst/>
          </a:prstGeom>
          <a:solidFill>
            <a:srgbClr val="131417"/>
          </a:solidFill>
          <a:ln>
            <a:noFill/>
          </a:ln>
          <a:effectLst/>
        </p:spPr>
        <p:txBody>
          <a:bodyPr rtlCol="0" anchor="ctr"/>
          <a:lstStyle/>
          <a:p>
            <a:pPr algn="ctr"/>
          </a:p>
        </p:txBody>
      </p:sp>
      <p:sp>
        <p:nvSpPr>
          <p:cNvPr id="14" name="Rectangle 13"/>
          <p:cNvSpPr/>
          <p:nvPr/>
        </p:nvSpPr>
        <p:spPr>
          <a:xfrm>
            <a:off x="1828800" y="6540500"/>
            <a:ext cx="6350" cy="69850"/>
          </a:xfrm>
          <a:prstGeom prst="rect">
            <a:avLst/>
          </a:prstGeom>
          <a:solidFill>
            <a:srgbClr val="131417"/>
          </a:solidFill>
          <a:ln>
            <a:noFill/>
          </a:ln>
          <a:effectLst/>
        </p:spPr>
        <p:txBody>
          <a:bodyPr rtlCol="0" anchor="ctr"/>
          <a:lstStyle/>
          <a:p>
            <a:pPr algn="ctr"/>
          </a:p>
        </p:txBody>
      </p:sp>
      <p:sp>
        <p:nvSpPr>
          <p:cNvPr id="15" name="Rectangle 14"/>
          <p:cNvSpPr/>
          <p:nvPr/>
        </p:nvSpPr>
        <p:spPr>
          <a:xfrm>
            <a:off x="3048000" y="6540500"/>
            <a:ext cx="6350" cy="69850"/>
          </a:xfrm>
          <a:prstGeom prst="rect">
            <a:avLst/>
          </a:prstGeom>
          <a:solidFill>
            <a:srgbClr val="131417"/>
          </a:solidFill>
          <a:ln>
            <a:noFill/>
          </a:ln>
          <a:effectLst/>
        </p:spPr>
        <p:txBody>
          <a:bodyPr rtlCol="0" anchor="ctr"/>
          <a:lstStyle/>
          <a:p>
            <a:pPr algn="ctr"/>
          </a:p>
        </p:txBody>
      </p:sp>
      <p:sp>
        <p:nvSpPr>
          <p:cNvPr id="16" name="Rectangle 15"/>
          <p:cNvSpPr/>
          <p:nvPr/>
        </p:nvSpPr>
        <p:spPr>
          <a:xfrm>
            <a:off x="4267101" y="6540500"/>
            <a:ext cx="6350" cy="69850"/>
          </a:xfrm>
          <a:prstGeom prst="rect">
            <a:avLst/>
          </a:prstGeom>
          <a:solidFill>
            <a:srgbClr val="131417"/>
          </a:solidFill>
          <a:ln>
            <a:noFill/>
          </a:ln>
          <a:effectLst/>
        </p:spPr>
        <p:txBody>
          <a:bodyPr rtlCol="0" anchor="ctr"/>
          <a:lstStyle/>
          <a:p>
            <a:pPr algn="ctr"/>
          </a:p>
        </p:txBody>
      </p:sp>
      <p:sp>
        <p:nvSpPr>
          <p:cNvPr id="17" name="Rectangle 16"/>
          <p:cNvSpPr/>
          <p:nvPr/>
        </p:nvSpPr>
        <p:spPr>
          <a:xfrm>
            <a:off x="5486400" y="6540500"/>
            <a:ext cx="6350" cy="69850"/>
          </a:xfrm>
          <a:prstGeom prst="rect">
            <a:avLst/>
          </a:prstGeom>
          <a:solidFill>
            <a:srgbClr val="131417"/>
          </a:solidFill>
          <a:ln>
            <a:noFill/>
          </a:ln>
          <a:effectLst/>
        </p:spPr>
        <p:txBody>
          <a:bodyPr rtlCol="0" anchor="ctr"/>
          <a:lstStyle/>
          <a:p>
            <a:pPr algn="ctr"/>
          </a:p>
        </p:txBody>
      </p:sp>
      <p:sp>
        <p:nvSpPr>
          <p:cNvPr id="18" name="Rectangle 17"/>
          <p:cNvSpPr/>
          <p:nvPr/>
        </p:nvSpPr>
        <p:spPr>
          <a:xfrm>
            <a:off x="6705600" y="6540500"/>
            <a:ext cx="6350" cy="69850"/>
          </a:xfrm>
          <a:prstGeom prst="rect">
            <a:avLst/>
          </a:prstGeom>
          <a:solidFill>
            <a:srgbClr val="131417"/>
          </a:solidFill>
          <a:ln>
            <a:noFill/>
          </a:ln>
          <a:effectLst/>
        </p:spPr>
        <p:txBody>
          <a:bodyPr rtlCol="0" anchor="ctr"/>
          <a:lstStyle/>
          <a:p>
            <a:pPr algn="ctr"/>
          </a:p>
        </p:txBody>
      </p:sp>
      <p:sp>
        <p:nvSpPr>
          <p:cNvPr id="19" name="Rectangle 18"/>
          <p:cNvSpPr/>
          <p:nvPr/>
        </p:nvSpPr>
        <p:spPr>
          <a:xfrm>
            <a:off x="7924701" y="6540500"/>
            <a:ext cx="6350" cy="69850"/>
          </a:xfrm>
          <a:prstGeom prst="rect">
            <a:avLst/>
          </a:prstGeom>
          <a:solidFill>
            <a:srgbClr val="131417"/>
          </a:solidFill>
          <a:ln>
            <a:noFill/>
          </a:ln>
          <a:effectLst/>
        </p:spPr>
        <p:txBody>
          <a:bodyPr rtlCol="0" anchor="ctr"/>
          <a:lstStyle/>
          <a:p>
            <a:pPr algn="ctr"/>
          </a:p>
        </p:txBody>
      </p:sp>
      <p:sp>
        <p:nvSpPr>
          <p:cNvPr id="20" name="Rectangle 19"/>
          <p:cNvSpPr/>
          <p:nvPr/>
        </p:nvSpPr>
        <p:spPr>
          <a:xfrm>
            <a:off x="9144000" y="6540500"/>
            <a:ext cx="6350" cy="69850"/>
          </a:xfrm>
          <a:prstGeom prst="rect">
            <a:avLst/>
          </a:prstGeom>
          <a:solidFill>
            <a:srgbClr val="131417"/>
          </a:solidFill>
          <a:ln>
            <a:noFill/>
          </a:ln>
          <a:effectLst/>
        </p:spPr>
        <p:txBody>
          <a:bodyPr rtlCol="0" anchor="ctr"/>
          <a:lstStyle/>
          <a:p>
            <a:pPr algn="ctr"/>
          </a:p>
        </p:txBody>
      </p:sp>
      <p:sp>
        <p:nvSpPr>
          <p:cNvPr id="21" name="Rectangle 20"/>
          <p:cNvSpPr/>
          <p:nvPr/>
        </p:nvSpPr>
        <p:spPr>
          <a:xfrm>
            <a:off x="10363200" y="6540500"/>
            <a:ext cx="6350" cy="69850"/>
          </a:xfrm>
          <a:prstGeom prst="rect">
            <a:avLst/>
          </a:prstGeom>
          <a:solidFill>
            <a:srgbClr val="131417"/>
          </a:solidFill>
          <a:ln>
            <a:noFill/>
          </a:ln>
          <a:effectLst/>
        </p:spPr>
        <p:txBody>
          <a:bodyPr rtlCol="0" anchor="ctr"/>
          <a:lstStyle/>
          <a:p>
            <a:pPr algn="ctr"/>
          </a:p>
        </p:txBody>
      </p:sp>
      <p:sp>
        <p:nvSpPr>
          <p:cNvPr id="22" name="Rectangle 21"/>
          <p:cNvSpPr/>
          <p:nvPr/>
        </p:nvSpPr>
        <p:spPr>
          <a:xfrm>
            <a:off x="11582400" y="6540500"/>
            <a:ext cx="6350" cy="69850"/>
          </a:xfrm>
          <a:prstGeom prst="rect">
            <a:avLst/>
          </a:prstGeom>
          <a:solidFill>
            <a:srgbClr val="131417"/>
          </a:solidFill>
          <a:ln>
            <a:noFill/>
          </a:ln>
          <a:effectLst/>
        </p:spPr>
        <p:txBody>
          <a:bodyPr rtlCol="0" anchor="ctr"/>
          <a:lstStyle/>
          <a:p>
            <a:pPr algn="ctr"/>
          </a:p>
        </p:txBody>
      </p:sp>
      <p:sp>
        <p:nvSpPr>
          <p:cNvPr id="23" name="Diamond 22"/>
          <p:cNvSpPr/>
          <p:nvPr/>
        </p:nvSpPr>
        <p:spPr>
          <a:xfrm>
            <a:off x="5454650" y="6546850"/>
            <a:ext cx="63500" cy="63500"/>
          </a:xfrm>
          <a:prstGeom prst="diamond">
            <a:avLst/>
          </a:prstGeom>
          <a:solidFill>
            <a:srgbClr val="D93A1F"/>
          </a:solidFill>
          <a:ln>
            <a:noFill/>
          </a:ln>
          <a:effectLst/>
        </p:spPr>
        <p:txBody>
          <a:bodyPr rtlCol="0" anchor="ctr"/>
          <a:lstStyle/>
          <a:p>
            <a:pPr algn="ctr"/>
          </a:p>
        </p:txBody>
      </p:sp>
      <p:cxnSp>
        <p:nvCxnSpPr>
          <p:cNvPr id="24" name="Connector 23"/>
          <p:cNvCxnSpPr/>
          <p:nvPr/>
        </p:nvCxnSpPr>
        <p:spPr>
          <a:xfrm>
            <a:off x="609600" y="412750"/>
            <a:ext cx="10972800" cy="0"/>
          </a:xfrm>
          <a:prstGeom prst="line">
            <a:avLst/>
          </a:prstGeom>
          <a:ln w="12700">
            <a:solidFill>
              <a:srgbClr val="131417"/>
            </a:solidFill>
          </a:ln>
          <a:effectLst/>
        </p:spPr>
      </p:cxnSp>
      <p:cxnSp>
        <p:nvCxnSpPr>
          <p:cNvPr id="25" name="Connector 24"/>
          <p:cNvCxnSpPr/>
          <p:nvPr/>
        </p:nvCxnSpPr>
        <p:spPr>
          <a:xfrm>
            <a:off x="609600" y="1194098"/>
            <a:ext cx="10972800" cy="0"/>
          </a:xfrm>
          <a:prstGeom prst="line">
            <a:avLst/>
          </a:prstGeom>
          <a:ln w="19050">
            <a:solidFill>
              <a:srgbClr val="131417"/>
            </a:solidFill>
          </a:ln>
          <a:effectLst/>
        </p:spPr>
      </p:cxnSp>
      <p:cxnSp>
        <p:nvCxnSpPr>
          <p:cNvPr id="26" name="Connector 25"/>
          <p:cNvCxnSpPr/>
          <p:nvPr/>
        </p:nvCxnSpPr>
        <p:spPr>
          <a:xfrm>
            <a:off x="609600" y="1619548"/>
            <a:ext cx="10972800" cy="0"/>
          </a:xfrm>
          <a:prstGeom prst="line">
            <a:avLst/>
          </a:prstGeom>
          <a:ln w="6350">
            <a:solidFill>
              <a:srgbClr val="E4E4DD"/>
            </a:solidFill>
          </a:ln>
          <a:effectLst/>
        </p:spPr>
      </p:cxnSp>
      <p:cxnSp>
        <p:nvCxnSpPr>
          <p:cNvPr id="27" name="Connector 26"/>
          <p:cNvCxnSpPr/>
          <p:nvPr/>
        </p:nvCxnSpPr>
        <p:spPr>
          <a:xfrm>
            <a:off x="609600" y="2038648"/>
            <a:ext cx="10972800" cy="0"/>
          </a:xfrm>
          <a:prstGeom prst="line">
            <a:avLst/>
          </a:prstGeom>
          <a:ln w="6350">
            <a:solidFill>
              <a:srgbClr val="E4E4DD"/>
            </a:solidFill>
          </a:ln>
          <a:effectLst/>
        </p:spPr>
      </p:cxnSp>
      <p:cxnSp>
        <p:nvCxnSpPr>
          <p:cNvPr id="28" name="Connector 27"/>
          <p:cNvCxnSpPr/>
          <p:nvPr/>
        </p:nvCxnSpPr>
        <p:spPr>
          <a:xfrm>
            <a:off x="609600" y="2457748"/>
            <a:ext cx="10972800" cy="0"/>
          </a:xfrm>
          <a:prstGeom prst="line">
            <a:avLst/>
          </a:prstGeom>
          <a:ln w="6350">
            <a:solidFill>
              <a:srgbClr val="E4E4DD"/>
            </a:solidFill>
          </a:ln>
          <a:effectLst/>
        </p:spPr>
      </p:cxnSp>
      <p:cxnSp>
        <p:nvCxnSpPr>
          <p:cNvPr id="29" name="Connector 28"/>
          <p:cNvCxnSpPr/>
          <p:nvPr/>
        </p:nvCxnSpPr>
        <p:spPr>
          <a:xfrm>
            <a:off x="609600" y="2876848"/>
            <a:ext cx="10972800" cy="0"/>
          </a:xfrm>
          <a:prstGeom prst="line">
            <a:avLst/>
          </a:prstGeom>
          <a:ln w="6350">
            <a:solidFill>
              <a:srgbClr val="E4E4DD"/>
            </a:solidFill>
          </a:ln>
          <a:effectLst/>
        </p:spPr>
      </p:cxnSp>
      <p:cxnSp>
        <p:nvCxnSpPr>
          <p:cNvPr id="30" name="Connector 29"/>
          <p:cNvCxnSpPr/>
          <p:nvPr/>
        </p:nvCxnSpPr>
        <p:spPr>
          <a:xfrm>
            <a:off x="609600" y="3283248"/>
            <a:ext cx="10972800" cy="0"/>
          </a:xfrm>
          <a:prstGeom prst="line">
            <a:avLst/>
          </a:prstGeom>
          <a:ln w="6350">
            <a:solidFill>
              <a:srgbClr val="E4E4DD"/>
            </a:solidFill>
          </a:ln>
          <a:effectLst/>
        </p:spPr>
      </p:cxnSp>
      <p:cxnSp>
        <p:nvCxnSpPr>
          <p:cNvPr id="31" name="Connector 30"/>
          <p:cNvCxnSpPr/>
          <p:nvPr/>
        </p:nvCxnSpPr>
        <p:spPr>
          <a:xfrm>
            <a:off x="609600" y="3702348"/>
            <a:ext cx="10972800" cy="0"/>
          </a:xfrm>
          <a:prstGeom prst="line">
            <a:avLst/>
          </a:prstGeom>
          <a:ln w="6350">
            <a:solidFill>
              <a:srgbClr val="E4E4DD"/>
            </a:solidFill>
          </a:ln>
          <a:effectLst/>
        </p:spPr>
      </p:cxnSp>
      <p:cxnSp>
        <p:nvCxnSpPr>
          <p:cNvPr id="32" name="Connector 31"/>
          <p:cNvCxnSpPr/>
          <p:nvPr/>
        </p:nvCxnSpPr>
        <p:spPr>
          <a:xfrm>
            <a:off x="609600" y="4121448"/>
            <a:ext cx="10972800" cy="0"/>
          </a:xfrm>
          <a:prstGeom prst="line">
            <a:avLst/>
          </a:prstGeom>
          <a:ln w="6350">
            <a:solidFill>
              <a:srgbClr val="E4E4DD"/>
            </a:solidFill>
          </a:ln>
          <a:effectLst/>
        </p:spPr>
      </p:cxnSp>
      <p:cxnSp>
        <p:nvCxnSpPr>
          <p:cNvPr id="33" name="Connector 32"/>
          <p:cNvCxnSpPr/>
          <p:nvPr/>
        </p:nvCxnSpPr>
        <p:spPr>
          <a:xfrm>
            <a:off x="609600" y="4540548"/>
            <a:ext cx="10972800" cy="0"/>
          </a:xfrm>
          <a:prstGeom prst="line">
            <a:avLst/>
          </a:prstGeom>
          <a:ln w="6350">
            <a:solidFill>
              <a:srgbClr val="E4E4DD"/>
            </a:solidFill>
          </a:ln>
          <a:effectLst/>
        </p:spPr>
      </p:cxnSp>
      <p:cxnSp>
        <p:nvCxnSpPr>
          <p:cNvPr id="34" name="Connector 33"/>
          <p:cNvCxnSpPr/>
          <p:nvPr/>
        </p:nvCxnSpPr>
        <p:spPr>
          <a:xfrm>
            <a:off x="609600" y="4959648"/>
            <a:ext cx="10972800" cy="0"/>
          </a:xfrm>
          <a:prstGeom prst="line">
            <a:avLst/>
          </a:prstGeom>
          <a:ln w="6350">
            <a:solidFill>
              <a:srgbClr val="E4E4DD"/>
            </a:solidFill>
          </a:ln>
          <a:effectLst/>
        </p:spPr>
      </p:cxnSp>
      <p:sp>
        <p:nvSpPr>
          <p:cNvPr id="35" name="TextBox 34"/>
          <p:cNvSpPr txBox="1"/>
          <p:nvPr/>
        </p:nvSpPr>
        <p:spPr>
          <a:xfrm>
            <a:off x="596900" y="787400"/>
            <a:ext cx="599777" cy="158750"/>
          </a:xfrm>
          <a:prstGeom prst="rect">
            <a:avLst/>
          </a:prstGeom>
          <a:noFill/>
        </p:spPr>
        <p:txBody>
          <a:bodyPr wrap="none" lIns="0" rIns="0" tIns="0" bIns="0">
            <a:noAutofit/>
          </a:bodyPr>
          <a:lstStyle/>
          <a:p>
            <a:pPr>
              <a:spcBef>
                <a:spcPts val="0"/>
              </a:spcBef>
              <a:spcAft>
                <a:spcPts val="0"/>
              </a:spcAft>
            </a:pPr>
            <a:r>
              <a:rPr sz="950" b="1" spc="76">
                <a:solidFill>
                  <a:srgbClr val="D93A1F"/>
                </a:solidFill>
                <a:latin typeface="Spline Sans Mono"/>
              </a:rPr>
              <a:t>FIG. 04</a:t>
            </a:r>
          </a:p>
        </p:txBody>
      </p:sp>
      <p:sp>
        <p:nvSpPr>
          <p:cNvPr id="36" name="TextBox 35"/>
          <p:cNvSpPr txBox="1"/>
          <p:nvPr/>
        </p:nvSpPr>
        <p:spPr>
          <a:xfrm>
            <a:off x="1349077" y="539750"/>
            <a:ext cx="2344738" cy="441623"/>
          </a:xfrm>
          <a:prstGeom prst="rect">
            <a:avLst/>
          </a:prstGeom>
          <a:noFill/>
        </p:spPr>
        <p:txBody>
          <a:bodyPr wrap="none" lIns="0" rIns="0" tIns="0" bIns="0">
            <a:noAutofit/>
          </a:bodyPr>
          <a:lstStyle/>
          <a:p>
            <a:pPr>
              <a:lnSpc>
                <a:spcPts val="3328"/>
              </a:lnSpc>
              <a:spcBef>
                <a:spcPts val="0"/>
              </a:spcBef>
              <a:spcAft>
                <a:spcPts val="0"/>
              </a:spcAft>
            </a:pPr>
            <a:r>
              <a:rPr sz="3200" b="0">
                <a:solidFill>
                  <a:srgbClr val="131417"/>
                </a:solidFill>
                <a:latin typeface="Gloock"/>
              </a:rPr>
              <a:t>The Method</a:t>
            </a:r>
          </a:p>
        </p:txBody>
      </p:sp>
      <p:sp>
        <p:nvSpPr>
          <p:cNvPr id="37" name="TextBox 36"/>
          <p:cNvSpPr txBox="1"/>
          <p:nvPr/>
        </p:nvSpPr>
        <p:spPr>
          <a:xfrm>
            <a:off x="9116020" y="806450"/>
            <a:ext cx="2479080" cy="139700"/>
          </a:xfrm>
          <a:prstGeom prst="rect">
            <a:avLst/>
          </a:prstGeom>
          <a:noFill/>
        </p:spPr>
        <p:txBody>
          <a:bodyPr wrap="none" lIns="0" rIns="0" tIns="0" bIns="0">
            <a:noAutofit/>
          </a:bodyPr>
          <a:lstStyle/>
          <a:p>
            <a:pPr>
              <a:spcBef>
                <a:spcPts val="0"/>
              </a:spcBef>
              <a:spcAft>
                <a:spcPts val="0"/>
              </a:spcAft>
            </a:pPr>
            <a:r>
              <a:rPr sz="800" b="0" spc="72">
                <a:solidFill>
                  <a:srgbClr val="84867E"/>
                </a:solidFill>
                <a:latin typeface="Spline Sans Mono"/>
              </a:rPr>
              <a:t>SCHEDULE A · EIGHT STEPS · ONE GATE</a:t>
            </a:r>
          </a:p>
        </p:txBody>
      </p:sp>
      <p:sp>
        <p:nvSpPr>
          <p:cNvPr id="38" name="TextBox 37"/>
          <p:cNvSpPr txBox="1"/>
          <p:nvPr/>
        </p:nvSpPr>
        <p:spPr>
          <a:xfrm>
            <a:off x="666750" y="1346498"/>
            <a:ext cx="139700" cy="133350"/>
          </a:xfrm>
          <a:prstGeom prst="rect">
            <a:avLst/>
          </a:prstGeom>
          <a:noFill/>
        </p:spPr>
        <p:txBody>
          <a:bodyPr wrap="none" lIns="0" rIns="0" tIns="0" bIns="0">
            <a:noAutofit/>
          </a:bodyPr>
          <a:lstStyle/>
          <a:p>
            <a:pPr>
              <a:spcBef>
                <a:spcPts val="0"/>
              </a:spcBef>
              <a:spcAft>
                <a:spcPts val="0"/>
              </a:spcAft>
            </a:pPr>
            <a:r>
              <a:rPr sz="750" b="0">
                <a:solidFill>
                  <a:srgbClr val="131417"/>
                </a:solidFill>
                <a:latin typeface="Spline Sans Mono"/>
              </a:rPr>
              <a:t>01</a:t>
            </a:r>
          </a:p>
        </p:txBody>
      </p:sp>
      <p:sp>
        <p:nvSpPr>
          <p:cNvPr id="39" name="TextBox 38"/>
          <p:cNvSpPr txBox="1"/>
          <p:nvPr/>
        </p:nvSpPr>
        <p:spPr>
          <a:xfrm>
            <a:off x="1219200" y="1352848"/>
            <a:ext cx="850900" cy="120650"/>
          </a:xfrm>
          <a:prstGeom prst="rect">
            <a:avLst/>
          </a:prstGeom>
          <a:noFill/>
        </p:spPr>
        <p:txBody>
          <a:bodyPr wrap="none" lIns="0" rIns="0" tIns="0" bIns="0">
            <a:noAutofit/>
          </a:bodyPr>
          <a:lstStyle/>
          <a:p>
            <a:pPr>
              <a:spcBef>
                <a:spcPts val="0"/>
              </a:spcBef>
              <a:spcAft>
                <a:spcPts val="0"/>
              </a:spcAft>
            </a:pPr>
            <a:r>
              <a:rPr sz="650" b="0" spc="78">
                <a:solidFill>
                  <a:srgbClr val="84867E"/>
                </a:solidFill>
                <a:latin typeface="Spline Sans Mono"/>
              </a:rPr>
              <a:t>DIAGNOSE</a:t>
            </a:r>
          </a:p>
        </p:txBody>
      </p:sp>
      <p:sp>
        <p:nvSpPr>
          <p:cNvPr id="40" name="TextBox 39"/>
          <p:cNvSpPr txBox="1"/>
          <p:nvPr/>
        </p:nvSpPr>
        <p:spPr>
          <a:xfrm>
            <a:off x="2222500" y="1302048"/>
            <a:ext cx="1930400" cy="222250"/>
          </a:xfrm>
          <a:prstGeom prst="rect">
            <a:avLst/>
          </a:prstGeom>
          <a:noFill/>
        </p:spPr>
        <p:txBody>
          <a:bodyPr wrap="none" lIns="0" rIns="0" tIns="0" bIns="0">
            <a:noAutofit/>
          </a:bodyPr>
          <a:lstStyle/>
          <a:p>
            <a:pPr>
              <a:spcBef>
                <a:spcPts val="0"/>
              </a:spcBef>
              <a:spcAft>
                <a:spcPts val="0"/>
              </a:spcAft>
            </a:pPr>
            <a:r>
              <a:rPr sz="1300" b="1">
                <a:solidFill>
                  <a:srgbClr val="131417"/>
                </a:solidFill>
                <a:latin typeface="Schibsted Grotesk"/>
              </a:rPr>
              <a:t>Understand</a:t>
            </a:r>
          </a:p>
        </p:txBody>
      </p:sp>
      <p:sp>
        <p:nvSpPr>
          <p:cNvPr id="41" name="TextBox 40"/>
          <p:cNvSpPr txBox="1"/>
          <p:nvPr/>
        </p:nvSpPr>
        <p:spPr>
          <a:xfrm>
            <a:off x="4305300" y="1324273"/>
            <a:ext cx="4699000" cy="177800"/>
          </a:xfrm>
          <a:prstGeom prst="rect">
            <a:avLst/>
          </a:prstGeom>
          <a:noFill/>
        </p:spPr>
        <p:txBody>
          <a:bodyPr wrap="none" lIns="0" rIns="0" tIns="0" bIns="0">
            <a:noAutofit/>
          </a:bodyPr>
          <a:lstStyle/>
          <a:p>
            <a:pPr>
              <a:spcBef>
                <a:spcPts val="0"/>
              </a:spcBef>
              <a:spcAft>
                <a:spcPts val="0"/>
              </a:spcAft>
            </a:pPr>
            <a:r>
              <a:rPr sz="1000" b="0">
                <a:solidFill>
                  <a:srgbClr val="131417"/>
                </a:solidFill>
                <a:latin typeface="Schibsted Grotesk"/>
              </a:rPr>
              <a:t>What is the company trying to accomplish?</a:t>
            </a:r>
          </a:p>
        </p:txBody>
      </p:sp>
      <p:sp>
        <p:nvSpPr>
          <p:cNvPr id="42" name="TextBox 41"/>
          <p:cNvSpPr txBox="1"/>
          <p:nvPr/>
        </p:nvSpPr>
        <p:spPr>
          <a:xfrm>
            <a:off x="9156700" y="1352848"/>
            <a:ext cx="2438400" cy="120650"/>
          </a:xfrm>
          <a:prstGeom prst="rect">
            <a:avLst/>
          </a:prstGeom>
          <a:noFill/>
        </p:spPr>
        <p:txBody>
          <a:bodyPr wrap="none" lIns="0" rIns="0" tIns="0" bIns="0">
            <a:noAutofit/>
          </a:bodyPr>
          <a:lstStyle/>
          <a:p>
            <a:pPr>
              <a:spcBef>
                <a:spcPts val="0"/>
              </a:spcBef>
              <a:spcAft>
                <a:spcPts val="0"/>
              </a:spcAft>
            </a:pPr>
            <a:r>
              <a:rPr sz="700" b="0" spc="49">
                <a:solidFill>
                  <a:srgbClr val="9C6F22"/>
                </a:solidFill>
                <a:latin typeface="Spline Sans Mono"/>
              </a:rPr>
              <a:t>OUTPUT: LEADERSHIP INTENT</a:t>
            </a:r>
          </a:p>
        </p:txBody>
      </p:sp>
      <p:sp>
        <p:nvSpPr>
          <p:cNvPr id="43" name="TextBox 42"/>
          <p:cNvSpPr txBox="1"/>
          <p:nvPr/>
        </p:nvSpPr>
        <p:spPr>
          <a:xfrm>
            <a:off x="666750" y="1765598"/>
            <a:ext cx="139700" cy="133350"/>
          </a:xfrm>
          <a:prstGeom prst="rect">
            <a:avLst/>
          </a:prstGeom>
          <a:noFill/>
        </p:spPr>
        <p:txBody>
          <a:bodyPr wrap="none" lIns="0" rIns="0" tIns="0" bIns="0">
            <a:noAutofit/>
          </a:bodyPr>
          <a:lstStyle/>
          <a:p>
            <a:pPr>
              <a:spcBef>
                <a:spcPts val="0"/>
              </a:spcBef>
              <a:spcAft>
                <a:spcPts val="0"/>
              </a:spcAft>
            </a:pPr>
            <a:r>
              <a:rPr sz="750" b="0">
                <a:solidFill>
                  <a:srgbClr val="131417"/>
                </a:solidFill>
                <a:latin typeface="Spline Sans Mono"/>
              </a:rPr>
              <a:t>02</a:t>
            </a:r>
          </a:p>
        </p:txBody>
      </p:sp>
      <p:sp>
        <p:nvSpPr>
          <p:cNvPr id="44" name="TextBox 43"/>
          <p:cNvSpPr txBox="1"/>
          <p:nvPr/>
        </p:nvSpPr>
        <p:spPr>
          <a:xfrm>
            <a:off x="1219200" y="1771948"/>
            <a:ext cx="850900" cy="120650"/>
          </a:xfrm>
          <a:prstGeom prst="rect">
            <a:avLst/>
          </a:prstGeom>
          <a:noFill/>
        </p:spPr>
        <p:txBody>
          <a:bodyPr wrap="none" lIns="0" rIns="0" tIns="0" bIns="0">
            <a:noAutofit/>
          </a:bodyPr>
          <a:lstStyle/>
          <a:p>
            <a:pPr>
              <a:spcBef>
                <a:spcPts val="0"/>
              </a:spcBef>
              <a:spcAft>
                <a:spcPts val="0"/>
              </a:spcAft>
            </a:pPr>
            <a:r>
              <a:rPr sz="650" b="0" spc="78">
                <a:solidFill>
                  <a:srgbClr val="84867E"/>
                </a:solidFill>
                <a:latin typeface="Spline Sans Mono"/>
              </a:rPr>
              <a:t>DIAGNOSE</a:t>
            </a:r>
          </a:p>
        </p:txBody>
      </p:sp>
      <p:sp>
        <p:nvSpPr>
          <p:cNvPr id="45" name="TextBox 44"/>
          <p:cNvSpPr txBox="1"/>
          <p:nvPr/>
        </p:nvSpPr>
        <p:spPr>
          <a:xfrm>
            <a:off x="2222500" y="1721148"/>
            <a:ext cx="1930400" cy="222250"/>
          </a:xfrm>
          <a:prstGeom prst="rect">
            <a:avLst/>
          </a:prstGeom>
          <a:noFill/>
        </p:spPr>
        <p:txBody>
          <a:bodyPr wrap="none" lIns="0" rIns="0" tIns="0" bIns="0">
            <a:noAutofit/>
          </a:bodyPr>
          <a:lstStyle/>
          <a:p>
            <a:pPr>
              <a:spcBef>
                <a:spcPts val="0"/>
              </a:spcBef>
              <a:spcAft>
                <a:spcPts val="0"/>
              </a:spcAft>
            </a:pPr>
            <a:r>
              <a:rPr sz="1300" b="1">
                <a:solidFill>
                  <a:srgbClr val="131417"/>
                </a:solidFill>
                <a:latin typeface="Schibsted Grotesk"/>
              </a:rPr>
              <a:t>Diagnose</a:t>
            </a:r>
          </a:p>
        </p:txBody>
      </p:sp>
      <p:sp>
        <p:nvSpPr>
          <p:cNvPr id="46" name="TextBox 45"/>
          <p:cNvSpPr txBox="1"/>
          <p:nvPr/>
        </p:nvSpPr>
        <p:spPr>
          <a:xfrm>
            <a:off x="4305300" y="1743373"/>
            <a:ext cx="4699000" cy="177800"/>
          </a:xfrm>
          <a:prstGeom prst="rect">
            <a:avLst/>
          </a:prstGeom>
          <a:noFill/>
        </p:spPr>
        <p:txBody>
          <a:bodyPr wrap="none" lIns="0" rIns="0" tIns="0" bIns="0">
            <a:noAutofit/>
          </a:bodyPr>
          <a:lstStyle/>
          <a:p>
            <a:pPr>
              <a:spcBef>
                <a:spcPts val="0"/>
              </a:spcBef>
              <a:spcAft>
                <a:spcPts val="0"/>
              </a:spcAft>
            </a:pPr>
            <a:r>
              <a:rPr sz="1000" b="0">
                <a:solidFill>
                  <a:srgbClr val="131417"/>
                </a:solidFill>
                <a:latin typeface="Schibsted Grotesk"/>
              </a:rPr>
              <a:t>How does the business actually operate today?</a:t>
            </a:r>
          </a:p>
        </p:txBody>
      </p:sp>
      <p:sp>
        <p:nvSpPr>
          <p:cNvPr id="47" name="TextBox 46"/>
          <p:cNvSpPr txBox="1"/>
          <p:nvPr/>
        </p:nvSpPr>
        <p:spPr>
          <a:xfrm>
            <a:off x="9156700" y="1771948"/>
            <a:ext cx="2438400" cy="120650"/>
          </a:xfrm>
          <a:prstGeom prst="rect">
            <a:avLst/>
          </a:prstGeom>
          <a:noFill/>
        </p:spPr>
        <p:txBody>
          <a:bodyPr wrap="none" lIns="0" rIns="0" tIns="0" bIns="0">
            <a:noAutofit/>
          </a:bodyPr>
          <a:lstStyle/>
          <a:p>
            <a:pPr>
              <a:spcBef>
                <a:spcPts val="0"/>
              </a:spcBef>
              <a:spcAft>
                <a:spcPts val="0"/>
              </a:spcAft>
            </a:pPr>
            <a:r>
              <a:rPr sz="700" b="0" spc="49">
                <a:solidFill>
                  <a:srgbClr val="9C6F22"/>
                </a:solidFill>
                <a:latin typeface="Spline Sans Mono"/>
              </a:rPr>
              <a:t>OUTPUT: THE CURRENT STATE</a:t>
            </a:r>
          </a:p>
        </p:txBody>
      </p:sp>
      <p:sp>
        <p:nvSpPr>
          <p:cNvPr id="48" name="TextBox 47"/>
          <p:cNvSpPr txBox="1"/>
          <p:nvPr/>
        </p:nvSpPr>
        <p:spPr>
          <a:xfrm>
            <a:off x="666750" y="2184698"/>
            <a:ext cx="139700" cy="133350"/>
          </a:xfrm>
          <a:prstGeom prst="rect">
            <a:avLst/>
          </a:prstGeom>
          <a:noFill/>
        </p:spPr>
        <p:txBody>
          <a:bodyPr wrap="none" lIns="0" rIns="0" tIns="0" bIns="0">
            <a:noAutofit/>
          </a:bodyPr>
          <a:lstStyle/>
          <a:p>
            <a:pPr>
              <a:spcBef>
                <a:spcPts val="0"/>
              </a:spcBef>
              <a:spcAft>
                <a:spcPts val="0"/>
              </a:spcAft>
            </a:pPr>
            <a:r>
              <a:rPr sz="750" b="0">
                <a:solidFill>
                  <a:srgbClr val="131417"/>
                </a:solidFill>
                <a:latin typeface="Spline Sans Mono"/>
              </a:rPr>
              <a:t>03</a:t>
            </a:r>
          </a:p>
        </p:txBody>
      </p:sp>
      <p:sp>
        <p:nvSpPr>
          <p:cNvPr id="49" name="TextBox 48"/>
          <p:cNvSpPr txBox="1"/>
          <p:nvPr/>
        </p:nvSpPr>
        <p:spPr>
          <a:xfrm>
            <a:off x="1219200" y="2191048"/>
            <a:ext cx="850900" cy="120650"/>
          </a:xfrm>
          <a:prstGeom prst="rect">
            <a:avLst/>
          </a:prstGeom>
          <a:noFill/>
        </p:spPr>
        <p:txBody>
          <a:bodyPr wrap="none" lIns="0" rIns="0" tIns="0" bIns="0">
            <a:noAutofit/>
          </a:bodyPr>
          <a:lstStyle/>
          <a:p>
            <a:pPr>
              <a:spcBef>
                <a:spcPts val="0"/>
              </a:spcBef>
              <a:spcAft>
                <a:spcPts val="0"/>
              </a:spcAft>
            </a:pPr>
            <a:r>
              <a:rPr sz="650" b="0" spc="78">
                <a:solidFill>
                  <a:srgbClr val="84867E"/>
                </a:solidFill>
                <a:latin typeface="Spline Sans Mono"/>
              </a:rPr>
              <a:t>DIAGNOSE</a:t>
            </a:r>
          </a:p>
        </p:txBody>
      </p:sp>
      <p:sp>
        <p:nvSpPr>
          <p:cNvPr id="50" name="TextBox 49"/>
          <p:cNvSpPr txBox="1"/>
          <p:nvPr/>
        </p:nvSpPr>
        <p:spPr>
          <a:xfrm>
            <a:off x="2222500" y="2140248"/>
            <a:ext cx="1930400" cy="222250"/>
          </a:xfrm>
          <a:prstGeom prst="rect">
            <a:avLst/>
          </a:prstGeom>
          <a:noFill/>
        </p:spPr>
        <p:txBody>
          <a:bodyPr wrap="none" lIns="0" rIns="0" tIns="0" bIns="0">
            <a:noAutofit/>
          </a:bodyPr>
          <a:lstStyle/>
          <a:p>
            <a:pPr>
              <a:spcBef>
                <a:spcPts val="0"/>
              </a:spcBef>
              <a:spcAft>
                <a:spcPts val="0"/>
              </a:spcAft>
            </a:pPr>
            <a:r>
              <a:rPr sz="1300" b="1">
                <a:solidFill>
                  <a:srgbClr val="131417"/>
                </a:solidFill>
                <a:latin typeface="Schibsted Grotesk"/>
              </a:rPr>
              <a:t>Map</a:t>
            </a:r>
          </a:p>
        </p:txBody>
      </p:sp>
      <p:sp>
        <p:nvSpPr>
          <p:cNvPr id="51" name="TextBox 50"/>
          <p:cNvSpPr txBox="1"/>
          <p:nvPr/>
        </p:nvSpPr>
        <p:spPr>
          <a:xfrm>
            <a:off x="4305300" y="2162473"/>
            <a:ext cx="4699000" cy="177800"/>
          </a:xfrm>
          <a:prstGeom prst="rect">
            <a:avLst/>
          </a:prstGeom>
          <a:noFill/>
        </p:spPr>
        <p:txBody>
          <a:bodyPr wrap="none" lIns="0" rIns="0" tIns="0" bIns="0">
            <a:noAutofit/>
          </a:bodyPr>
          <a:lstStyle/>
          <a:p>
            <a:pPr>
              <a:spcBef>
                <a:spcPts val="0"/>
              </a:spcBef>
              <a:spcAft>
                <a:spcPts val="0"/>
              </a:spcAft>
            </a:pPr>
            <a:r>
              <a:rPr sz="1000" b="0">
                <a:solidFill>
                  <a:srgbClr val="131417"/>
                </a:solidFill>
                <a:latin typeface="Schibsted Grotesk"/>
              </a:rPr>
              <a:t>People, workflows, systems, ownership, information, handoffs.</a:t>
            </a:r>
          </a:p>
        </p:txBody>
      </p:sp>
      <p:sp>
        <p:nvSpPr>
          <p:cNvPr id="52" name="TextBox 51"/>
          <p:cNvSpPr txBox="1"/>
          <p:nvPr/>
        </p:nvSpPr>
        <p:spPr>
          <a:xfrm>
            <a:off x="9156700" y="2191048"/>
            <a:ext cx="2438400" cy="120650"/>
          </a:xfrm>
          <a:prstGeom prst="rect">
            <a:avLst/>
          </a:prstGeom>
          <a:noFill/>
        </p:spPr>
        <p:txBody>
          <a:bodyPr wrap="none" lIns="0" rIns="0" tIns="0" bIns="0">
            <a:noAutofit/>
          </a:bodyPr>
          <a:lstStyle/>
          <a:p>
            <a:pPr>
              <a:spcBef>
                <a:spcPts val="0"/>
              </a:spcBef>
              <a:spcAft>
                <a:spcPts val="0"/>
              </a:spcAft>
            </a:pPr>
            <a:r>
              <a:rPr sz="700" b="0" spc="49">
                <a:solidFill>
                  <a:srgbClr val="9C6F22"/>
                </a:solidFill>
                <a:latin typeface="Spline Sans Mono"/>
              </a:rPr>
              <a:t>OUTPUT: THE OPERATING PICTURE</a:t>
            </a:r>
          </a:p>
        </p:txBody>
      </p:sp>
      <p:sp>
        <p:nvSpPr>
          <p:cNvPr id="53" name="TextBox 52"/>
          <p:cNvSpPr txBox="1"/>
          <p:nvPr/>
        </p:nvSpPr>
        <p:spPr>
          <a:xfrm>
            <a:off x="666750" y="2603798"/>
            <a:ext cx="139700" cy="133350"/>
          </a:xfrm>
          <a:prstGeom prst="rect">
            <a:avLst/>
          </a:prstGeom>
          <a:noFill/>
        </p:spPr>
        <p:txBody>
          <a:bodyPr wrap="none" lIns="0" rIns="0" tIns="0" bIns="0">
            <a:noAutofit/>
          </a:bodyPr>
          <a:lstStyle/>
          <a:p>
            <a:pPr>
              <a:spcBef>
                <a:spcPts val="0"/>
              </a:spcBef>
              <a:spcAft>
                <a:spcPts val="0"/>
              </a:spcAft>
            </a:pPr>
            <a:r>
              <a:rPr sz="750" b="0">
                <a:solidFill>
                  <a:srgbClr val="131417"/>
                </a:solidFill>
                <a:latin typeface="Spline Sans Mono"/>
              </a:rPr>
              <a:t>04</a:t>
            </a:r>
          </a:p>
        </p:txBody>
      </p:sp>
      <p:sp>
        <p:nvSpPr>
          <p:cNvPr id="54" name="TextBox 53"/>
          <p:cNvSpPr txBox="1"/>
          <p:nvPr/>
        </p:nvSpPr>
        <p:spPr>
          <a:xfrm>
            <a:off x="1219200" y="2610148"/>
            <a:ext cx="850900" cy="120650"/>
          </a:xfrm>
          <a:prstGeom prst="rect">
            <a:avLst/>
          </a:prstGeom>
          <a:noFill/>
        </p:spPr>
        <p:txBody>
          <a:bodyPr wrap="none" lIns="0" rIns="0" tIns="0" bIns="0">
            <a:noAutofit/>
          </a:bodyPr>
          <a:lstStyle/>
          <a:p>
            <a:pPr>
              <a:spcBef>
                <a:spcPts val="0"/>
              </a:spcBef>
              <a:spcAft>
                <a:spcPts val="0"/>
              </a:spcAft>
            </a:pPr>
            <a:r>
              <a:rPr sz="650" b="0" spc="78">
                <a:solidFill>
                  <a:srgbClr val="84867E"/>
                </a:solidFill>
                <a:latin typeface="Spline Sans Mono"/>
              </a:rPr>
              <a:t>DIAGNOSE</a:t>
            </a:r>
          </a:p>
        </p:txBody>
      </p:sp>
      <p:sp>
        <p:nvSpPr>
          <p:cNvPr id="55" name="TextBox 54"/>
          <p:cNvSpPr txBox="1"/>
          <p:nvPr/>
        </p:nvSpPr>
        <p:spPr>
          <a:xfrm>
            <a:off x="2222500" y="2559348"/>
            <a:ext cx="1930400" cy="222250"/>
          </a:xfrm>
          <a:prstGeom prst="rect">
            <a:avLst/>
          </a:prstGeom>
          <a:noFill/>
        </p:spPr>
        <p:txBody>
          <a:bodyPr wrap="none" lIns="0" rIns="0" tIns="0" bIns="0">
            <a:noAutofit/>
          </a:bodyPr>
          <a:lstStyle/>
          <a:p>
            <a:pPr>
              <a:spcBef>
                <a:spcPts val="0"/>
              </a:spcBef>
              <a:spcAft>
                <a:spcPts val="0"/>
              </a:spcAft>
            </a:pPr>
            <a:r>
              <a:rPr sz="1300" b="1">
                <a:solidFill>
                  <a:srgbClr val="131417"/>
                </a:solidFill>
                <a:latin typeface="Schibsted Grotesk"/>
              </a:rPr>
              <a:t>Quantify</a:t>
            </a:r>
          </a:p>
        </p:txBody>
      </p:sp>
      <p:sp>
        <p:nvSpPr>
          <p:cNvPr id="56" name="TextBox 55"/>
          <p:cNvSpPr txBox="1"/>
          <p:nvPr/>
        </p:nvSpPr>
        <p:spPr>
          <a:xfrm>
            <a:off x="4305300" y="2581573"/>
            <a:ext cx="4699000" cy="177800"/>
          </a:xfrm>
          <a:prstGeom prst="rect">
            <a:avLst/>
          </a:prstGeom>
          <a:noFill/>
        </p:spPr>
        <p:txBody>
          <a:bodyPr wrap="none" lIns="0" rIns="0" tIns="0" bIns="0">
            <a:noAutofit/>
          </a:bodyPr>
          <a:lstStyle/>
          <a:p>
            <a:pPr>
              <a:spcBef>
                <a:spcPts val="0"/>
              </a:spcBef>
              <a:spcAft>
                <a:spcPts val="0"/>
              </a:spcAft>
            </a:pPr>
            <a:r>
              <a:rPr sz="1000" b="0">
                <a:solidFill>
                  <a:srgbClr val="131417"/>
                </a:solidFill>
                <a:latin typeface="Schibsted Grotesk"/>
              </a:rPr>
              <a:t>What the gaps cost: time, labor, revenue, margin, CX, risk, spend.</a:t>
            </a:r>
          </a:p>
        </p:txBody>
      </p:sp>
      <p:sp>
        <p:nvSpPr>
          <p:cNvPr id="57" name="TextBox 56"/>
          <p:cNvSpPr txBox="1"/>
          <p:nvPr/>
        </p:nvSpPr>
        <p:spPr>
          <a:xfrm>
            <a:off x="9156700" y="2610148"/>
            <a:ext cx="2438400" cy="120650"/>
          </a:xfrm>
          <a:prstGeom prst="rect">
            <a:avLst/>
          </a:prstGeom>
          <a:noFill/>
        </p:spPr>
        <p:txBody>
          <a:bodyPr wrap="none" lIns="0" rIns="0" tIns="0" bIns="0">
            <a:noAutofit/>
          </a:bodyPr>
          <a:lstStyle/>
          <a:p>
            <a:pPr>
              <a:spcBef>
                <a:spcPts val="0"/>
              </a:spcBef>
              <a:spcAft>
                <a:spcPts val="0"/>
              </a:spcAft>
            </a:pPr>
            <a:r>
              <a:rPr sz="700" b="0" spc="49">
                <a:solidFill>
                  <a:srgbClr val="9C6F22"/>
                </a:solidFill>
                <a:latin typeface="Spline Sans Mono"/>
              </a:rPr>
              <a:t>OUTPUT: THE COST OF THE GAPS</a:t>
            </a:r>
          </a:p>
        </p:txBody>
      </p:sp>
      <p:sp>
        <p:nvSpPr>
          <p:cNvPr id="58" name="TextBox 57"/>
          <p:cNvSpPr txBox="1"/>
          <p:nvPr/>
        </p:nvSpPr>
        <p:spPr>
          <a:xfrm>
            <a:off x="1219200" y="3022898"/>
            <a:ext cx="850900" cy="120650"/>
          </a:xfrm>
          <a:prstGeom prst="rect">
            <a:avLst/>
          </a:prstGeom>
          <a:noFill/>
        </p:spPr>
        <p:txBody>
          <a:bodyPr wrap="none" lIns="0" rIns="0" tIns="0" bIns="0">
            <a:noAutofit/>
          </a:bodyPr>
          <a:lstStyle/>
          <a:p>
            <a:pPr>
              <a:spcBef>
                <a:spcPts val="0"/>
              </a:spcBef>
              <a:spcAft>
                <a:spcPts val="0"/>
              </a:spcAft>
            </a:pPr>
            <a:r>
              <a:rPr sz="650" b="0" spc="78">
                <a:solidFill>
                  <a:srgbClr val="2F4FA2"/>
                </a:solidFill>
                <a:latin typeface="Spline Sans Mono"/>
              </a:rPr>
              <a:t>GATE</a:t>
            </a:r>
          </a:p>
        </p:txBody>
      </p:sp>
      <p:sp>
        <p:nvSpPr>
          <p:cNvPr id="59" name="TextBox 58"/>
          <p:cNvSpPr txBox="1"/>
          <p:nvPr/>
        </p:nvSpPr>
        <p:spPr>
          <a:xfrm>
            <a:off x="2222500" y="2997498"/>
            <a:ext cx="1930400" cy="171450"/>
          </a:xfrm>
          <a:prstGeom prst="rect">
            <a:avLst/>
          </a:prstGeom>
          <a:noFill/>
        </p:spPr>
        <p:txBody>
          <a:bodyPr wrap="none" lIns="0" rIns="0" tIns="0" bIns="0">
            <a:noAutofit/>
          </a:bodyPr>
          <a:lstStyle/>
          <a:p>
            <a:pPr>
              <a:spcBef>
                <a:spcPts val="0"/>
              </a:spcBef>
              <a:spcAft>
                <a:spcPts val="0"/>
              </a:spcAft>
            </a:pPr>
            <a:r>
              <a:rPr sz="1000" b="1" spc="100">
                <a:solidFill>
                  <a:srgbClr val="2F4FA2"/>
                </a:solidFill>
                <a:latin typeface="Spline Sans Mono"/>
              </a:rPr>
              <a:t>THE GATE</a:t>
            </a:r>
          </a:p>
        </p:txBody>
      </p:sp>
      <p:sp>
        <p:nvSpPr>
          <p:cNvPr id="60" name="TextBox 59"/>
          <p:cNvSpPr txBox="1"/>
          <p:nvPr/>
        </p:nvSpPr>
        <p:spPr>
          <a:xfrm>
            <a:off x="4305300" y="2994323"/>
            <a:ext cx="4699000" cy="177800"/>
          </a:xfrm>
          <a:prstGeom prst="rect">
            <a:avLst/>
          </a:prstGeom>
          <a:noFill/>
        </p:spPr>
        <p:txBody>
          <a:bodyPr wrap="none" lIns="0" rIns="0" tIns="0" bIns="0">
            <a:noAutofit/>
          </a:bodyPr>
          <a:lstStyle/>
          <a:p>
            <a:pPr>
              <a:spcBef>
                <a:spcPts val="0"/>
              </a:spcBef>
              <a:spcAft>
                <a:spcPts val="0"/>
              </a:spcAft>
            </a:pPr>
            <a:r>
              <a:rPr sz="1000" b="0">
                <a:solidFill>
                  <a:srgbClr val="2F4FA2"/>
                </a:solidFill>
                <a:latin typeface="Schibsted Grotesk"/>
              </a:rPr>
              <a:t>Nothing is redesigned until it is costed.</a:t>
            </a:r>
          </a:p>
        </p:txBody>
      </p:sp>
      <p:sp>
        <p:nvSpPr>
          <p:cNvPr id="61" name="TextBox 60"/>
          <p:cNvSpPr txBox="1"/>
          <p:nvPr/>
        </p:nvSpPr>
        <p:spPr>
          <a:xfrm>
            <a:off x="9156700" y="3022898"/>
            <a:ext cx="2438400" cy="120650"/>
          </a:xfrm>
          <a:prstGeom prst="rect">
            <a:avLst/>
          </a:prstGeom>
          <a:noFill/>
        </p:spPr>
        <p:txBody>
          <a:bodyPr wrap="none" lIns="0" rIns="0" tIns="0" bIns="0">
            <a:noAutofit/>
          </a:bodyPr>
          <a:lstStyle/>
          <a:p>
            <a:pPr>
              <a:spcBef>
                <a:spcPts val="0"/>
              </a:spcBef>
              <a:spcAft>
                <a:spcPts val="0"/>
              </a:spcAft>
            </a:pPr>
            <a:r>
              <a:rPr sz="700" b="0" spc="49">
                <a:solidFill>
                  <a:srgbClr val="2F4FA2"/>
                </a:solidFill>
                <a:latin typeface="Spline Sans Mono"/>
              </a:rPr>
              <a:t>OUTPUT: THE BUSINESS, MADE VISIBLE</a:t>
            </a:r>
          </a:p>
        </p:txBody>
      </p:sp>
      <p:sp>
        <p:nvSpPr>
          <p:cNvPr id="62" name="TextBox 61"/>
          <p:cNvSpPr txBox="1"/>
          <p:nvPr/>
        </p:nvSpPr>
        <p:spPr>
          <a:xfrm>
            <a:off x="666750" y="3429298"/>
            <a:ext cx="139700" cy="133350"/>
          </a:xfrm>
          <a:prstGeom prst="rect">
            <a:avLst/>
          </a:prstGeom>
          <a:noFill/>
        </p:spPr>
        <p:txBody>
          <a:bodyPr wrap="none" lIns="0" rIns="0" tIns="0" bIns="0">
            <a:noAutofit/>
          </a:bodyPr>
          <a:lstStyle/>
          <a:p>
            <a:pPr>
              <a:spcBef>
                <a:spcPts val="0"/>
              </a:spcBef>
              <a:spcAft>
                <a:spcPts val="0"/>
              </a:spcAft>
            </a:pPr>
            <a:r>
              <a:rPr sz="750" b="0">
                <a:solidFill>
                  <a:srgbClr val="131417"/>
                </a:solidFill>
                <a:latin typeface="Spline Sans Mono"/>
              </a:rPr>
              <a:t>05</a:t>
            </a:r>
          </a:p>
        </p:txBody>
      </p:sp>
      <p:sp>
        <p:nvSpPr>
          <p:cNvPr id="63" name="TextBox 62"/>
          <p:cNvSpPr txBox="1"/>
          <p:nvPr/>
        </p:nvSpPr>
        <p:spPr>
          <a:xfrm>
            <a:off x="1219200" y="3435648"/>
            <a:ext cx="850900" cy="120650"/>
          </a:xfrm>
          <a:prstGeom prst="rect">
            <a:avLst/>
          </a:prstGeom>
          <a:noFill/>
        </p:spPr>
        <p:txBody>
          <a:bodyPr wrap="none" lIns="0" rIns="0" tIns="0" bIns="0">
            <a:noAutofit/>
          </a:bodyPr>
          <a:lstStyle/>
          <a:p>
            <a:pPr>
              <a:spcBef>
                <a:spcPts val="0"/>
              </a:spcBef>
              <a:spcAft>
                <a:spcPts val="0"/>
              </a:spcAft>
            </a:pPr>
            <a:r>
              <a:rPr sz="650" b="0" spc="78">
                <a:solidFill>
                  <a:srgbClr val="84867E"/>
                </a:solidFill>
                <a:latin typeface="Spline Sans Mono"/>
              </a:rPr>
              <a:t>ARCHITECT</a:t>
            </a:r>
          </a:p>
        </p:txBody>
      </p:sp>
      <p:sp>
        <p:nvSpPr>
          <p:cNvPr id="64" name="TextBox 63"/>
          <p:cNvSpPr txBox="1"/>
          <p:nvPr/>
        </p:nvSpPr>
        <p:spPr>
          <a:xfrm>
            <a:off x="2222500" y="3384848"/>
            <a:ext cx="1930400" cy="222250"/>
          </a:xfrm>
          <a:prstGeom prst="rect">
            <a:avLst/>
          </a:prstGeom>
          <a:noFill/>
        </p:spPr>
        <p:txBody>
          <a:bodyPr wrap="none" lIns="0" rIns="0" tIns="0" bIns="0">
            <a:noAutofit/>
          </a:bodyPr>
          <a:lstStyle/>
          <a:p>
            <a:pPr>
              <a:spcBef>
                <a:spcPts val="0"/>
              </a:spcBef>
              <a:spcAft>
                <a:spcPts val="0"/>
              </a:spcAft>
            </a:pPr>
            <a:r>
              <a:rPr sz="1300" b="1">
                <a:solidFill>
                  <a:srgbClr val="131417"/>
                </a:solidFill>
                <a:latin typeface="Schibsted Grotesk"/>
              </a:rPr>
              <a:t>Architect</a:t>
            </a:r>
          </a:p>
        </p:txBody>
      </p:sp>
      <p:sp>
        <p:nvSpPr>
          <p:cNvPr id="65" name="TextBox 64"/>
          <p:cNvSpPr txBox="1"/>
          <p:nvPr/>
        </p:nvSpPr>
        <p:spPr>
          <a:xfrm>
            <a:off x="4305300" y="3407073"/>
            <a:ext cx="4699000" cy="177800"/>
          </a:xfrm>
          <a:prstGeom prst="rect">
            <a:avLst/>
          </a:prstGeom>
          <a:noFill/>
        </p:spPr>
        <p:txBody>
          <a:bodyPr wrap="none" lIns="0" rIns="0" tIns="0" bIns="0">
            <a:noAutofit/>
          </a:bodyPr>
          <a:lstStyle/>
          <a:p>
            <a:pPr>
              <a:spcBef>
                <a:spcPts val="0"/>
              </a:spcBef>
              <a:spcAft>
                <a:spcPts val="0"/>
              </a:spcAft>
            </a:pPr>
            <a:r>
              <a:rPr sz="1000" b="0">
                <a:solidFill>
                  <a:srgbClr val="131417"/>
                </a:solidFill>
                <a:latin typeface="Schibsted Grotesk"/>
              </a:rPr>
              <a:t>What should the future state look like?</a:t>
            </a:r>
          </a:p>
        </p:txBody>
      </p:sp>
      <p:sp>
        <p:nvSpPr>
          <p:cNvPr id="66" name="TextBox 65"/>
          <p:cNvSpPr txBox="1"/>
          <p:nvPr/>
        </p:nvSpPr>
        <p:spPr>
          <a:xfrm>
            <a:off x="9156700" y="3435648"/>
            <a:ext cx="2438400" cy="120650"/>
          </a:xfrm>
          <a:prstGeom prst="rect">
            <a:avLst/>
          </a:prstGeom>
          <a:noFill/>
        </p:spPr>
        <p:txBody>
          <a:bodyPr wrap="none" lIns="0" rIns="0" tIns="0" bIns="0">
            <a:noAutofit/>
          </a:bodyPr>
          <a:lstStyle/>
          <a:p>
            <a:pPr>
              <a:spcBef>
                <a:spcPts val="0"/>
              </a:spcBef>
              <a:spcAft>
                <a:spcPts val="0"/>
              </a:spcAft>
            </a:pPr>
            <a:r>
              <a:rPr sz="700" b="0" spc="49">
                <a:solidFill>
                  <a:srgbClr val="9C6F22"/>
                </a:solidFill>
                <a:latin typeface="Spline Sans Mono"/>
              </a:rPr>
              <a:t>OUTPUT: THE FUTURE STATE</a:t>
            </a:r>
          </a:p>
        </p:txBody>
      </p:sp>
      <p:sp>
        <p:nvSpPr>
          <p:cNvPr id="67" name="TextBox 66"/>
          <p:cNvSpPr txBox="1"/>
          <p:nvPr/>
        </p:nvSpPr>
        <p:spPr>
          <a:xfrm>
            <a:off x="666750" y="3848398"/>
            <a:ext cx="139700" cy="133350"/>
          </a:xfrm>
          <a:prstGeom prst="rect">
            <a:avLst/>
          </a:prstGeom>
          <a:noFill/>
        </p:spPr>
        <p:txBody>
          <a:bodyPr wrap="none" lIns="0" rIns="0" tIns="0" bIns="0">
            <a:noAutofit/>
          </a:bodyPr>
          <a:lstStyle/>
          <a:p>
            <a:pPr>
              <a:spcBef>
                <a:spcPts val="0"/>
              </a:spcBef>
              <a:spcAft>
                <a:spcPts val="0"/>
              </a:spcAft>
            </a:pPr>
            <a:r>
              <a:rPr sz="750" b="0">
                <a:solidFill>
                  <a:srgbClr val="131417"/>
                </a:solidFill>
                <a:latin typeface="Spline Sans Mono"/>
              </a:rPr>
              <a:t>06</a:t>
            </a:r>
          </a:p>
        </p:txBody>
      </p:sp>
      <p:sp>
        <p:nvSpPr>
          <p:cNvPr id="68" name="TextBox 67"/>
          <p:cNvSpPr txBox="1"/>
          <p:nvPr/>
        </p:nvSpPr>
        <p:spPr>
          <a:xfrm>
            <a:off x="1219200" y="3854748"/>
            <a:ext cx="850900" cy="120650"/>
          </a:xfrm>
          <a:prstGeom prst="rect">
            <a:avLst/>
          </a:prstGeom>
          <a:noFill/>
        </p:spPr>
        <p:txBody>
          <a:bodyPr wrap="none" lIns="0" rIns="0" tIns="0" bIns="0">
            <a:noAutofit/>
          </a:bodyPr>
          <a:lstStyle/>
          <a:p>
            <a:pPr>
              <a:spcBef>
                <a:spcPts val="0"/>
              </a:spcBef>
              <a:spcAft>
                <a:spcPts val="0"/>
              </a:spcAft>
            </a:pPr>
            <a:r>
              <a:rPr sz="650" b="0" spc="78">
                <a:solidFill>
                  <a:srgbClr val="84867E"/>
                </a:solidFill>
                <a:latin typeface="Spline Sans Mono"/>
              </a:rPr>
              <a:t>TRANSFORM</a:t>
            </a:r>
          </a:p>
        </p:txBody>
      </p:sp>
      <p:sp>
        <p:nvSpPr>
          <p:cNvPr id="69" name="TextBox 68"/>
          <p:cNvSpPr txBox="1"/>
          <p:nvPr/>
        </p:nvSpPr>
        <p:spPr>
          <a:xfrm>
            <a:off x="2222500" y="3803948"/>
            <a:ext cx="1930400" cy="222250"/>
          </a:xfrm>
          <a:prstGeom prst="rect">
            <a:avLst/>
          </a:prstGeom>
          <a:noFill/>
        </p:spPr>
        <p:txBody>
          <a:bodyPr wrap="none" lIns="0" rIns="0" tIns="0" bIns="0">
            <a:noAutofit/>
          </a:bodyPr>
          <a:lstStyle/>
          <a:p>
            <a:pPr>
              <a:spcBef>
                <a:spcPts val="0"/>
              </a:spcBef>
              <a:spcAft>
                <a:spcPts val="0"/>
              </a:spcAft>
            </a:pPr>
            <a:r>
              <a:rPr sz="1300" b="1">
                <a:solidFill>
                  <a:srgbClr val="131417"/>
                </a:solidFill>
                <a:latin typeface="Schibsted Grotesk"/>
              </a:rPr>
              <a:t>Implement</a:t>
            </a:r>
          </a:p>
        </p:txBody>
      </p:sp>
      <p:sp>
        <p:nvSpPr>
          <p:cNvPr id="70" name="TextBox 69"/>
          <p:cNvSpPr txBox="1"/>
          <p:nvPr/>
        </p:nvSpPr>
        <p:spPr>
          <a:xfrm>
            <a:off x="4305300" y="3826173"/>
            <a:ext cx="4699000" cy="177800"/>
          </a:xfrm>
          <a:prstGeom prst="rect">
            <a:avLst/>
          </a:prstGeom>
          <a:noFill/>
        </p:spPr>
        <p:txBody>
          <a:bodyPr wrap="none" lIns="0" rIns="0" tIns="0" bIns="0">
            <a:noAutofit/>
          </a:bodyPr>
          <a:lstStyle/>
          <a:p>
            <a:pPr>
              <a:spcBef>
                <a:spcPts val="0"/>
              </a:spcBef>
              <a:spcAft>
                <a:spcPts val="0"/>
              </a:spcAft>
            </a:pPr>
            <a:r>
              <a:rPr sz="1000" b="0">
                <a:solidFill>
                  <a:srgbClr val="131417"/>
                </a:solidFill>
                <a:latin typeface="Schibsted Grotesk"/>
              </a:rPr>
              <a:t>Process, people, technology, automation, AI: the solution follows the problem.</a:t>
            </a:r>
          </a:p>
        </p:txBody>
      </p:sp>
      <p:sp>
        <p:nvSpPr>
          <p:cNvPr id="71" name="TextBox 70"/>
          <p:cNvSpPr txBox="1"/>
          <p:nvPr/>
        </p:nvSpPr>
        <p:spPr>
          <a:xfrm>
            <a:off x="9156700" y="3854748"/>
            <a:ext cx="2438400" cy="120650"/>
          </a:xfrm>
          <a:prstGeom prst="rect">
            <a:avLst/>
          </a:prstGeom>
          <a:noFill/>
        </p:spPr>
        <p:txBody>
          <a:bodyPr wrap="none" lIns="0" rIns="0" tIns="0" bIns="0">
            <a:noAutofit/>
          </a:bodyPr>
          <a:lstStyle/>
          <a:p>
            <a:pPr>
              <a:spcBef>
                <a:spcPts val="0"/>
              </a:spcBef>
              <a:spcAft>
                <a:spcPts val="0"/>
              </a:spcAft>
            </a:pPr>
            <a:r>
              <a:rPr sz="700" b="0" spc="49">
                <a:solidFill>
                  <a:srgbClr val="9C6F22"/>
                </a:solidFill>
                <a:latin typeface="Spline Sans Mono"/>
              </a:rPr>
              <a:t>OUTPUT: THE CHANGE, SHIPPED</a:t>
            </a:r>
          </a:p>
        </p:txBody>
      </p:sp>
      <p:sp>
        <p:nvSpPr>
          <p:cNvPr id="72" name="TextBox 71"/>
          <p:cNvSpPr txBox="1"/>
          <p:nvPr/>
        </p:nvSpPr>
        <p:spPr>
          <a:xfrm>
            <a:off x="666750" y="4267498"/>
            <a:ext cx="139700" cy="133350"/>
          </a:xfrm>
          <a:prstGeom prst="rect">
            <a:avLst/>
          </a:prstGeom>
          <a:noFill/>
        </p:spPr>
        <p:txBody>
          <a:bodyPr wrap="none" lIns="0" rIns="0" tIns="0" bIns="0">
            <a:noAutofit/>
          </a:bodyPr>
          <a:lstStyle/>
          <a:p>
            <a:pPr>
              <a:spcBef>
                <a:spcPts val="0"/>
              </a:spcBef>
              <a:spcAft>
                <a:spcPts val="0"/>
              </a:spcAft>
            </a:pPr>
            <a:r>
              <a:rPr sz="750" b="0">
                <a:solidFill>
                  <a:srgbClr val="131417"/>
                </a:solidFill>
                <a:latin typeface="Spline Sans Mono"/>
              </a:rPr>
              <a:t>07</a:t>
            </a:r>
          </a:p>
        </p:txBody>
      </p:sp>
      <p:sp>
        <p:nvSpPr>
          <p:cNvPr id="73" name="TextBox 72"/>
          <p:cNvSpPr txBox="1"/>
          <p:nvPr/>
        </p:nvSpPr>
        <p:spPr>
          <a:xfrm>
            <a:off x="1219200" y="4273848"/>
            <a:ext cx="850900" cy="120650"/>
          </a:xfrm>
          <a:prstGeom prst="rect">
            <a:avLst/>
          </a:prstGeom>
          <a:noFill/>
        </p:spPr>
        <p:txBody>
          <a:bodyPr wrap="none" lIns="0" rIns="0" tIns="0" bIns="0">
            <a:noAutofit/>
          </a:bodyPr>
          <a:lstStyle/>
          <a:p>
            <a:pPr>
              <a:spcBef>
                <a:spcPts val="0"/>
              </a:spcBef>
              <a:spcAft>
                <a:spcPts val="0"/>
              </a:spcAft>
            </a:pPr>
            <a:r>
              <a:rPr sz="650" b="0" spc="78">
                <a:solidFill>
                  <a:srgbClr val="84867E"/>
                </a:solidFill>
                <a:latin typeface="Spline Sans Mono"/>
              </a:rPr>
              <a:t>TRANSFER</a:t>
            </a:r>
          </a:p>
        </p:txBody>
      </p:sp>
      <p:sp>
        <p:nvSpPr>
          <p:cNvPr id="74" name="TextBox 73"/>
          <p:cNvSpPr txBox="1"/>
          <p:nvPr/>
        </p:nvSpPr>
        <p:spPr>
          <a:xfrm>
            <a:off x="2222500" y="4223048"/>
            <a:ext cx="1930400" cy="222250"/>
          </a:xfrm>
          <a:prstGeom prst="rect">
            <a:avLst/>
          </a:prstGeom>
          <a:noFill/>
        </p:spPr>
        <p:txBody>
          <a:bodyPr wrap="none" lIns="0" rIns="0" tIns="0" bIns="0">
            <a:noAutofit/>
          </a:bodyPr>
          <a:lstStyle/>
          <a:p>
            <a:pPr>
              <a:spcBef>
                <a:spcPts val="0"/>
              </a:spcBef>
              <a:spcAft>
                <a:spcPts val="0"/>
              </a:spcAft>
            </a:pPr>
            <a:r>
              <a:rPr sz="1300" b="1">
                <a:solidFill>
                  <a:srgbClr val="131417"/>
                </a:solidFill>
                <a:latin typeface="Schibsted Grotesk"/>
              </a:rPr>
              <a:t>Institutionalize</a:t>
            </a:r>
          </a:p>
        </p:txBody>
      </p:sp>
      <p:sp>
        <p:nvSpPr>
          <p:cNvPr id="75" name="TextBox 74"/>
          <p:cNvSpPr txBox="1"/>
          <p:nvPr/>
        </p:nvSpPr>
        <p:spPr>
          <a:xfrm>
            <a:off x="4305300" y="4245273"/>
            <a:ext cx="4699000" cy="177800"/>
          </a:xfrm>
          <a:prstGeom prst="rect">
            <a:avLst/>
          </a:prstGeom>
          <a:noFill/>
        </p:spPr>
        <p:txBody>
          <a:bodyPr wrap="none" lIns="0" rIns="0" tIns="0" bIns="0">
            <a:noAutofit/>
          </a:bodyPr>
          <a:lstStyle/>
          <a:p>
            <a:pPr>
              <a:spcBef>
                <a:spcPts val="0"/>
              </a:spcBef>
              <a:spcAft>
                <a:spcPts val="0"/>
              </a:spcAft>
            </a:pPr>
            <a:r>
              <a:rPr sz="1000" b="0">
                <a:solidFill>
                  <a:srgbClr val="131417"/>
                </a:solidFill>
                <a:latin typeface="Schibsted Grotesk"/>
              </a:rPr>
              <a:t>Document it. Train the team. Create ownership.</a:t>
            </a:r>
          </a:p>
        </p:txBody>
      </p:sp>
      <p:sp>
        <p:nvSpPr>
          <p:cNvPr id="76" name="TextBox 75"/>
          <p:cNvSpPr txBox="1"/>
          <p:nvPr/>
        </p:nvSpPr>
        <p:spPr>
          <a:xfrm>
            <a:off x="9156700" y="4273848"/>
            <a:ext cx="2438400" cy="120650"/>
          </a:xfrm>
          <a:prstGeom prst="rect">
            <a:avLst/>
          </a:prstGeom>
          <a:noFill/>
        </p:spPr>
        <p:txBody>
          <a:bodyPr wrap="none" lIns="0" rIns="0" tIns="0" bIns="0">
            <a:noAutofit/>
          </a:bodyPr>
          <a:lstStyle/>
          <a:p>
            <a:pPr>
              <a:spcBef>
                <a:spcPts val="0"/>
              </a:spcBef>
              <a:spcAft>
                <a:spcPts val="0"/>
              </a:spcAft>
            </a:pPr>
            <a:r>
              <a:rPr sz="700" b="0" spc="49">
                <a:solidFill>
                  <a:srgbClr val="9C6F22"/>
                </a:solidFill>
                <a:latin typeface="Spline Sans Mono"/>
              </a:rPr>
              <a:t>OUTPUT: OWNERSHIP</a:t>
            </a:r>
          </a:p>
        </p:txBody>
      </p:sp>
      <p:sp>
        <p:nvSpPr>
          <p:cNvPr id="77" name="TextBox 76"/>
          <p:cNvSpPr txBox="1"/>
          <p:nvPr/>
        </p:nvSpPr>
        <p:spPr>
          <a:xfrm>
            <a:off x="666750" y="4686598"/>
            <a:ext cx="139700" cy="133350"/>
          </a:xfrm>
          <a:prstGeom prst="rect">
            <a:avLst/>
          </a:prstGeom>
          <a:noFill/>
        </p:spPr>
        <p:txBody>
          <a:bodyPr wrap="none" lIns="0" rIns="0" tIns="0" bIns="0">
            <a:noAutofit/>
          </a:bodyPr>
          <a:lstStyle/>
          <a:p>
            <a:pPr>
              <a:spcBef>
                <a:spcPts val="0"/>
              </a:spcBef>
              <a:spcAft>
                <a:spcPts val="0"/>
              </a:spcAft>
            </a:pPr>
            <a:r>
              <a:rPr sz="750" b="0">
                <a:solidFill>
                  <a:srgbClr val="131417"/>
                </a:solidFill>
                <a:latin typeface="Spline Sans Mono"/>
              </a:rPr>
              <a:t>08</a:t>
            </a:r>
          </a:p>
        </p:txBody>
      </p:sp>
      <p:sp>
        <p:nvSpPr>
          <p:cNvPr id="78" name="TextBox 77"/>
          <p:cNvSpPr txBox="1"/>
          <p:nvPr/>
        </p:nvSpPr>
        <p:spPr>
          <a:xfrm>
            <a:off x="1219200" y="4692948"/>
            <a:ext cx="850900" cy="120650"/>
          </a:xfrm>
          <a:prstGeom prst="rect">
            <a:avLst/>
          </a:prstGeom>
          <a:noFill/>
        </p:spPr>
        <p:txBody>
          <a:bodyPr wrap="none" lIns="0" rIns="0" tIns="0" bIns="0">
            <a:noAutofit/>
          </a:bodyPr>
          <a:lstStyle/>
          <a:p>
            <a:pPr>
              <a:spcBef>
                <a:spcPts val="0"/>
              </a:spcBef>
              <a:spcAft>
                <a:spcPts val="0"/>
              </a:spcAft>
            </a:pPr>
            <a:r>
              <a:rPr sz="650" b="0" spc="78">
                <a:solidFill>
                  <a:srgbClr val="84867E"/>
                </a:solidFill>
                <a:latin typeface="Spline Sans Mono"/>
              </a:rPr>
              <a:t>TRANSFER</a:t>
            </a:r>
          </a:p>
        </p:txBody>
      </p:sp>
      <p:sp>
        <p:nvSpPr>
          <p:cNvPr id="79" name="TextBox 78"/>
          <p:cNvSpPr txBox="1"/>
          <p:nvPr/>
        </p:nvSpPr>
        <p:spPr>
          <a:xfrm>
            <a:off x="2222500" y="4642148"/>
            <a:ext cx="1930400" cy="222250"/>
          </a:xfrm>
          <a:prstGeom prst="rect">
            <a:avLst/>
          </a:prstGeom>
          <a:noFill/>
        </p:spPr>
        <p:txBody>
          <a:bodyPr wrap="none" lIns="0" rIns="0" tIns="0" bIns="0">
            <a:noAutofit/>
          </a:bodyPr>
          <a:lstStyle/>
          <a:p>
            <a:pPr>
              <a:spcBef>
                <a:spcPts val="0"/>
              </a:spcBef>
              <a:spcAft>
                <a:spcPts val="0"/>
              </a:spcAft>
            </a:pPr>
            <a:r>
              <a:rPr sz="1300" b="1">
                <a:solidFill>
                  <a:srgbClr val="131417"/>
                </a:solidFill>
                <a:latin typeface="Schibsted Grotesk"/>
              </a:rPr>
              <a:t>Transfer</a:t>
            </a:r>
          </a:p>
        </p:txBody>
      </p:sp>
      <p:sp>
        <p:nvSpPr>
          <p:cNvPr id="80" name="TextBox 79"/>
          <p:cNvSpPr txBox="1"/>
          <p:nvPr/>
        </p:nvSpPr>
        <p:spPr>
          <a:xfrm>
            <a:off x="4305300" y="4664373"/>
            <a:ext cx="4699000" cy="177800"/>
          </a:xfrm>
          <a:prstGeom prst="rect">
            <a:avLst/>
          </a:prstGeom>
          <a:noFill/>
        </p:spPr>
        <p:txBody>
          <a:bodyPr wrap="none" lIns="0" rIns="0" tIns="0" bIns="0">
            <a:noAutofit/>
          </a:bodyPr>
          <a:lstStyle/>
          <a:p>
            <a:pPr>
              <a:spcBef>
                <a:spcPts val="0"/>
              </a:spcBef>
              <a:spcAft>
                <a:spcPts val="0"/>
              </a:spcAft>
            </a:pPr>
            <a:r>
              <a:rPr sz="1000" b="0">
                <a:solidFill>
                  <a:srgbClr val="131417"/>
                </a:solidFill>
                <a:latin typeface="Schibsted Grotesk"/>
              </a:rPr>
              <a:t>Leave the company able to run it without us.</a:t>
            </a:r>
          </a:p>
        </p:txBody>
      </p:sp>
      <p:sp>
        <p:nvSpPr>
          <p:cNvPr id="81" name="TextBox 80"/>
          <p:cNvSpPr txBox="1"/>
          <p:nvPr/>
        </p:nvSpPr>
        <p:spPr>
          <a:xfrm>
            <a:off x="9156700" y="4692948"/>
            <a:ext cx="2438400" cy="120650"/>
          </a:xfrm>
          <a:prstGeom prst="rect">
            <a:avLst/>
          </a:prstGeom>
          <a:noFill/>
        </p:spPr>
        <p:txBody>
          <a:bodyPr wrap="none" lIns="0" rIns="0" tIns="0" bIns="0">
            <a:noAutofit/>
          </a:bodyPr>
          <a:lstStyle/>
          <a:p>
            <a:pPr>
              <a:spcBef>
                <a:spcPts val="0"/>
              </a:spcBef>
              <a:spcAft>
                <a:spcPts val="0"/>
              </a:spcAft>
            </a:pPr>
            <a:r>
              <a:rPr sz="700" b="0" spc="49">
                <a:solidFill>
                  <a:srgbClr val="9C6F22"/>
                </a:solidFill>
                <a:latin typeface="Spline Sans Mono"/>
              </a:rPr>
              <a:t>OUTPUT: INDEPENDENCE</a:t>
            </a:r>
          </a:p>
        </p:txBody>
      </p:sp>
      <p:sp>
        <p:nvSpPr>
          <p:cNvPr id="82" name="TextBox 81"/>
          <p:cNvSpPr txBox="1"/>
          <p:nvPr/>
        </p:nvSpPr>
        <p:spPr>
          <a:xfrm>
            <a:off x="596900" y="5096173"/>
            <a:ext cx="10998200" cy="133350"/>
          </a:xfrm>
          <a:prstGeom prst="rect">
            <a:avLst/>
          </a:prstGeom>
          <a:noFill/>
        </p:spPr>
        <p:txBody>
          <a:bodyPr wrap="none" lIns="0" rIns="0" tIns="0" bIns="0">
            <a:noAutofit/>
          </a:bodyPr>
          <a:lstStyle/>
          <a:p>
            <a:pPr>
              <a:spcBef>
                <a:spcPts val="0"/>
              </a:spcBef>
              <a:spcAft>
                <a:spcPts val="0"/>
              </a:spcAft>
            </a:pPr>
            <a:r>
              <a:rPr sz="750" b="0" spc="45">
                <a:solidFill>
                  <a:srgbClr val="84867E"/>
                </a:solidFill>
                <a:latin typeface="Spline Sans Mono"/>
              </a:rPr>
              <a:t>BUILD THE SYSTEM. PROVE THE VALUE. TEACH THE TEAM. HAND IT BACK.</a:t>
            </a:r>
          </a:p>
        </p:txBody>
      </p:sp>
      <p:sp>
        <p:nvSpPr>
          <p:cNvPr id="83" name="TextBox 82"/>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SCHULTE &amp; CO. · GROWTH BY DESIGN</a:t>
            </a:r>
          </a:p>
        </p:txBody>
      </p:sp>
      <p:sp>
        <p:nvSpPr>
          <p:cNvPr id="84" name="TextBox 83"/>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SHEET 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609600" y="6572250"/>
            <a:ext cx="10972800" cy="6350"/>
          </a:xfrm>
          <a:prstGeom prst="rect">
            <a:avLst/>
          </a:prstGeom>
          <a:solidFill>
            <a:srgbClr val="131417"/>
          </a:solidFill>
          <a:ln>
            <a:noFill/>
          </a:ln>
          <a:effectLst/>
        </p:spPr>
        <p:txBody>
          <a:bodyPr rtlCol="0" anchor="ctr"/>
          <a:lstStyle/>
          <a:p>
            <a:pPr algn="ctr"/>
          </a:p>
        </p:txBody>
      </p:sp>
      <p:sp>
        <p:nvSpPr>
          <p:cNvPr id="3" name="Rectangle 2"/>
          <p:cNvSpPr/>
          <p:nvPr/>
        </p:nvSpPr>
        <p:spPr>
          <a:xfrm>
            <a:off x="609600" y="6540500"/>
            <a:ext cx="6350" cy="69850"/>
          </a:xfrm>
          <a:prstGeom prst="rect">
            <a:avLst/>
          </a:prstGeom>
          <a:solidFill>
            <a:srgbClr val="131417"/>
          </a:solidFill>
          <a:ln>
            <a:noFill/>
          </a:ln>
          <a:effectLst/>
        </p:spPr>
        <p:txBody>
          <a:bodyPr rtlCol="0" anchor="ctr"/>
          <a:lstStyle/>
          <a:p>
            <a:pPr algn="ctr"/>
          </a:p>
        </p:txBody>
      </p:sp>
      <p:sp>
        <p:nvSpPr>
          <p:cNvPr id="4" name="Rectangle 3"/>
          <p:cNvSpPr/>
          <p:nvPr/>
        </p:nvSpPr>
        <p:spPr>
          <a:xfrm>
            <a:off x="1828800" y="6540500"/>
            <a:ext cx="6350" cy="69850"/>
          </a:xfrm>
          <a:prstGeom prst="rect">
            <a:avLst/>
          </a:prstGeom>
          <a:solidFill>
            <a:srgbClr val="131417"/>
          </a:solidFill>
          <a:ln>
            <a:noFill/>
          </a:ln>
          <a:effectLst/>
        </p:spPr>
        <p:txBody>
          <a:bodyPr rtlCol="0" anchor="ctr"/>
          <a:lstStyle/>
          <a:p>
            <a:pPr algn="ctr"/>
          </a:p>
        </p:txBody>
      </p:sp>
      <p:sp>
        <p:nvSpPr>
          <p:cNvPr id="5" name="Rectangle 4"/>
          <p:cNvSpPr/>
          <p:nvPr/>
        </p:nvSpPr>
        <p:spPr>
          <a:xfrm>
            <a:off x="3048000" y="6540500"/>
            <a:ext cx="6350" cy="69850"/>
          </a:xfrm>
          <a:prstGeom prst="rect">
            <a:avLst/>
          </a:prstGeom>
          <a:solidFill>
            <a:srgbClr val="131417"/>
          </a:solidFill>
          <a:ln>
            <a:noFill/>
          </a:ln>
          <a:effectLst/>
        </p:spPr>
        <p:txBody>
          <a:bodyPr rtlCol="0" anchor="ctr"/>
          <a:lstStyle/>
          <a:p>
            <a:pPr algn="ctr"/>
          </a:p>
        </p:txBody>
      </p:sp>
      <p:sp>
        <p:nvSpPr>
          <p:cNvPr id="6" name="Rectangle 5"/>
          <p:cNvSpPr/>
          <p:nvPr/>
        </p:nvSpPr>
        <p:spPr>
          <a:xfrm>
            <a:off x="4267101" y="6540500"/>
            <a:ext cx="6350" cy="69850"/>
          </a:xfrm>
          <a:prstGeom prst="rect">
            <a:avLst/>
          </a:prstGeom>
          <a:solidFill>
            <a:srgbClr val="131417"/>
          </a:solidFill>
          <a:ln>
            <a:noFill/>
          </a:ln>
          <a:effectLst/>
        </p:spPr>
        <p:txBody>
          <a:bodyPr rtlCol="0" anchor="ctr"/>
          <a:lstStyle/>
          <a:p>
            <a:pPr algn="ctr"/>
          </a:p>
        </p:txBody>
      </p:sp>
      <p:sp>
        <p:nvSpPr>
          <p:cNvPr id="7" name="Rectangle 6"/>
          <p:cNvSpPr/>
          <p:nvPr/>
        </p:nvSpPr>
        <p:spPr>
          <a:xfrm>
            <a:off x="5486400" y="6540500"/>
            <a:ext cx="6350" cy="69850"/>
          </a:xfrm>
          <a:prstGeom prst="rect">
            <a:avLst/>
          </a:prstGeom>
          <a:solidFill>
            <a:srgbClr val="131417"/>
          </a:solidFill>
          <a:ln>
            <a:noFill/>
          </a:ln>
          <a:effectLst/>
        </p:spPr>
        <p:txBody>
          <a:bodyPr rtlCol="0" anchor="ctr"/>
          <a:lstStyle/>
          <a:p>
            <a:pPr algn="ctr"/>
          </a:p>
        </p:txBody>
      </p:sp>
      <p:sp>
        <p:nvSpPr>
          <p:cNvPr id="8" name="Rectangle 7"/>
          <p:cNvSpPr/>
          <p:nvPr/>
        </p:nvSpPr>
        <p:spPr>
          <a:xfrm>
            <a:off x="6705600" y="6540500"/>
            <a:ext cx="6350" cy="69850"/>
          </a:xfrm>
          <a:prstGeom prst="rect">
            <a:avLst/>
          </a:prstGeom>
          <a:solidFill>
            <a:srgbClr val="131417"/>
          </a:solidFill>
          <a:ln>
            <a:noFill/>
          </a:ln>
          <a:effectLst/>
        </p:spPr>
        <p:txBody>
          <a:bodyPr rtlCol="0" anchor="ctr"/>
          <a:lstStyle/>
          <a:p>
            <a:pPr algn="ctr"/>
          </a:p>
        </p:txBody>
      </p:sp>
      <p:sp>
        <p:nvSpPr>
          <p:cNvPr id="9" name="Rectangle 8"/>
          <p:cNvSpPr/>
          <p:nvPr/>
        </p:nvSpPr>
        <p:spPr>
          <a:xfrm>
            <a:off x="7924701" y="6540500"/>
            <a:ext cx="6350" cy="69850"/>
          </a:xfrm>
          <a:prstGeom prst="rect">
            <a:avLst/>
          </a:prstGeom>
          <a:solidFill>
            <a:srgbClr val="131417"/>
          </a:solidFill>
          <a:ln>
            <a:noFill/>
          </a:ln>
          <a:effectLst/>
        </p:spPr>
        <p:txBody>
          <a:bodyPr rtlCol="0" anchor="ctr"/>
          <a:lstStyle/>
          <a:p>
            <a:pPr algn="ctr"/>
          </a:p>
        </p:txBody>
      </p:sp>
      <p:sp>
        <p:nvSpPr>
          <p:cNvPr id="10" name="Rectangle 9"/>
          <p:cNvSpPr/>
          <p:nvPr/>
        </p:nvSpPr>
        <p:spPr>
          <a:xfrm>
            <a:off x="9144000" y="6540500"/>
            <a:ext cx="6350" cy="69850"/>
          </a:xfrm>
          <a:prstGeom prst="rect">
            <a:avLst/>
          </a:prstGeom>
          <a:solidFill>
            <a:srgbClr val="131417"/>
          </a:solidFill>
          <a:ln>
            <a:noFill/>
          </a:ln>
          <a:effectLst/>
        </p:spPr>
        <p:txBody>
          <a:bodyPr rtlCol="0" anchor="ctr"/>
          <a:lstStyle/>
          <a:p>
            <a:pPr algn="ctr"/>
          </a:p>
        </p:txBody>
      </p:sp>
      <p:sp>
        <p:nvSpPr>
          <p:cNvPr id="11" name="Rectangle 10"/>
          <p:cNvSpPr/>
          <p:nvPr/>
        </p:nvSpPr>
        <p:spPr>
          <a:xfrm>
            <a:off x="10363200" y="6540500"/>
            <a:ext cx="6350" cy="69850"/>
          </a:xfrm>
          <a:prstGeom prst="rect">
            <a:avLst/>
          </a:prstGeom>
          <a:solidFill>
            <a:srgbClr val="131417"/>
          </a:solidFill>
          <a:ln>
            <a:noFill/>
          </a:ln>
          <a:effectLst/>
        </p:spPr>
        <p:txBody>
          <a:bodyPr rtlCol="0" anchor="ctr"/>
          <a:lstStyle/>
          <a:p>
            <a:pPr algn="ctr"/>
          </a:p>
        </p:txBody>
      </p:sp>
      <p:sp>
        <p:nvSpPr>
          <p:cNvPr id="12" name="Rectangle 11"/>
          <p:cNvSpPr/>
          <p:nvPr/>
        </p:nvSpPr>
        <p:spPr>
          <a:xfrm>
            <a:off x="11582400" y="6540500"/>
            <a:ext cx="6350" cy="69850"/>
          </a:xfrm>
          <a:prstGeom prst="rect">
            <a:avLst/>
          </a:prstGeom>
          <a:solidFill>
            <a:srgbClr val="131417"/>
          </a:solidFill>
          <a:ln>
            <a:noFill/>
          </a:ln>
          <a:effectLst/>
        </p:spPr>
        <p:txBody>
          <a:bodyPr rtlCol="0" anchor="ctr"/>
          <a:lstStyle/>
          <a:p>
            <a:pPr algn="ctr"/>
          </a:p>
        </p:txBody>
      </p:sp>
      <p:sp>
        <p:nvSpPr>
          <p:cNvPr id="13" name="Diamond 12"/>
          <p:cNvSpPr/>
          <p:nvPr/>
        </p:nvSpPr>
        <p:spPr>
          <a:xfrm>
            <a:off x="6673850" y="6546850"/>
            <a:ext cx="63500" cy="63500"/>
          </a:xfrm>
          <a:prstGeom prst="diamond">
            <a:avLst/>
          </a:prstGeom>
          <a:solidFill>
            <a:srgbClr val="D93A1F"/>
          </a:solidFill>
          <a:ln>
            <a:noFill/>
          </a:ln>
          <a:effectLst/>
        </p:spPr>
        <p:txBody>
          <a:bodyPr rtlCol="0" anchor="ctr"/>
          <a:lstStyle/>
          <a:p>
            <a:pPr algn="ctr"/>
          </a:p>
        </p:txBody>
      </p:sp>
      <p:cxnSp>
        <p:nvCxnSpPr>
          <p:cNvPr id="14" name="Connector 13"/>
          <p:cNvCxnSpPr/>
          <p:nvPr/>
        </p:nvCxnSpPr>
        <p:spPr>
          <a:xfrm>
            <a:off x="609600" y="412750"/>
            <a:ext cx="10972800" cy="0"/>
          </a:xfrm>
          <a:prstGeom prst="line">
            <a:avLst/>
          </a:prstGeom>
          <a:ln w="12700">
            <a:solidFill>
              <a:srgbClr val="131417"/>
            </a:solidFill>
          </a:ln>
          <a:effectLst/>
        </p:spPr>
      </p:cxnSp>
      <p:cxnSp>
        <p:nvCxnSpPr>
          <p:cNvPr id="15" name="Connector 14"/>
          <p:cNvCxnSpPr/>
          <p:nvPr/>
        </p:nvCxnSpPr>
        <p:spPr>
          <a:xfrm>
            <a:off x="609600" y="2127548"/>
            <a:ext cx="5207000" cy="0"/>
          </a:xfrm>
          <a:prstGeom prst="line">
            <a:avLst/>
          </a:prstGeom>
          <a:ln w="19050">
            <a:solidFill>
              <a:srgbClr val="131417"/>
            </a:solidFill>
          </a:ln>
          <a:effectLst/>
        </p:spPr>
      </p:cxnSp>
      <p:cxnSp>
        <p:nvCxnSpPr>
          <p:cNvPr id="16" name="Connector 15"/>
          <p:cNvCxnSpPr/>
          <p:nvPr/>
        </p:nvCxnSpPr>
        <p:spPr>
          <a:xfrm>
            <a:off x="609600" y="2387898"/>
            <a:ext cx="5207000" cy="0"/>
          </a:xfrm>
          <a:prstGeom prst="line">
            <a:avLst/>
          </a:prstGeom>
          <a:ln w="6350">
            <a:solidFill>
              <a:srgbClr val="E4E4DD"/>
            </a:solidFill>
          </a:ln>
          <a:effectLst/>
        </p:spPr>
      </p:cxnSp>
      <p:cxnSp>
        <p:nvCxnSpPr>
          <p:cNvPr id="17" name="Connector 16"/>
          <p:cNvCxnSpPr/>
          <p:nvPr/>
        </p:nvCxnSpPr>
        <p:spPr>
          <a:xfrm>
            <a:off x="609600" y="2641898"/>
            <a:ext cx="5207000" cy="0"/>
          </a:xfrm>
          <a:prstGeom prst="line">
            <a:avLst/>
          </a:prstGeom>
          <a:ln w="6350">
            <a:solidFill>
              <a:srgbClr val="E4E4DD"/>
            </a:solidFill>
          </a:ln>
          <a:effectLst/>
        </p:spPr>
      </p:cxnSp>
      <p:cxnSp>
        <p:nvCxnSpPr>
          <p:cNvPr id="18" name="Connector 17"/>
          <p:cNvCxnSpPr/>
          <p:nvPr/>
        </p:nvCxnSpPr>
        <p:spPr>
          <a:xfrm>
            <a:off x="609600" y="2895898"/>
            <a:ext cx="5207000" cy="0"/>
          </a:xfrm>
          <a:prstGeom prst="line">
            <a:avLst/>
          </a:prstGeom>
          <a:ln w="6350">
            <a:solidFill>
              <a:srgbClr val="E4E4DD"/>
            </a:solidFill>
          </a:ln>
          <a:effectLst/>
        </p:spPr>
      </p:cxnSp>
      <p:cxnSp>
        <p:nvCxnSpPr>
          <p:cNvPr id="19" name="Connector 18"/>
          <p:cNvCxnSpPr/>
          <p:nvPr/>
        </p:nvCxnSpPr>
        <p:spPr>
          <a:xfrm>
            <a:off x="609600" y="3149898"/>
            <a:ext cx="5207000" cy="0"/>
          </a:xfrm>
          <a:prstGeom prst="line">
            <a:avLst/>
          </a:prstGeom>
          <a:ln w="6350">
            <a:solidFill>
              <a:srgbClr val="E4E4DD"/>
            </a:solidFill>
          </a:ln>
          <a:effectLst/>
        </p:spPr>
      </p:cxnSp>
      <p:cxnSp>
        <p:nvCxnSpPr>
          <p:cNvPr id="20" name="Connector 19"/>
          <p:cNvCxnSpPr/>
          <p:nvPr/>
        </p:nvCxnSpPr>
        <p:spPr>
          <a:xfrm>
            <a:off x="609600" y="3156248"/>
            <a:ext cx="5207000" cy="0"/>
          </a:xfrm>
          <a:prstGeom prst="line">
            <a:avLst/>
          </a:prstGeom>
          <a:ln w="6350">
            <a:solidFill>
              <a:srgbClr val="131417"/>
            </a:solidFill>
          </a:ln>
          <a:effectLst/>
        </p:spPr>
      </p:cxnSp>
      <p:cxnSp>
        <p:nvCxnSpPr>
          <p:cNvPr id="21" name="Connector 20"/>
          <p:cNvCxnSpPr/>
          <p:nvPr/>
        </p:nvCxnSpPr>
        <p:spPr>
          <a:xfrm>
            <a:off x="609600" y="3410248"/>
            <a:ext cx="5207000" cy="0"/>
          </a:xfrm>
          <a:prstGeom prst="line">
            <a:avLst/>
          </a:prstGeom>
          <a:ln w="6350">
            <a:solidFill>
              <a:srgbClr val="E4E4DD"/>
            </a:solidFill>
          </a:ln>
          <a:effectLst/>
        </p:spPr>
      </p:cxnSp>
      <p:cxnSp>
        <p:nvCxnSpPr>
          <p:cNvPr id="22" name="Connector 21"/>
          <p:cNvCxnSpPr/>
          <p:nvPr/>
        </p:nvCxnSpPr>
        <p:spPr>
          <a:xfrm>
            <a:off x="609600" y="3664248"/>
            <a:ext cx="5207000" cy="0"/>
          </a:xfrm>
          <a:prstGeom prst="line">
            <a:avLst/>
          </a:prstGeom>
          <a:ln w="6350">
            <a:solidFill>
              <a:srgbClr val="E4E4DD"/>
            </a:solidFill>
          </a:ln>
          <a:effectLst/>
        </p:spPr>
      </p:cxnSp>
      <p:cxnSp>
        <p:nvCxnSpPr>
          <p:cNvPr id="23" name="Connector 22"/>
          <p:cNvCxnSpPr/>
          <p:nvPr/>
        </p:nvCxnSpPr>
        <p:spPr>
          <a:xfrm>
            <a:off x="609600" y="3673773"/>
            <a:ext cx="5207000" cy="0"/>
          </a:xfrm>
          <a:prstGeom prst="line">
            <a:avLst/>
          </a:prstGeom>
          <a:ln w="12700">
            <a:solidFill>
              <a:srgbClr val="131417"/>
            </a:solidFill>
          </a:ln>
          <a:effectLst/>
        </p:spPr>
      </p:cxnSp>
      <p:cxnSp>
        <p:nvCxnSpPr>
          <p:cNvPr id="24" name="Connector 23"/>
          <p:cNvCxnSpPr/>
          <p:nvPr/>
        </p:nvCxnSpPr>
        <p:spPr>
          <a:xfrm>
            <a:off x="609600" y="3699173"/>
            <a:ext cx="5207000" cy="0"/>
          </a:xfrm>
          <a:prstGeom prst="line">
            <a:avLst/>
          </a:prstGeom>
          <a:ln w="12700">
            <a:solidFill>
              <a:srgbClr val="131417"/>
            </a:solidFill>
          </a:ln>
          <a:effectLst/>
        </p:spPr>
      </p:cxnSp>
      <p:cxnSp>
        <p:nvCxnSpPr>
          <p:cNvPr id="25" name="Connector 24"/>
          <p:cNvCxnSpPr/>
          <p:nvPr/>
        </p:nvCxnSpPr>
        <p:spPr>
          <a:xfrm>
            <a:off x="6823529" y="4228944"/>
            <a:ext cx="4587119" cy="0"/>
          </a:xfrm>
          <a:prstGeom prst="line">
            <a:avLst/>
          </a:prstGeom>
          <a:ln w="12397">
            <a:solidFill>
              <a:srgbClr val="E4E4DD"/>
            </a:solidFill>
          </a:ln>
          <a:effectLst/>
        </p:spPr>
      </p:cxnSp>
      <p:cxnSp>
        <p:nvCxnSpPr>
          <p:cNvPr id="26" name="Connector 25"/>
          <p:cNvCxnSpPr/>
          <p:nvPr/>
        </p:nvCxnSpPr>
        <p:spPr>
          <a:xfrm flipV="1">
            <a:off x="6823529" y="2369301"/>
            <a:ext cx="0" cy="1859643"/>
          </a:xfrm>
          <a:prstGeom prst="line">
            <a:avLst/>
          </a:prstGeom>
          <a:ln w="12397">
            <a:solidFill>
              <a:srgbClr val="E4E4DD"/>
            </a:solidFill>
          </a:ln>
          <a:effectLst/>
        </p:spPr>
      </p:cxnSp>
      <p:sp>
        <p:nvSpPr>
          <p:cNvPr id="27" name="Rectangle 26"/>
          <p:cNvSpPr/>
          <p:nvPr/>
        </p:nvSpPr>
        <p:spPr>
          <a:xfrm>
            <a:off x="6823529" y="2741230"/>
            <a:ext cx="4463143" cy="297543"/>
          </a:xfrm>
          <a:prstGeom prst="rect">
            <a:avLst/>
          </a:prstGeom>
          <a:solidFill>
            <a:srgbClr val="2E4B3F"/>
          </a:solidFill>
          <a:ln>
            <a:noFill/>
          </a:ln>
          <a:effectLst/>
        </p:spPr>
        <p:txBody>
          <a:bodyPr rtlCol="0" anchor="ctr"/>
          <a:lstStyle/>
          <a:p>
            <a:pPr algn="ctr"/>
          </a:p>
        </p:txBody>
      </p:sp>
      <p:sp>
        <p:nvSpPr>
          <p:cNvPr id="28" name="Rectangle 27"/>
          <p:cNvSpPr/>
          <p:nvPr/>
        </p:nvSpPr>
        <p:spPr>
          <a:xfrm>
            <a:off x="6823529" y="3633858"/>
            <a:ext cx="223157" cy="297543"/>
          </a:xfrm>
          <a:prstGeom prst="rect">
            <a:avLst/>
          </a:prstGeom>
          <a:solidFill>
            <a:srgbClr val="2F4FA2"/>
          </a:solidFill>
          <a:ln>
            <a:noFill/>
          </a:ln>
          <a:effectLst/>
        </p:spPr>
        <p:txBody>
          <a:bodyPr rtlCol="0" anchor="ctr"/>
          <a:lstStyle/>
          <a:p>
            <a:pPr algn="ctr"/>
          </a:p>
        </p:txBody>
      </p:sp>
      <p:sp>
        <p:nvSpPr>
          <p:cNvPr id="29" name="Rectangle 28"/>
          <p:cNvSpPr/>
          <p:nvPr/>
        </p:nvSpPr>
        <p:spPr>
          <a:xfrm>
            <a:off x="7046686" y="3633858"/>
            <a:ext cx="4239986" cy="297543"/>
          </a:xfrm>
          <a:prstGeom prst="rect">
            <a:avLst/>
          </a:prstGeom>
          <a:pattFill prst="ltDnDiag">
            <a:fgClr>
              <a:srgbClr val="C5AC80"/>
            </a:fgClr>
            <a:bgClr>
              <a:srgbClr val="F7F7F3"/>
            </a:bgClr>
          </a:pattFill>
          <a:ln w="9918">
            <a:solidFill>
              <a:srgbClr val="B79861"/>
            </a:solidFill>
          </a:ln>
          <a:effectLst/>
        </p:spPr>
        <p:txBody>
          <a:bodyPr rtlCol="0" anchor="ctr"/>
          <a:lstStyle/>
          <a:p>
            <a:pPr algn="ctr"/>
          </a:p>
        </p:txBody>
      </p:sp>
      <p:sp>
        <p:nvSpPr>
          <p:cNvPr id="30" name="TextBox 29"/>
          <p:cNvSpPr txBox="1"/>
          <p:nvPr/>
        </p:nvSpPr>
        <p:spPr>
          <a:xfrm>
            <a:off x="596900" y="787400"/>
            <a:ext cx="599777" cy="158750"/>
          </a:xfrm>
          <a:prstGeom prst="rect">
            <a:avLst/>
          </a:prstGeom>
          <a:noFill/>
        </p:spPr>
        <p:txBody>
          <a:bodyPr wrap="none" lIns="0" rIns="0" tIns="0" bIns="0">
            <a:noAutofit/>
          </a:bodyPr>
          <a:lstStyle/>
          <a:p>
            <a:pPr>
              <a:spcBef>
                <a:spcPts val="0"/>
              </a:spcBef>
              <a:spcAft>
                <a:spcPts val="0"/>
              </a:spcAft>
            </a:pPr>
            <a:r>
              <a:rPr sz="950" b="1" spc="76">
                <a:solidFill>
                  <a:srgbClr val="D93A1F"/>
                </a:solidFill>
                <a:latin typeface="Spline Sans Mono"/>
              </a:rPr>
              <a:t>FIG. 05</a:t>
            </a:r>
          </a:p>
        </p:txBody>
      </p:sp>
      <p:sp>
        <p:nvSpPr>
          <p:cNvPr id="31" name="TextBox 30"/>
          <p:cNvSpPr txBox="1"/>
          <p:nvPr/>
        </p:nvSpPr>
        <p:spPr>
          <a:xfrm>
            <a:off x="1349077" y="539750"/>
            <a:ext cx="3588345" cy="441623"/>
          </a:xfrm>
          <a:prstGeom prst="rect">
            <a:avLst/>
          </a:prstGeom>
          <a:noFill/>
        </p:spPr>
        <p:txBody>
          <a:bodyPr wrap="none" lIns="0" rIns="0" tIns="0" bIns="0">
            <a:noAutofit/>
          </a:bodyPr>
          <a:lstStyle/>
          <a:p>
            <a:pPr>
              <a:lnSpc>
                <a:spcPts val="3328"/>
              </a:lnSpc>
              <a:spcBef>
                <a:spcPts val="0"/>
              </a:spcBef>
              <a:spcAft>
                <a:spcPts val="0"/>
              </a:spcAft>
            </a:pPr>
            <a:r>
              <a:rPr sz="3200" b="0">
                <a:solidFill>
                  <a:srgbClr val="131417"/>
                </a:solidFill>
                <a:latin typeface="Gloock"/>
              </a:rPr>
              <a:t>The Financial Case</a:t>
            </a:r>
          </a:p>
        </p:txBody>
      </p:sp>
      <p:sp>
        <p:nvSpPr>
          <p:cNvPr id="32" name="TextBox 31"/>
          <p:cNvSpPr txBox="1"/>
          <p:nvPr/>
        </p:nvSpPr>
        <p:spPr>
          <a:xfrm>
            <a:off x="9116020" y="806450"/>
            <a:ext cx="2479080" cy="139700"/>
          </a:xfrm>
          <a:prstGeom prst="rect">
            <a:avLst/>
          </a:prstGeom>
          <a:noFill/>
        </p:spPr>
        <p:txBody>
          <a:bodyPr wrap="none" lIns="0" rIns="0" tIns="0" bIns="0">
            <a:noAutofit/>
          </a:bodyPr>
          <a:lstStyle/>
          <a:p>
            <a:pPr>
              <a:spcBef>
                <a:spcPts val="0"/>
              </a:spcBef>
              <a:spcAft>
                <a:spcPts val="0"/>
              </a:spcAft>
            </a:pPr>
            <a:r>
              <a:rPr sz="800" b="0" spc="72">
                <a:solidFill>
                  <a:srgbClr val="84867E"/>
                </a:solidFill>
                <a:latin typeface="Spline Sans Mono"/>
              </a:rPr>
              <a:t>ONE WORKFLOW, QUANTIFIED END TO END</a:t>
            </a:r>
          </a:p>
        </p:txBody>
      </p:sp>
      <p:sp>
        <p:nvSpPr>
          <p:cNvPr id="33" name="TextBox 32"/>
          <p:cNvSpPr txBox="1"/>
          <p:nvPr/>
        </p:nvSpPr>
        <p:spPr>
          <a:xfrm>
            <a:off x="596900" y="2206923"/>
            <a:ext cx="381000" cy="133350"/>
          </a:xfrm>
          <a:prstGeom prst="rect">
            <a:avLst/>
          </a:prstGeom>
          <a:noFill/>
        </p:spPr>
        <p:txBody>
          <a:bodyPr wrap="none" lIns="0" rIns="0" tIns="0" bIns="0">
            <a:noAutofit/>
          </a:bodyPr>
          <a:lstStyle/>
          <a:p>
            <a:pPr>
              <a:spcBef>
                <a:spcPts val="0"/>
              </a:spcBef>
              <a:spcAft>
                <a:spcPts val="0"/>
              </a:spcAft>
            </a:pPr>
            <a:r>
              <a:rPr sz="750" b="0" spc="45">
                <a:solidFill>
                  <a:srgbClr val="84867E"/>
                </a:solidFill>
                <a:latin typeface="Spline Sans Mono"/>
              </a:rPr>
              <a:t>L-01</a:t>
            </a:r>
          </a:p>
        </p:txBody>
      </p:sp>
      <p:sp>
        <p:nvSpPr>
          <p:cNvPr id="34" name="TextBox 33"/>
          <p:cNvSpPr txBox="1"/>
          <p:nvPr/>
        </p:nvSpPr>
        <p:spPr>
          <a:xfrm>
            <a:off x="1054100" y="2187873"/>
            <a:ext cx="1214140" cy="152400"/>
          </a:xfrm>
          <a:prstGeom prst="rect">
            <a:avLst/>
          </a:prstGeom>
          <a:noFill/>
        </p:spPr>
        <p:txBody>
          <a:bodyPr wrap="none" lIns="0" rIns="0" tIns="0" bIns="0">
            <a:noAutofit/>
          </a:bodyPr>
          <a:lstStyle/>
          <a:p>
            <a:pPr>
              <a:spcBef>
                <a:spcPts val="0"/>
              </a:spcBef>
              <a:spcAft>
                <a:spcPts val="0"/>
              </a:spcAft>
            </a:pPr>
            <a:r>
              <a:rPr sz="900" b="0" spc="45">
                <a:solidFill>
                  <a:srgbClr val="131417"/>
                </a:solidFill>
                <a:latin typeface="Spline Sans Mono"/>
              </a:rPr>
              <a:t>CURRENT WORKFLOW</a:t>
            </a:r>
          </a:p>
        </p:txBody>
      </p:sp>
      <p:sp>
        <p:nvSpPr>
          <p:cNvPr id="35" name="TextBox 34"/>
          <p:cNvSpPr txBox="1"/>
          <p:nvPr/>
        </p:nvSpPr>
        <p:spPr>
          <a:xfrm>
            <a:off x="4095055" y="2187873"/>
            <a:ext cx="1734245" cy="152400"/>
          </a:xfrm>
          <a:prstGeom prst="rect">
            <a:avLst/>
          </a:prstGeom>
          <a:noFill/>
        </p:spPr>
        <p:txBody>
          <a:bodyPr wrap="none" lIns="0" rIns="0" tIns="0" bIns="0">
            <a:noAutofit/>
          </a:bodyPr>
          <a:lstStyle/>
          <a:p>
            <a:pPr>
              <a:spcBef>
                <a:spcPts val="0"/>
              </a:spcBef>
              <a:spcAft>
                <a:spcPts val="0"/>
              </a:spcAft>
            </a:pPr>
            <a:r>
              <a:rPr sz="900" b="1" spc="45">
                <a:solidFill>
                  <a:srgbClr val="9C6F22"/>
                </a:solidFill>
                <a:latin typeface="Spline Sans Mono"/>
              </a:rPr>
              <a:t>20 MIN / DAY / EMPLOYEE</a:t>
            </a:r>
          </a:p>
        </p:txBody>
      </p:sp>
      <p:sp>
        <p:nvSpPr>
          <p:cNvPr id="36" name="TextBox 35"/>
          <p:cNvSpPr txBox="1"/>
          <p:nvPr/>
        </p:nvSpPr>
        <p:spPr>
          <a:xfrm>
            <a:off x="596900" y="2460923"/>
            <a:ext cx="381000" cy="133350"/>
          </a:xfrm>
          <a:prstGeom prst="rect">
            <a:avLst/>
          </a:prstGeom>
          <a:noFill/>
        </p:spPr>
        <p:txBody>
          <a:bodyPr wrap="none" lIns="0" rIns="0" tIns="0" bIns="0">
            <a:noAutofit/>
          </a:bodyPr>
          <a:lstStyle/>
          <a:p>
            <a:pPr>
              <a:spcBef>
                <a:spcPts val="0"/>
              </a:spcBef>
              <a:spcAft>
                <a:spcPts val="0"/>
              </a:spcAft>
            </a:pPr>
            <a:r>
              <a:rPr sz="750" b="0" spc="45">
                <a:solidFill>
                  <a:srgbClr val="84867E"/>
                </a:solidFill>
                <a:latin typeface="Spline Sans Mono"/>
              </a:rPr>
              <a:t>L-02</a:t>
            </a:r>
          </a:p>
        </p:txBody>
      </p:sp>
      <p:sp>
        <p:nvSpPr>
          <p:cNvPr id="37" name="TextBox 36"/>
          <p:cNvSpPr txBox="1"/>
          <p:nvPr/>
        </p:nvSpPr>
        <p:spPr>
          <a:xfrm>
            <a:off x="1054100" y="2441873"/>
            <a:ext cx="768449" cy="152400"/>
          </a:xfrm>
          <a:prstGeom prst="rect">
            <a:avLst/>
          </a:prstGeom>
          <a:noFill/>
        </p:spPr>
        <p:txBody>
          <a:bodyPr wrap="none" lIns="0" rIns="0" tIns="0" bIns="0">
            <a:noAutofit/>
          </a:bodyPr>
          <a:lstStyle/>
          <a:p>
            <a:pPr>
              <a:spcBef>
                <a:spcPts val="0"/>
              </a:spcBef>
              <a:spcAft>
                <a:spcPts val="0"/>
              </a:spcAft>
            </a:pPr>
            <a:r>
              <a:rPr sz="900" b="0" spc="45">
                <a:solidFill>
                  <a:srgbClr val="131417"/>
                </a:solidFill>
                <a:latin typeface="Spline Sans Mono"/>
              </a:rPr>
              <a:t>REDESIGNED</a:t>
            </a:r>
          </a:p>
        </p:txBody>
      </p:sp>
      <p:sp>
        <p:nvSpPr>
          <p:cNvPr id="38" name="TextBox 37"/>
          <p:cNvSpPr txBox="1"/>
          <p:nvPr/>
        </p:nvSpPr>
        <p:spPr>
          <a:xfrm>
            <a:off x="4986635" y="2441873"/>
            <a:ext cx="842665" cy="152400"/>
          </a:xfrm>
          <a:prstGeom prst="rect">
            <a:avLst/>
          </a:prstGeom>
          <a:noFill/>
        </p:spPr>
        <p:txBody>
          <a:bodyPr wrap="none" lIns="0" rIns="0" tIns="0" bIns="0">
            <a:noAutofit/>
          </a:bodyPr>
          <a:lstStyle/>
          <a:p>
            <a:pPr>
              <a:spcBef>
                <a:spcPts val="0"/>
              </a:spcBef>
              <a:spcAft>
                <a:spcPts val="0"/>
              </a:spcAft>
            </a:pPr>
            <a:r>
              <a:rPr sz="900" b="1" spc="45">
                <a:solidFill>
                  <a:srgbClr val="9C6F22"/>
                </a:solidFill>
                <a:latin typeface="Spline Sans Mono"/>
              </a:rPr>
              <a:t>1 MIN / DAY</a:t>
            </a:r>
          </a:p>
        </p:txBody>
      </p:sp>
      <p:sp>
        <p:nvSpPr>
          <p:cNvPr id="39" name="TextBox 38"/>
          <p:cNvSpPr txBox="1"/>
          <p:nvPr/>
        </p:nvSpPr>
        <p:spPr>
          <a:xfrm>
            <a:off x="596900" y="2714923"/>
            <a:ext cx="381000" cy="133350"/>
          </a:xfrm>
          <a:prstGeom prst="rect">
            <a:avLst/>
          </a:prstGeom>
          <a:noFill/>
        </p:spPr>
        <p:txBody>
          <a:bodyPr wrap="none" lIns="0" rIns="0" tIns="0" bIns="0">
            <a:noAutofit/>
          </a:bodyPr>
          <a:lstStyle/>
          <a:p>
            <a:pPr>
              <a:spcBef>
                <a:spcPts val="0"/>
              </a:spcBef>
              <a:spcAft>
                <a:spcPts val="0"/>
              </a:spcAft>
            </a:pPr>
            <a:r>
              <a:rPr sz="750" b="0" spc="45">
                <a:solidFill>
                  <a:srgbClr val="84867E"/>
                </a:solidFill>
                <a:latin typeface="Spline Sans Mono"/>
              </a:rPr>
              <a:t>L-03</a:t>
            </a:r>
          </a:p>
        </p:txBody>
      </p:sp>
      <p:sp>
        <p:nvSpPr>
          <p:cNvPr id="40" name="TextBox 39"/>
          <p:cNvSpPr txBox="1"/>
          <p:nvPr/>
        </p:nvSpPr>
        <p:spPr>
          <a:xfrm>
            <a:off x="1054100" y="2695873"/>
            <a:ext cx="991295" cy="152400"/>
          </a:xfrm>
          <a:prstGeom prst="rect">
            <a:avLst/>
          </a:prstGeom>
          <a:noFill/>
        </p:spPr>
        <p:txBody>
          <a:bodyPr wrap="none" lIns="0" rIns="0" tIns="0" bIns="0">
            <a:noAutofit/>
          </a:bodyPr>
          <a:lstStyle/>
          <a:p>
            <a:pPr>
              <a:spcBef>
                <a:spcPts val="0"/>
              </a:spcBef>
              <a:spcAft>
                <a:spcPts val="0"/>
              </a:spcAft>
            </a:pPr>
            <a:r>
              <a:rPr sz="900" b="0" spc="45">
                <a:solidFill>
                  <a:srgbClr val="131417"/>
                </a:solidFill>
                <a:latin typeface="Spline Sans Mono"/>
              </a:rPr>
              <a:t>TIME RETURNED</a:t>
            </a:r>
          </a:p>
        </p:txBody>
      </p:sp>
      <p:sp>
        <p:nvSpPr>
          <p:cNvPr id="41" name="TextBox 40"/>
          <p:cNvSpPr txBox="1"/>
          <p:nvPr/>
        </p:nvSpPr>
        <p:spPr>
          <a:xfrm>
            <a:off x="4912320" y="2695873"/>
            <a:ext cx="916980" cy="152400"/>
          </a:xfrm>
          <a:prstGeom prst="rect">
            <a:avLst/>
          </a:prstGeom>
          <a:noFill/>
        </p:spPr>
        <p:txBody>
          <a:bodyPr wrap="none" lIns="0" rIns="0" tIns="0" bIns="0">
            <a:noAutofit/>
          </a:bodyPr>
          <a:lstStyle/>
          <a:p>
            <a:pPr>
              <a:spcBef>
                <a:spcPts val="0"/>
              </a:spcBef>
              <a:spcAft>
                <a:spcPts val="0"/>
              </a:spcAft>
            </a:pPr>
            <a:r>
              <a:rPr sz="900" b="1" spc="45">
                <a:solidFill>
                  <a:srgbClr val="9C6F22"/>
                </a:solidFill>
                <a:latin typeface="Spline Sans Mono"/>
              </a:rPr>
              <a:t>19 MIN / DAY</a:t>
            </a:r>
          </a:p>
        </p:txBody>
      </p:sp>
      <p:sp>
        <p:nvSpPr>
          <p:cNvPr id="42" name="TextBox 41"/>
          <p:cNvSpPr txBox="1"/>
          <p:nvPr/>
        </p:nvSpPr>
        <p:spPr>
          <a:xfrm>
            <a:off x="596900" y="2968923"/>
            <a:ext cx="381000" cy="133350"/>
          </a:xfrm>
          <a:prstGeom prst="rect">
            <a:avLst/>
          </a:prstGeom>
          <a:noFill/>
        </p:spPr>
        <p:txBody>
          <a:bodyPr wrap="none" lIns="0" rIns="0" tIns="0" bIns="0">
            <a:noAutofit/>
          </a:bodyPr>
          <a:lstStyle/>
          <a:p>
            <a:pPr>
              <a:spcBef>
                <a:spcPts val="0"/>
              </a:spcBef>
              <a:spcAft>
                <a:spcPts val="0"/>
              </a:spcAft>
            </a:pPr>
            <a:r>
              <a:rPr sz="750" b="0" spc="45">
                <a:solidFill>
                  <a:srgbClr val="84867E"/>
                </a:solidFill>
                <a:latin typeface="Spline Sans Mono"/>
              </a:rPr>
              <a:t>L-04</a:t>
            </a:r>
          </a:p>
        </p:txBody>
      </p:sp>
      <p:sp>
        <p:nvSpPr>
          <p:cNvPr id="43" name="TextBox 42"/>
          <p:cNvSpPr txBox="1"/>
          <p:nvPr/>
        </p:nvSpPr>
        <p:spPr>
          <a:xfrm>
            <a:off x="1054100" y="2949873"/>
            <a:ext cx="619820" cy="152400"/>
          </a:xfrm>
          <a:prstGeom prst="rect">
            <a:avLst/>
          </a:prstGeom>
          <a:noFill/>
        </p:spPr>
        <p:txBody>
          <a:bodyPr wrap="none" lIns="0" rIns="0" tIns="0" bIns="0">
            <a:noAutofit/>
          </a:bodyPr>
          <a:lstStyle/>
          <a:p>
            <a:pPr>
              <a:spcBef>
                <a:spcPts val="0"/>
              </a:spcBef>
              <a:spcAft>
                <a:spcPts val="0"/>
              </a:spcAft>
            </a:pPr>
            <a:r>
              <a:rPr sz="900" b="0" spc="45">
                <a:solidFill>
                  <a:srgbClr val="131417"/>
                </a:solidFill>
                <a:latin typeface="Spline Sans Mono"/>
              </a:rPr>
              <a:t>AT SCALE</a:t>
            </a:r>
          </a:p>
        </p:txBody>
      </p:sp>
      <p:sp>
        <p:nvSpPr>
          <p:cNvPr id="44" name="TextBox 43"/>
          <p:cNvSpPr txBox="1"/>
          <p:nvPr/>
        </p:nvSpPr>
        <p:spPr>
          <a:xfrm>
            <a:off x="3946426" y="2949873"/>
            <a:ext cx="1882874" cy="152400"/>
          </a:xfrm>
          <a:prstGeom prst="rect">
            <a:avLst/>
          </a:prstGeom>
          <a:noFill/>
        </p:spPr>
        <p:txBody>
          <a:bodyPr wrap="none" lIns="0" rIns="0" tIns="0" bIns="0">
            <a:noAutofit/>
          </a:bodyPr>
          <a:lstStyle/>
          <a:p>
            <a:pPr>
              <a:spcBef>
                <a:spcPts val="0"/>
              </a:spcBef>
              <a:spcAft>
                <a:spcPts val="0"/>
              </a:spcAft>
            </a:pPr>
            <a:r>
              <a:rPr sz="900" b="1" spc="45">
                <a:solidFill>
                  <a:srgbClr val="9C6F22"/>
                </a:solidFill>
                <a:latin typeface="Spline Sans Mono"/>
              </a:rPr>
              <a:t>× 10 EMPLOYEES × 260 DAYS</a:t>
            </a:r>
          </a:p>
        </p:txBody>
      </p:sp>
      <p:sp>
        <p:nvSpPr>
          <p:cNvPr id="45" name="TextBox 44"/>
          <p:cNvSpPr txBox="1"/>
          <p:nvPr/>
        </p:nvSpPr>
        <p:spPr>
          <a:xfrm>
            <a:off x="596900" y="3229273"/>
            <a:ext cx="381000" cy="133350"/>
          </a:xfrm>
          <a:prstGeom prst="rect">
            <a:avLst/>
          </a:prstGeom>
          <a:noFill/>
        </p:spPr>
        <p:txBody>
          <a:bodyPr wrap="none" lIns="0" rIns="0" tIns="0" bIns="0">
            <a:noAutofit/>
          </a:bodyPr>
          <a:lstStyle/>
          <a:p>
            <a:pPr>
              <a:spcBef>
                <a:spcPts val="0"/>
              </a:spcBef>
              <a:spcAft>
                <a:spcPts val="0"/>
              </a:spcAft>
            </a:pPr>
            <a:r>
              <a:rPr sz="750" b="0" spc="45">
                <a:solidFill>
                  <a:srgbClr val="84867E"/>
                </a:solidFill>
                <a:latin typeface="Spline Sans Mono"/>
              </a:rPr>
              <a:t>L-05</a:t>
            </a:r>
          </a:p>
        </p:txBody>
      </p:sp>
      <p:sp>
        <p:nvSpPr>
          <p:cNvPr id="46" name="TextBox 45"/>
          <p:cNvSpPr txBox="1"/>
          <p:nvPr/>
        </p:nvSpPr>
        <p:spPr>
          <a:xfrm>
            <a:off x="1054100" y="3210223"/>
            <a:ext cx="694134" cy="152400"/>
          </a:xfrm>
          <a:prstGeom prst="rect">
            <a:avLst/>
          </a:prstGeom>
          <a:noFill/>
        </p:spPr>
        <p:txBody>
          <a:bodyPr wrap="none" lIns="0" rIns="0" tIns="0" bIns="0">
            <a:noAutofit/>
          </a:bodyPr>
          <a:lstStyle/>
          <a:p>
            <a:pPr>
              <a:spcBef>
                <a:spcPts val="0"/>
              </a:spcBef>
              <a:spcAft>
                <a:spcPts val="0"/>
              </a:spcAft>
            </a:pPr>
            <a:r>
              <a:rPr sz="900" b="0" spc="45">
                <a:solidFill>
                  <a:srgbClr val="131417"/>
                </a:solidFill>
                <a:latin typeface="Spline Sans Mono"/>
              </a:rPr>
              <a:t>RECOVERED</a:t>
            </a:r>
          </a:p>
        </p:txBody>
      </p:sp>
      <p:sp>
        <p:nvSpPr>
          <p:cNvPr id="47" name="TextBox 46"/>
          <p:cNvSpPr txBox="1"/>
          <p:nvPr/>
        </p:nvSpPr>
        <p:spPr>
          <a:xfrm>
            <a:off x="4689376" y="3210223"/>
            <a:ext cx="1139924" cy="152400"/>
          </a:xfrm>
          <a:prstGeom prst="rect">
            <a:avLst/>
          </a:prstGeom>
          <a:noFill/>
        </p:spPr>
        <p:txBody>
          <a:bodyPr wrap="none" lIns="0" rIns="0" tIns="0" bIns="0">
            <a:noAutofit/>
          </a:bodyPr>
          <a:lstStyle/>
          <a:p>
            <a:pPr>
              <a:spcBef>
                <a:spcPts val="0"/>
              </a:spcBef>
              <a:spcAft>
                <a:spcPts val="0"/>
              </a:spcAft>
            </a:pPr>
            <a:r>
              <a:rPr sz="900" b="1" spc="45">
                <a:solidFill>
                  <a:srgbClr val="9C6F22"/>
                </a:solidFill>
                <a:latin typeface="Spline Sans Mono"/>
              </a:rPr>
              <a:t>49,400 MIN / YR</a:t>
            </a:r>
          </a:p>
        </p:txBody>
      </p:sp>
      <p:sp>
        <p:nvSpPr>
          <p:cNvPr id="48" name="TextBox 47"/>
          <p:cNvSpPr txBox="1"/>
          <p:nvPr/>
        </p:nvSpPr>
        <p:spPr>
          <a:xfrm>
            <a:off x="596900" y="3483273"/>
            <a:ext cx="381000" cy="133350"/>
          </a:xfrm>
          <a:prstGeom prst="rect">
            <a:avLst/>
          </a:prstGeom>
          <a:noFill/>
        </p:spPr>
        <p:txBody>
          <a:bodyPr wrap="none" lIns="0" rIns="0" tIns="0" bIns="0">
            <a:noAutofit/>
          </a:bodyPr>
          <a:lstStyle/>
          <a:p>
            <a:pPr>
              <a:spcBef>
                <a:spcPts val="0"/>
              </a:spcBef>
              <a:spcAft>
                <a:spcPts val="0"/>
              </a:spcAft>
            </a:pPr>
            <a:r>
              <a:rPr sz="750" b="0" spc="45">
                <a:solidFill>
                  <a:srgbClr val="84867E"/>
                </a:solidFill>
                <a:latin typeface="Spline Sans Mono"/>
              </a:rPr>
              <a:t>L-06</a:t>
            </a:r>
          </a:p>
        </p:txBody>
      </p:sp>
      <p:sp>
        <p:nvSpPr>
          <p:cNvPr id="49" name="TextBox 48"/>
          <p:cNvSpPr txBox="1"/>
          <p:nvPr/>
        </p:nvSpPr>
        <p:spPr>
          <a:xfrm>
            <a:off x="1054100" y="3464223"/>
            <a:ext cx="619820" cy="152400"/>
          </a:xfrm>
          <a:prstGeom prst="rect">
            <a:avLst/>
          </a:prstGeom>
          <a:noFill/>
        </p:spPr>
        <p:txBody>
          <a:bodyPr wrap="none" lIns="0" rIns="0" tIns="0" bIns="0">
            <a:noAutofit/>
          </a:bodyPr>
          <a:lstStyle/>
          <a:p>
            <a:pPr>
              <a:spcBef>
                <a:spcPts val="0"/>
              </a:spcBef>
              <a:spcAft>
                <a:spcPts val="0"/>
              </a:spcAft>
            </a:pPr>
            <a:r>
              <a:rPr sz="900" b="0" spc="45">
                <a:solidFill>
                  <a:srgbClr val="131417"/>
                </a:solidFill>
                <a:latin typeface="Spline Sans Mono"/>
              </a:rPr>
              <a:t>IN HOURS</a:t>
            </a:r>
          </a:p>
        </p:txBody>
      </p:sp>
      <p:sp>
        <p:nvSpPr>
          <p:cNvPr id="50" name="TextBox 49"/>
          <p:cNvSpPr txBox="1"/>
          <p:nvPr/>
        </p:nvSpPr>
        <p:spPr>
          <a:xfrm>
            <a:off x="4912320" y="3464223"/>
            <a:ext cx="916980" cy="152400"/>
          </a:xfrm>
          <a:prstGeom prst="rect">
            <a:avLst/>
          </a:prstGeom>
          <a:noFill/>
        </p:spPr>
        <p:txBody>
          <a:bodyPr wrap="none" lIns="0" rIns="0" tIns="0" bIns="0">
            <a:noAutofit/>
          </a:bodyPr>
          <a:lstStyle/>
          <a:p>
            <a:pPr>
              <a:spcBef>
                <a:spcPts val="0"/>
              </a:spcBef>
              <a:spcAft>
                <a:spcPts val="0"/>
              </a:spcAft>
            </a:pPr>
            <a:r>
              <a:rPr sz="900" b="1" spc="45">
                <a:solidFill>
                  <a:srgbClr val="9C6F22"/>
                </a:solidFill>
                <a:latin typeface="Spline Sans Mono"/>
              </a:rPr>
              <a:t>823 HRS / YR</a:t>
            </a:r>
          </a:p>
        </p:txBody>
      </p:sp>
      <p:sp>
        <p:nvSpPr>
          <p:cNvPr id="51" name="TextBox 50"/>
          <p:cNvSpPr txBox="1"/>
          <p:nvPr/>
        </p:nvSpPr>
        <p:spPr>
          <a:xfrm>
            <a:off x="596900" y="4092873"/>
            <a:ext cx="1405037" cy="146050"/>
          </a:xfrm>
          <a:prstGeom prst="rect">
            <a:avLst/>
          </a:prstGeom>
          <a:noFill/>
        </p:spPr>
        <p:txBody>
          <a:bodyPr wrap="none" lIns="0" rIns="0" tIns="0" bIns="0">
            <a:noAutofit/>
          </a:bodyPr>
          <a:lstStyle/>
          <a:p>
            <a:pPr>
              <a:spcBef>
                <a:spcPts val="0"/>
              </a:spcBef>
              <a:spcAft>
                <a:spcPts val="0"/>
              </a:spcAft>
            </a:pPr>
            <a:r>
              <a:rPr sz="850" b="1" spc="94">
                <a:solidFill>
                  <a:srgbClr val="131417"/>
                </a:solidFill>
                <a:latin typeface="Spline Sans Mono"/>
              </a:rPr>
              <a:t>CAPACITY RECOVERED</a:t>
            </a:r>
          </a:p>
        </p:txBody>
      </p:sp>
      <p:sp>
        <p:nvSpPr>
          <p:cNvPr id="52" name="TextBox 51"/>
          <p:cNvSpPr txBox="1"/>
          <p:nvPr/>
        </p:nvSpPr>
        <p:spPr>
          <a:xfrm>
            <a:off x="4050506" y="3851573"/>
            <a:ext cx="1778794" cy="444500"/>
          </a:xfrm>
          <a:prstGeom prst="rect">
            <a:avLst/>
          </a:prstGeom>
          <a:noFill/>
        </p:spPr>
        <p:txBody>
          <a:bodyPr wrap="none" lIns="0" rIns="0" tIns="0" bIns="0">
            <a:noAutofit/>
          </a:bodyPr>
          <a:lstStyle/>
          <a:p>
            <a:pPr>
              <a:spcBef>
                <a:spcPts val="0"/>
              </a:spcBef>
              <a:spcAft>
                <a:spcPts val="0"/>
              </a:spcAft>
            </a:pPr>
            <a:r>
              <a:rPr sz="2800" b="1" spc="45">
                <a:solidFill>
                  <a:srgbClr val="9C6F22"/>
                </a:solidFill>
                <a:latin typeface="Spline Sans Mono"/>
              </a:rPr>
              <a:t>≈$61,725</a:t>
            </a:r>
          </a:p>
        </p:txBody>
      </p:sp>
      <p:sp>
        <p:nvSpPr>
          <p:cNvPr id="53" name="TextBox 52"/>
          <p:cNvSpPr txBox="1"/>
          <p:nvPr/>
        </p:nvSpPr>
        <p:spPr>
          <a:xfrm>
            <a:off x="596900" y="4365923"/>
            <a:ext cx="5232400" cy="120650"/>
          </a:xfrm>
          <a:prstGeom prst="rect">
            <a:avLst/>
          </a:prstGeom>
          <a:noFill/>
        </p:spPr>
        <p:txBody>
          <a:bodyPr wrap="none" lIns="0" rIns="0" tIns="0" bIns="0">
            <a:noAutofit/>
          </a:bodyPr>
          <a:lstStyle/>
          <a:p>
            <a:pPr>
              <a:spcBef>
                <a:spcPts val="0"/>
              </a:spcBef>
              <a:spcAft>
                <a:spcPts val="0"/>
              </a:spcAft>
            </a:pPr>
            <a:r>
              <a:rPr sz="700" b="0" spc="45">
                <a:solidFill>
                  <a:srgbClr val="84867E"/>
                </a:solidFill>
                <a:latin typeface="Spline Sans Mono"/>
              </a:rPr>
              <a:t>AT A ≈$75/HR LOADED RATE · FROM ONE WORKFLOW</a:t>
            </a:r>
          </a:p>
        </p:txBody>
      </p:sp>
      <p:sp>
        <p:nvSpPr>
          <p:cNvPr id="54" name="TextBox 53"/>
          <p:cNvSpPr txBox="1"/>
          <p:nvPr/>
        </p:nvSpPr>
        <p:spPr>
          <a:xfrm>
            <a:off x="596900" y="4569123"/>
            <a:ext cx="5232400" cy="139700"/>
          </a:xfrm>
          <a:prstGeom prst="rect">
            <a:avLst/>
          </a:prstGeom>
          <a:noFill/>
        </p:spPr>
        <p:txBody>
          <a:bodyPr wrap="none" lIns="0" rIns="0" tIns="0" bIns="0">
            <a:noAutofit/>
          </a:bodyPr>
          <a:lstStyle/>
          <a:p>
            <a:pPr>
              <a:spcBef>
                <a:spcPts val="0"/>
              </a:spcBef>
              <a:spcAft>
                <a:spcPts val="0"/>
              </a:spcAft>
            </a:pPr>
            <a:r>
              <a:rPr sz="800" b="0" spc="45">
                <a:solidFill>
                  <a:srgbClr val="2E4B3F"/>
                </a:solidFill>
                <a:latin typeface="Spline Sans Mono"/>
              </a:rPr>
              <a:t>REDUCTION: AND THAT IS ONLY ONE WORKFLOW.</a:t>
            </a:r>
          </a:p>
        </p:txBody>
      </p:sp>
      <p:sp>
        <p:nvSpPr>
          <p:cNvPr id="55" name="TextBox 54"/>
          <p:cNvSpPr txBox="1"/>
          <p:nvPr/>
        </p:nvSpPr>
        <p:spPr>
          <a:xfrm>
            <a:off x="6736443" y="4313005"/>
            <a:ext cx="92373" cy="152400"/>
          </a:xfrm>
          <a:prstGeom prst="rect">
            <a:avLst/>
          </a:prstGeom>
          <a:noFill/>
        </p:spPr>
        <p:txBody>
          <a:bodyPr wrap="none" lIns="0" rIns="0" tIns="0" bIns="0">
            <a:noAutofit/>
          </a:bodyPr>
          <a:lstStyle/>
          <a:p>
            <a:pPr>
              <a:spcBef>
                <a:spcPts val="0"/>
              </a:spcBef>
              <a:spcAft>
                <a:spcPts val="0"/>
              </a:spcAft>
            </a:pPr>
            <a:r>
              <a:rPr sz="878" b="0">
                <a:solidFill>
                  <a:srgbClr val="84867E"/>
                </a:solidFill>
                <a:latin typeface="Spline Sans Mono"/>
              </a:rPr>
              <a:t>0</a:t>
            </a:r>
          </a:p>
        </p:txBody>
      </p:sp>
      <p:sp>
        <p:nvSpPr>
          <p:cNvPr id="56" name="TextBox 55"/>
          <p:cNvSpPr txBox="1"/>
          <p:nvPr/>
        </p:nvSpPr>
        <p:spPr>
          <a:xfrm>
            <a:off x="8918424" y="4313005"/>
            <a:ext cx="159246" cy="152400"/>
          </a:xfrm>
          <a:prstGeom prst="rect">
            <a:avLst/>
          </a:prstGeom>
          <a:noFill/>
        </p:spPr>
        <p:txBody>
          <a:bodyPr wrap="none" lIns="0" rIns="0" tIns="0" bIns="0">
            <a:noAutofit/>
          </a:bodyPr>
          <a:lstStyle/>
          <a:p>
            <a:pPr>
              <a:spcBef>
                <a:spcPts val="0"/>
              </a:spcBef>
              <a:spcAft>
                <a:spcPts val="0"/>
              </a:spcAft>
            </a:pPr>
            <a:r>
              <a:rPr sz="878" b="0">
                <a:solidFill>
                  <a:srgbClr val="84867E"/>
                </a:solidFill>
                <a:latin typeface="Spline Sans Mono"/>
              </a:rPr>
              <a:t>10</a:t>
            </a:r>
          </a:p>
        </p:txBody>
      </p:sp>
      <p:sp>
        <p:nvSpPr>
          <p:cNvPr id="57" name="TextBox 56"/>
          <p:cNvSpPr txBox="1"/>
          <p:nvPr/>
        </p:nvSpPr>
        <p:spPr>
          <a:xfrm>
            <a:off x="11100405" y="4313005"/>
            <a:ext cx="426938" cy="152400"/>
          </a:xfrm>
          <a:prstGeom prst="rect">
            <a:avLst/>
          </a:prstGeom>
          <a:noFill/>
        </p:spPr>
        <p:txBody>
          <a:bodyPr wrap="none" lIns="0" rIns="0" tIns="0" bIns="0">
            <a:noAutofit/>
          </a:bodyPr>
          <a:lstStyle/>
          <a:p>
            <a:pPr>
              <a:spcBef>
                <a:spcPts val="0"/>
              </a:spcBef>
              <a:spcAft>
                <a:spcPts val="0"/>
              </a:spcAft>
            </a:pPr>
            <a:r>
              <a:rPr sz="878" b="0">
                <a:solidFill>
                  <a:srgbClr val="84867E"/>
                </a:solidFill>
                <a:latin typeface="Spline Sans Mono"/>
              </a:rPr>
              <a:t>20 MIN</a:t>
            </a:r>
          </a:p>
        </p:txBody>
      </p:sp>
      <p:sp>
        <p:nvSpPr>
          <p:cNvPr id="58" name="TextBox 57"/>
          <p:cNvSpPr txBox="1"/>
          <p:nvPr/>
        </p:nvSpPr>
        <p:spPr>
          <a:xfrm>
            <a:off x="6885215" y="2478159"/>
            <a:ext cx="2233612" cy="152400"/>
          </a:xfrm>
          <a:prstGeom prst="rect">
            <a:avLst/>
          </a:prstGeom>
          <a:noFill/>
        </p:spPr>
        <p:txBody>
          <a:bodyPr wrap="none" lIns="0" rIns="0" tIns="0" bIns="0">
            <a:noAutofit/>
          </a:bodyPr>
          <a:lstStyle/>
          <a:p>
            <a:pPr>
              <a:spcBef>
                <a:spcPts val="0"/>
              </a:spcBef>
              <a:spcAft>
                <a:spcPts val="0"/>
              </a:spcAft>
            </a:pPr>
            <a:r>
              <a:rPr sz="878" b="0">
                <a:solidFill>
                  <a:srgbClr val="84867E"/>
                </a:solidFill>
                <a:latin typeface="Spline Sans Mono"/>
              </a:rPr>
              <a:t>CURRENT · 20 MIN / DAY / EMPLOYEE</a:t>
            </a:r>
          </a:p>
        </p:txBody>
      </p:sp>
      <p:sp>
        <p:nvSpPr>
          <p:cNvPr id="59" name="TextBox 58"/>
          <p:cNvSpPr txBox="1"/>
          <p:nvPr/>
        </p:nvSpPr>
        <p:spPr>
          <a:xfrm>
            <a:off x="6885215" y="3370786"/>
            <a:ext cx="1634241" cy="152400"/>
          </a:xfrm>
          <a:prstGeom prst="rect">
            <a:avLst/>
          </a:prstGeom>
          <a:noFill/>
        </p:spPr>
        <p:txBody>
          <a:bodyPr wrap="none" lIns="0" rIns="0" tIns="0" bIns="0">
            <a:noAutofit/>
          </a:bodyPr>
          <a:lstStyle/>
          <a:p>
            <a:pPr>
              <a:spcBef>
                <a:spcPts val="0"/>
              </a:spcBef>
              <a:spcAft>
                <a:spcPts val="0"/>
              </a:spcAft>
            </a:pPr>
            <a:r>
              <a:rPr sz="878" b="0">
                <a:solidFill>
                  <a:srgbClr val="84867E"/>
                </a:solidFill>
                <a:latin typeface="Spline Sans Mono"/>
              </a:rPr>
              <a:t>REDESIGNED · 1 MIN / DAY</a:t>
            </a:r>
          </a:p>
        </p:txBody>
      </p:sp>
      <p:sp>
        <p:nvSpPr>
          <p:cNvPr id="60" name="TextBox 59"/>
          <p:cNvSpPr txBox="1"/>
          <p:nvPr/>
        </p:nvSpPr>
        <p:spPr>
          <a:xfrm>
            <a:off x="7581510" y="3724120"/>
            <a:ext cx="3173233" cy="152400"/>
          </a:xfrm>
          <a:prstGeom prst="rect">
            <a:avLst/>
          </a:prstGeom>
          <a:noFill/>
        </p:spPr>
        <p:txBody>
          <a:bodyPr wrap="none" lIns="0" rIns="0" tIns="0" bIns="0">
            <a:noAutofit/>
          </a:bodyPr>
          <a:lstStyle/>
          <a:p>
            <a:pPr>
              <a:spcBef>
                <a:spcPts val="0"/>
              </a:spcBef>
              <a:spcAft>
                <a:spcPts val="0"/>
              </a:spcAft>
            </a:pPr>
            <a:r>
              <a:rPr sz="878" b="1">
                <a:solidFill>
                  <a:srgbClr val="9C6F22"/>
                </a:solidFill>
                <a:latin typeface="Spline Sans Mono"/>
              </a:rPr>
              <a:t>19 MIN / DAY / EMPLOYEE · RETURNED TO REAL WORK</a:t>
            </a:r>
          </a:p>
        </p:txBody>
      </p:sp>
      <p:sp>
        <p:nvSpPr>
          <p:cNvPr id="61" name="TextBox 60"/>
          <p:cNvSpPr txBox="1"/>
          <p:nvPr/>
        </p:nvSpPr>
        <p:spPr>
          <a:xfrm>
            <a:off x="6438900" y="4696123"/>
            <a:ext cx="5232400" cy="133350"/>
          </a:xfrm>
          <a:prstGeom prst="rect">
            <a:avLst/>
          </a:prstGeom>
          <a:noFill/>
        </p:spPr>
        <p:txBody>
          <a:bodyPr wrap="none" lIns="0" rIns="0" tIns="0" bIns="0">
            <a:noAutofit/>
          </a:bodyPr>
          <a:lstStyle/>
          <a:p>
            <a:pPr>
              <a:spcBef>
                <a:spcPts val="0"/>
              </a:spcBef>
              <a:spcAft>
                <a:spcPts val="0"/>
              </a:spcAft>
            </a:pPr>
            <a:r>
              <a:rPr sz="750" b="0" spc="45">
                <a:solidFill>
                  <a:srgbClr val="84867E"/>
                </a:solidFill>
                <a:latin typeface="Spline Sans Mono"/>
              </a:rPr>
              <a:t>ONE AXIS, TWICE. THE HATCHED SPAN IS THE CAPACITY THE REDESIGN HANDS BACK.</a:t>
            </a:r>
          </a:p>
        </p:txBody>
      </p:sp>
      <p:sp>
        <p:nvSpPr>
          <p:cNvPr id="62" name="TextBox 61"/>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SCHULTE &amp; CO. · GROWTH BY DESIGN</a:t>
            </a:r>
          </a:p>
        </p:txBody>
      </p:sp>
      <p:sp>
        <p:nvSpPr>
          <p:cNvPr id="63" name="TextBox 62"/>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SHEET 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211"/>
        </a:solidFill>
        <a:effectLst/>
      </p:bgPr>
    </p:bg>
    <p:spTree>
      <p:nvGrpSpPr>
        <p:cNvPr id="1" name=""/>
        <p:cNvGrpSpPr/>
        <p:nvPr/>
      </p:nvGrpSpPr>
      <p:grpSpPr/>
      <p:sp>
        <p:nvSpPr>
          <p:cNvPr id="2" name="Rectangle 1"/>
          <p:cNvSpPr/>
          <p:nvPr/>
        </p:nvSpPr>
        <p:spPr>
          <a:xfrm>
            <a:off x="609600" y="6572250"/>
            <a:ext cx="10972800" cy="6350"/>
          </a:xfrm>
          <a:prstGeom prst="rect">
            <a:avLst/>
          </a:prstGeom>
          <a:solidFill>
            <a:srgbClr val="EDEEE9"/>
          </a:solidFill>
          <a:ln>
            <a:noFill/>
          </a:ln>
          <a:effectLst/>
        </p:spPr>
        <p:txBody>
          <a:bodyPr rtlCol="0" anchor="ctr"/>
          <a:lstStyle/>
          <a:p>
            <a:pPr algn="ctr"/>
          </a:p>
        </p:txBody>
      </p:sp>
      <p:sp>
        <p:nvSpPr>
          <p:cNvPr id="3" name="Rectangle 2"/>
          <p:cNvSpPr/>
          <p:nvPr/>
        </p:nvSpPr>
        <p:spPr>
          <a:xfrm>
            <a:off x="609600" y="6540500"/>
            <a:ext cx="6350" cy="69850"/>
          </a:xfrm>
          <a:prstGeom prst="rect">
            <a:avLst/>
          </a:prstGeom>
          <a:solidFill>
            <a:srgbClr val="EDEEE9"/>
          </a:solidFill>
          <a:ln>
            <a:noFill/>
          </a:ln>
          <a:effectLst/>
        </p:spPr>
        <p:txBody>
          <a:bodyPr rtlCol="0" anchor="ctr"/>
          <a:lstStyle/>
          <a:p>
            <a:pPr algn="ctr"/>
          </a:p>
        </p:txBody>
      </p:sp>
      <p:sp>
        <p:nvSpPr>
          <p:cNvPr id="4" name="Rectangle 3"/>
          <p:cNvSpPr/>
          <p:nvPr/>
        </p:nvSpPr>
        <p:spPr>
          <a:xfrm>
            <a:off x="1828800" y="6540500"/>
            <a:ext cx="6350" cy="69850"/>
          </a:xfrm>
          <a:prstGeom prst="rect">
            <a:avLst/>
          </a:prstGeom>
          <a:solidFill>
            <a:srgbClr val="EDEEE9"/>
          </a:solidFill>
          <a:ln>
            <a:noFill/>
          </a:ln>
          <a:effectLst/>
        </p:spPr>
        <p:txBody>
          <a:bodyPr rtlCol="0" anchor="ctr"/>
          <a:lstStyle/>
          <a:p>
            <a:pPr algn="ctr"/>
          </a:p>
        </p:txBody>
      </p:sp>
      <p:sp>
        <p:nvSpPr>
          <p:cNvPr id="5" name="Rectangle 4"/>
          <p:cNvSpPr/>
          <p:nvPr/>
        </p:nvSpPr>
        <p:spPr>
          <a:xfrm>
            <a:off x="3048000" y="6540500"/>
            <a:ext cx="6350" cy="69850"/>
          </a:xfrm>
          <a:prstGeom prst="rect">
            <a:avLst/>
          </a:prstGeom>
          <a:solidFill>
            <a:srgbClr val="EDEEE9"/>
          </a:solidFill>
          <a:ln>
            <a:noFill/>
          </a:ln>
          <a:effectLst/>
        </p:spPr>
        <p:txBody>
          <a:bodyPr rtlCol="0" anchor="ctr"/>
          <a:lstStyle/>
          <a:p>
            <a:pPr algn="ctr"/>
          </a:p>
        </p:txBody>
      </p:sp>
      <p:sp>
        <p:nvSpPr>
          <p:cNvPr id="6" name="Rectangle 5"/>
          <p:cNvSpPr/>
          <p:nvPr/>
        </p:nvSpPr>
        <p:spPr>
          <a:xfrm>
            <a:off x="4267101" y="6540500"/>
            <a:ext cx="6350" cy="69850"/>
          </a:xfrm>
          <a:prstGeom prst="rect">
            <a:avLst/>
          </a:prstGeom>
          <a:solidFill>
            <a:srgbClr val="EDEEE9"/>
          </a:solidFill>
          <a:ln>
            <a:noFill/>
          </a:ln>
          <a:effectLst/>
        </p:spPr>
        <p:txBody>
          <a:bodyPr rtlCol="0" anchor="ctr"/>
          <a:lstStyle/>
          <a:p>
            <a:pPr algn="ctr"/>
          </a:p>
        </p:txBody>
      </p:sp>
      <p:sp>
        <p:nvSpPr>
          <p:cNvPr id="7" name="Rectangle 6"/>
          <p:cNvSpPr/>
          <p:nvPr/>
        </p:nvSpPr>
        <p:spPr>
          <a:xfrm>
            <a:off x="5486400" y="6540500"/>
            <a:ext cx="6350" cy="69850"/>
          </a:xfrm>
          <a:prstGeom prst="rect">
            <a:avLst/>
          </a:prstGeom>
          <a:solidFill>
            <a:srgbClr val="EDEEE9"/>
          </a:solidFill>
          <a:ln>
            <a:noFill/>
          </a:ln>
          <a:effectLst/>
        </p:spPr>
        <p:txBody>
          <a:bodyPr rtlCol="0" anchor="ctr"/>
          <a:lstStyle/>
          <a:p>
            <a:pPr algn="ctr"/>
          </a:p>
        </p:txBody>
      </p:sp>
      <p:sp>
        <p:nvSpPr>
          <p:cNvPr id="8" name="Rectangle 7"/>
          <p:cNvSpPr/>
          <p:nvPr/>
        </p:nvSpPr>
        <p:spPr>
          <a:xfrm>
            <a:off x="6705600" y="6540500"/>
            <a:ext cx="6350" cy="69850"/>
          </a:xfrm>
          <a:prstGeom prst="rect">
            <a:avLst/>
          </a:prstGeom>
          <a:solidFill>
            <a:srgbClr val="EDEEE9"/>
          </a:solidFill>
          <a:ln>
            <a:noFill/>
          </a:ln>
          <a:effectLst/>
        </p:spPr>
        <p:txBody>
          <a:bodyPr rtlCol="0" anchor="ctr"/>
          <a:lstStyle/>
          <a:p>
            <a:pPr algn="ctr"/>
          </a:p>
        </p:txBody>
      </p:sp>
      <p:sp>
        <p:nvSpPr>
          <p:cNvPr id="9" name="Rectangle 8"/>
          <p:cNvSpPr/>
          <p:nvPr/>
        </p:nvSpPr>
        <p:spPr>
          <a:xfrm>
            <a:off x="7924701" y="6540500"/>
            <a:ext cx="6350" cy="69850"/>
          </a:xfrm>
          <a:prstGeom prst="rect">
            <a:avLst/>
          </a:prstGeom>
          <a:solidFill>
            <a:srgbClr val="EDEEE9"/>
          </a:solidFill>
          <a:ln>
            <a:noFill/>
          </a:ln>
          <a:effectLst/>
        </p:spPr>
        <p:txBody>
          <a:bodyPr rtlCol="0" anchor="ctr"/>
          <a:lstStyle/>
          <a:p>
            <a:pPr algn="ctr"/>
          </a:p>
        </p:txBody>
      </p:sp>
      <p:sp>
        <p:nvSpPr>
          <p:cNvPr id="10" name="Rectangle 9"/>
          <p:cNvSpPr/>
          <p:nvPr/>
        </p:nvSpPr>
        <p:spPr>
          <a:xfrm>
            <a:off x="9144000" y="6540500"/>
            <a:ext cx="6350" cy="69850"/>
          </a:xfrm>
          <a:prstGeom prst="rect">
            <a:avLst/>
          </a:prstGeom>
          <a:solidFill>
            <a:srgbClr val="EDEEE9"/>
          </a:solidFill>
          <a:ln>
            <a:noFill/>
          </a:ln>
          <a:effectLst/>
        </p:spPr>
        <p:txBody>
          <a:bodyPr rtlCol="0" anchor="ctr"/>
          <a:lstStyle/>
          <a:p>
            <a:pPr algn="ctr"/>
          </a:p>
        </p:txBody>
      </p:sp>
      <p:sp>
        <p:nvSpPr>
          <p:cNvPr id="11" name="Rectangle 10"/>
          <p:cNvSpPr/>
          <p:nvPr/>
        </p:nvSpPr>
        <p:spPr>
          <a:xfrm>
            <a:off x="10363200" y="6540500"/>
            <a:ext cx="6350" cy="69850"/>
          </a:xfrm>
          <a:prstGeom prst="rect">
            <a:avLst/>
          </a:prstGeom>
          <a:solidFill>
            <a:srgbClr val="EDEEE9"/>
          </a:solidFill>
          <a:ln>
            <a:noFill/>
          </a:ln>
          <a:effectLst/>
        </p:spPr>
        <p:txBody>
          <a:bodyPr rtlCol="0" anchor="ctr"/>
          <a:lstStyle/>
          <a:p>
            <a:pPr algn="ctr"/>
          </a:p>
        </p:txBody>
      </p:sp>
      <p:sp>
        <p:nvSpPr>
          <p:cNvPr id="12" name="Rectangle 11"/>
          <p:cNvSpPr/>
          <p:nvPr/>
        </p:nvSpPr>
        <p:spPr>
          <a:xfrm>
            <a:off x="11582400" y="6540500"/>
            <a:ext cx="6350" cy="69850"/>
          </a:xfrm>
          <a:prstGeom prst="rect">
            <a:avLst/>
          </a:prstGeom>
          <a:solidFill>
            <a:srgbClr val="EDEEE9"/>
          </a:solidFill>
          <a:ln>
            <a:noFill/>
          </a:ln>
          <a:effectLst/>
        </p:spPr>
        <p:txBody>
          <a:bodyPr rtlCol="0" anchor="ctr"/>
          <a:lstStyle/>
          <a:p>
            <a:pPr algn="ctr"/>
          </a:p>
        </p:txBody>
      </p:sp>
      <p:sp>
        <p:nvSpPr>
          <p:cNvPr id="13" name="Diamond 12"/>
          <p:cNvSpPr/>
          <p:nvPr/>
        </p:nvSpPr>
        <p:spPr>
          <a:xfrm>
            <a:off x="7892951" y="6546850"/>
            <a:ext cx="63500" cy="63500"/>
          </a:xfrm>
          <a:prstGeom prst="diamond">
            <a:avLst/>
          </a:prstGeom>
          <a:solidFill>
            <a:srgbClr val="D93A1F"/>
          </a:solidFill>
          <a:ln>
            <a:noFill/>
          </a:ln>
          <a:effectLst/>
        </p:spPr>
        <p:txBody>
          <a:bodyPr rtlCol="0" anchor="ctr"/>
          <a:lstStyle/>
          <a:p>
            <a:pPr algn="ctr"/>
          </a:p>
        </p:txBody>
      </p:sp>
      <p:cxnSp>
        <p:nvCxnSpPr>
          <p:cNvPr id="14" name="Connector 13"/>
          <p:cNvCxnSpPr/>
          <p:nvPr/>
        </p:nvCxnSpPr>
        <p:spPr>
          <a:xfrm>
            <a:off x="609600" y="412750"/>
            <a:ext cx="10972800" cy="0"/>
          </a:xfrm>
          <a:prstGeom prst="line">
            <a:avLst/>
          </a:prstGeom>
          <a:ln w="12700">
            <a:solidFill>
              <a:srgbClr val="EDEEE9"/>
            </a:solidFill>
          </a:ln>
          <a:effectLst/>
        </p:spPr>
      </p:cxnSp>
      <p:sp>
        <p:nvSpPr>
          <p:cNvPr id="15" name="Oval 14"/>
          <p:cNvSpPr/>
          <p:nvPr/>
        </p:nvSpPr>
        <p:spPr>
          <a:xfrm>
            <a:off x="1845028" y="3267825"/>
            <a:ext cx="167922" cy="167922"/>
          </a:xfrm>
          <a:prstGeom prst="ellipse">
            <a:avLst/>
          </a:prstGeom>
          <a:noFill/>
          <a:ln w="13193">
            <a:solidFill>
              <a:srgbClr val="EDEEE9"/>
            </a:solidFill>
          </a:ln>
          <a:effectLst/>
        </p:spPr>
        <p:txBody>
          <a:bodyPr rtlCol="0" anchor="ctr"/>
          <a:lstStyle/>
          <a:p>
            <a:pPr algn="ctr"/>
          </a:p>
        </p:txBody>
      </p:sp>
      <p:sp>
        <p:nvSpPr>
          <p:cNvPr id="16" name="Oval 15"/>
          <p:cNvSpPr/>
          <p:nvPr/>
        </p:nvSpPr>
        <p:spPr>
          <a:xfrm>
            <a:off x="4004028" y="3267825"/>
            <a:ext cx="167922" cy="167922"/>
          </a:xfrm>
          <a:prstGeom prst="ellipse">
            <a:avLst/>
          </a:prstGeom>
          <a:noFill/>
          <a:ln w="13193">
            <a:solidFill>
              <a:srgbClr val="EDEEE9"/>
            </a:solidFill>
          </a:ln>
          <a:effectLst/>
        </p:spPr>
        <p:txBody>
          <a:bodyPr rtlCol="0" anchor="ctr"/>
          <a:lstStyle/>
          <a:p>
            <a:pPr algn="ctr"/>
          </a:p>
        </p:txBody>
      </p:sp>
      <p:cxnSp>
        <p:nvCxnSpPr>
          <p:cNvPr id="17" name="Connector 16"/>
          <p:cNvCxnSpPr/>
          <p:nvPr/>
        </p:nvCxnSpPr>
        <p:spPr>
          <a:xfrm>
            <a:off x="2024944" y="3351786"/>
            <a:ext cx="1967089" cy="0"/>
          </a:xfrm>
          <a:prstGeom prst="line">
            <a:avLst/>
          </a:prstGeom>
          <a:ln w="14393">
            <a:solidFill>
              <a:srgbClr val="EDEEE9"/>
            </a:solidFill>
          </a:ln>
          <a:effectLst/>
        </p:spPr>
      </p:cxnSp>
      <p:cxnSp>
        <p:nvCxnSpPr>
          <p:cNvPr id="18" name="Connector 17"/>
          <p:cNvCxnSpPr/>
          <p:nvPr/>
        </p:nvCxnSpPr>
        <p:spPr>
          <a:xfrm>
            <a:off x="4183944" y="3351786"/>
            <a:ext cx="1463323" cy="0"/>
          </a:xfrm>
          <a:prstGeom prst="line">
            <a:avLst/>
          </a:prstGeom>
          <a:ln w="14393">
            <a:solidFill>
              <a:srgbClr val="EDEEE9"/>
            </a:solidFill>
          </a:ln>
          <a:effectLst/>
        </p:spPr>
      </p:cxnSp>
      <p:sp>
        <p:nvSpPr>
          <p:cNvPr id="19" name="Freeform 18"/>
          <p:cNvSpPr/>
          <p:nvPr/>
        </p:nvSpPr>
        <p:spPr>
          <a:xfrm>
            <a:off x="5645150" y="3244850"/>
            <a:ext cx="1752600" cy="298450"/>
          </a:xfrm>
          <a:custGeom>
            <a:avLst/>
            <a:gdLst/>
            <a:ahLst/>
            <a:cxnLst/>
            <a:rect l="l" t="t" r="r" b="b"/>
            <a:pathLst>
              <a:path w="276" h="47">
                <a:moveTo>
                  <a:pt x="0" y="17"/>
                </a:moveTo>
                <a:lnTo>
                  <a:pt x="9" y="11"/>
                </a:lnTo>
                <a:lnTo>
                  <a:pt x="18" y="7"/>
                </a:lnTo>
                <a:lnTo>
                  <a:pt x="26" y="4"/>
                </a:lnTo>
                <a:lnTo>
                  <a:pt x="35" y="2"/>
                </a:lnTo>
                <a:lnTo>
                  <a:pt x="43" y="1"/>
                </a:lnTo>
                <a:lnTo>
                  <a:pt x="51" y="1"/>
                </a:lnTo>
                <a:lnTo>
                  <a:pt x="59" y="2"/>
                </a:lnTo>
                <a:lnTo>
                  <a:pt x="66" y="3"/>
                </a:lnTo>
                <a:lnTo>
                  <a:pt x="73" y="6"/>
                </a:lnTo>
                <a:lnTo>
                  <a:pt x="80" y="9"/>
                </a:lnTo>
                <a:lnTo>
                  <a:pt x="86" y="12"/>
                </a:lnTo>
                <a:lnTo>
                  <a:pt x="92" y="15"/>
                </a:lnTo>
                <a:lnTo>
                  <a:pt x="97" y="19"/>
                </a:lnTo>
                <a:lnTo>
                  <a:pt x="102" y="23"/>
                </a:lnTo>
                <a:lnTo>
                  <a:pt x="106" y="27"/>
                </a:lnTo>
                <a:lnTo>
                  <a:pt x="109" y="31"/>
                </a:lnTo>
                <a:lnTo>
                  <a:pt x="112" y="34"/>
                </a:lnTo>
                <a:lnTo>
                  <a:pt x="113" y="37"/>
                </a:lnTo>
                <a:lnTo>
                  <a:pt x="114" y="40"/>
                </a:lnTo>
                <a:lnTo>
                  <a:pt x="115" y="42"/>
                </a:lnTo>
                <a:lnTo>
                  <a:pt x="114" y="43"/>
                </a:lnTo>
                <a:lnTo>
                  <a:pt x="112" y="44"/>
                </a:lnTo>
                <a:lnTo>
                  <a:pt x="109" y="43"/>
                </a:lnTo>
                <a:lnTo>
                  <a:pt x="106" y="42"/>
                </a:lnTo>
                <a:lnTo>
                  <a:pt x="101" y="39"/>
                </a:lnTo>
                <a:lnTo>
                  <a:pt x="95" y="36"/>
                </a:lnTo>
                <a:lnTo>
                  <a:pt x="89" y="31"/>
                </a:lnTo>
                <a:lnTo>
                  <a:pt x="85" y="27"/>
                </a:lnTo>
                <a:lnTo>
                  <a:pt x="83" y="23"/>
                </a:lnTo>
                <a:lnTo>
                  <a:pt x="82" y="20"/>
                </a:lnTo>
                <a:lnTo>
                  <a:pt x="82" y="16"/>
                </a:lnTo>
                <a:lnTo>
                  <a:pt x="84" y="13"/>
                </a:lnTo>
                <a:lnTo>
                  <a:pt x="86" y="10"/>
                </a:lnTo>
                <a:lnTo>
                  <a:pt x="90" y="8"/>
                </a:lnTo>
                <a:lnTo>
                  <a:pt x="94" y="6"/>
                </a:lnTo>
                <a:lnTo>
                  <a:pt x="99" y="4"/>
                </a:lnTo>
                <a:lnTo>
                  <a:pt x="104" y="2"/>
                </a:lnTo>
                <a:lnTo>
                  <a:pt x="110" y="1"/>
                </a:lnTo>
                <a:lnTo>
                  <a:pt x="116" y="0"/>
                </a:lnTo>
                <a:lnTo>
                  <a:pt x="122" y="0"/>
                </a:lnTo>
                <a:lnTo>
                  <a:pt x="128" y="0"/>
                </a:lnTo>
                <a:lnTo>
                  <a:pt x="134" y="1"/>
                </a:lnTo>
                <a:lnTo>
                  <a:pt x="139" y="2"/>
                </a:lnTo>
                <a:lnTo>
                  <a:pt x="144" y="3"/>
                </a:lnTo>
                <a:lnTo>
                  <a:pt x="149" y="5"/>
                </a:lnTo>
                <a:lnTo>
                  <a:pt x="152" y="8"/>
                </a:lnTo>
                <a:lnTo>
                  <a:pt x="155" y="11"/>
                </a:lnTo>
                <a:lnTo>
                  <a:pt x="157" y="15"/>
                </a:lnTo>
                <a:lnTo>
                  <a:pt x="158" y="19"/>
                </a:lnTo>
                <a:lnTo>
                  <a:pt x="157" y="24"/>
                </a:lnTo>
                <a:lnTo>
                  <a:pt x="155" y="30"/>
                </a:lnTo>
                <a:lnTo>
                  <a:pt x="151" y="36"/>
                </a:lnTo>
                <a:lnTo>
                  <a:pt x="149" y="40"/>
                </a:lnTo>
                <a:lnTo>
                  <a:pt x="148" y="43"/>
                </a:lnTo>
                <a:lnTo>
                  <a:pt x="147" y="45"/>
                </a:lnTo>
                <a:lnTo>
                  <a:pt x="147" y="46"/>
                </a:lnTo>
                <a:lnTo>
                  <a:pt x="149" y="47"/>
                </a:lnTo>
                <a:lnTo>
                  <a:pt x="151" y="47"/>
                </a:lnTo>
                <a:lnTo>
                  <a:pt x="153" y="46"/>
                </a:lnTo>
                <a:lnTo>
                  <a:pt x="156" y="44"/>
                </a:lnTo>
                <a:lnTo>
                  <a:pt x="160" y="42"/>
                </a:lnTo>
                <a:lnTo>
                  <a:pt x="164" y="40"/>
                </a:lnTo>
                <a:lnTo>
                  <a:pt x="168" y="37"/>
                </a:lnTo>
                <a:lnTo>
                  <a:pt x="172" y="34"/>
                </a:lnTo>
                <a:lnTo>
                  <a:pt x="177" y="31"/>
                </a:lnTo>
                <a:lnTo>
                  <a:pt x="182" y="29"/>
                </a:lnTo>
                <a:lnTo>
                  <a:pt x="186" y="26"/>
                </a:lnTo>
                <a:lnTo>
                  <a:pt x="190" y="23"/>
                </a:lnTo>
                <a:lnTo>
                  <a:pt x="195" y="21"/>
                </a:lnTo>
                <a:lnTo>
                  <a:pt x="198" y="18"/>
                </a:lnTo>
                <a:lnTo>
                  <a:pt x="202" y="17"/>
                </a:lnTo>
                <a:lnTo>
                  <a:pt x="205" y="16"/>
                </a:lnTo>
                <a:lnTo>
                  <a:pt x="207" y="15"/>
                </a:lnTo>
                <a:lnTo>
                  <a:pt x="209" y="15"/>
                </a:lnTo>
                <a:lnTo>
                  <a:pt x="210" y="16"/>
                </a:lnTo>
                <a:lnTo>
                  <a:pt x="210" y="18"/>
                </a:lnTo>
                <a:lnTo>
                  <a:pt x="210" y="21"/>
                </a:lnTo>
                <a:lnTo>
                  <a:pt x="208" y="24"/>
                </a:lnTo>
                <a:lnTo>
                  <a:pt x="207" y="29"/>
                </a:lnTo>
                <a:lnTo>
                  <a:pt x="209" y="32"/>
                </a:lnTo>
                <a:lnTo>
                  <a:pt x="214" y="31"/>
                </a:lnTo>
                <a:lnTo>
                  <a:pt x="222" y="30"/>
                </a:lnTo>
                <a:lnTo>
                  <a:pt x="231" y="27"/>
                </a:lnTo>
                <a:lnTo>
                  <a:pt x="241" y="24"/>
                </a:lnTo>
                <a:lnTo>
                  <a:pt x="251" y="21"/>
                </a:lnTo>
                <a:lnTo>
                  <a:pt x="261" y="19"/>
                </a:lnTo>
                <a:lnTo>
                  <a:pt x="269" y="19"/>
                </a:lnTo>
                <a:lnTo>
                  <a:pt x="276" y="21"/>
                </a:lnTo>
              </a:path>
            </a:pathLst>
          </a:custGeom>
          <a:noFill/>
          <a:ln w="14393">
            <a:solidFill>
              <a:srgbClr val="EDEEE9"/>
            </a:solidFill>
          </a:ln>
          <a:effectLst/>
        </p:spPr>
        <p:txBody>
          <a:bodyPr rtlCol="0" anchor="ctr"/>
          <a:lstStyle/>
          <a:p>
            <a:pPr algn="ctr"/>
          </a:p>
        </p:txBody>
      </p:sp>
      <p:cxnSp>
        <p:nvCxnSpPr>
          <p:cNvPr id="20" name="Connector 19"/>
          <p:cNvCxnSpPr/>
          <p:nvPr/>
        </p:nvCxnSpPr>
        <p:spPr>
          <a:xfrm>
            <a:off x="7638344" y="3207852"/>
            <a:ext cx="287867" cy="287867"/>
          </a:xfrm>
          <a:prstGeom prst="line">
            <a:avLst/>
          </a:prstGeom>
          <a:ln w="23988">
            <a:solidFill>
              <a:srgbClr val="F0492A"/>
            </a:solidFill>
          </a:ln>
          <a:effectLst/>
        </p:spPr>
      </p:cxnSp>
      <p:cxnSp>
        <p:nvCxnSpPr>
          <p:cNvPr id="21" name="Connector 20"/>
          <p:cNvCxnSpPr/>
          <p:nvPr/>
        </p:nvCxnSpPr>
        <p:spPr>
          <a:xfrm flipH="1">
            <a:off x="7638344" y="3207852"/>
            <a:ext cx="287867" cy="287867"/>
          </a:xfrm>
          <a:prstGeom prst="line">
            <a:avLst/>
          </a:prstGeom>
          <a:ln w="23988">
            <a:solidFill>
              <a:srgbClr val="F0492A"/>
            </a:solidFill>
          </a:ln>
          <a:effectLst/>
        </p:spPr>
      </p:cxnSp>
      <p:sp>
        <p:nvSpPr>
          <p:cNvPr id="22" name="Oval 21"/>
          <p:cNvSpPr/>
          <p:nvPr/>
        </p:nvSpPr>
        <p:spPr>
          <a:xfrm>
            <a:off x="1845028" y="4395302"/>
            <a:ext cx="167922" cy="167922"/>
          </a:xfrm>
          <a:prstGeom prst="ellipse">
            <a:avLst/>
          </a:prstGeom>
          <a:noFill/>
          <a:ln w="13193">
            <a:solidFill>
              <a:srgbClr val="5F8A76"/>
            </a:solidFill>
          </a:ln>
          <a:effectLst/>
        </p:spPr>
        <p:txBody>
          <a:bodyPr rtlCol="0" anchor="ctr"/>
          <a:lstStyle/>
          <a:p>
            <a:pPr algn="ctr"/>
          </a:p>
        </p:txBody>
      </p:sp>
      <p:cxnSp>
        <p:nvCxnSpPr>
          <p:cNvPr id="23" name="Connector 22"/>
          <p:cNvCxnSpPr/>
          <p:nvPr/>
        </p:nvCxnSpPr>
        <p:spPr>
          <a:xfrm>
            <a:off x="2024944" y="4479264"/>
            <a:ext cx="2446867" cy="0"/>
          </a:xfrm>
          <a:prstGeom prst="line">
            <a:avLst/>
          </a:prstGeom>
          <a:ln w="14393">
            <a:solidFill>
              <a:srgbClr val="5F8A76"/>
            </a:solidFill>
          </a:ln>
          <a:effectLst/>
        </p:spPr>
      </p:cxnSp>
      <p:sp>
        <p:nvSpPr>
          <p:cNvPr id="24" name="Oval 23"/>
          <p:cNvSpPr/>
          <p:nvPr/>
        </p:nvSpPr>
        <p:spPr>
          <a:xfrm>
            <a:off x="4483806" y="4395302"/>
            <a:ext cx="167922" cy="167922"/>
          </a:xfrm>
          <a:prstGeom prst="ellipse">
            <a:avLst/>
          </a:prstGeom>
          <a:noFill/>
          <a:ln w="13193">
            <a:solidFill>
              <a:srgbClr val="5F8A76"/>
            </a:solidFill>
          </a:ln>
          <a:effectLst/>
        </p:spPr>
        <p:txBody>
          <a:bodyPr rtlCol="0" anchor="ctr"/>
          <a:lstStyle/>
          <a:p>
            <a:pPr algn="ctr"/>
          </a:p>
        </p:txBody>
      </p:sp>
      <p:cxnSp>
        <p:nvCxnSpPr>
          <p:cNvPr id="25" name="Connector 24"/>
          <p:cNvCxnSpPr/>
          <p:nvPr/>
        </p:nvCxnSpPr>
        <p:spPr>
          <a:xfrm>
            <a:off x="4663722" y="4479264"/>
            <a:ext cx="2686756" cy="0"/>
          </a:xfrm>
          <a:prstGeom prst="line">
            <a:avLst/>
          </a:prstGeom>
          <a:ln w="14393">
            <a:solidFill>
              <a:srgbClr val="5F8A76"/>
            </a:solidFill>
          </a:ln>
          <a:effectLst/>
        </p:spPr>
      </p:cxnSp>
      <p:sp>
        <p:nvSpPr>
          <p:cNvPr id="26" name="Oval 25"/>
          <p:cNvSpPr/>
          <p:nvPr/>
        </p:nvSpPr>
        <p:spPr>
          <a:xfrm>
            <a:off x="7362472" y="4395302"/>
            <a:ext cx="167922" cy="167922"/>
          </a:xfrm>
          <a:prstGeom prst="ellipse">
            <a:avLst/>
          </a:prstGeom>
          <a:noFill/>
          <a:ln w="13193">
            <a:solidFill>
              <a:srgbClr val="5F8A76"/>
            </a:solidFill>
          </a:ln>
          <a:effectLst/>
        </p:spPr>
        <p:txBody>
          <a:bodyPr rtlCol="0" anchor="ctr"/>
          <a:lstStyle/>
          <a:p>
            <a:pPr algn="ctr"/>
          </a:p>
        </p:txBody>
      </p:sp>
      <p:cxnSp>
        <p:nvCxnSpPr>
          <p:cNvPr id="27" name="Connector 26"/>
          <p:cNvCxnSpPr/>
          <p:nvPr/>
        </p:nvCxnSpPr>
        <p:spPr>
          <a:xfrm>
            <a:off x="7542389" y="4479264"/>
            <a:ext cx="2566811" cy="0"/>
          </a:xfrm>
          <a:prstGeom prst="line">
            <a:avLst/>
          </a:prstGeom>
          <a:ln w="14393">
            <a:solidFill>
              <a:srgbClr val="5F8A76"/>
            </a:solidFill>
          </a:ln>
          <a:effectLst/>
        </p:spPr>
      </p:cxnSp>
      <p:sp>
        <p:nvSpPr>
          <p:cNvPr id="28" name="Oval 27"/>
          <p:cNvSpPr/>
          <p:nvPr/>
        </p:nvSpPr>
        <p:spPr>
          <a:xfrm>
            <a:off x="10121194" y="4395302"/>
            <a:ext cx="167922" cy="167922"/>
          </a:xfrm>
          <a:prstGeom prst="ellipse">
            <a:avLst/>
          </a:prstGeom>
          <a:noFill/>
          <a:ln w="13193">
            <a:solidFill>
              <a:srgbClr val="5F8A76"/>
            </a:solidFill>
          </a:ln>
          <a:effectLst/>
        </p:spPr>
        <p:txBody>
          <a:bodyPr rtlCol="0" anchor="ctr"/>
          <a:lstStyle/>
          <a:p>
            <a:pPr algn="ctr"/>
          </a:p>
        </p:txBody>
      </p:sp>
      <p:cxnSp>
        <p:nvCxnSpPr>
          <p:cNvPr id="29" name="Connector 28"/>
          <p:cNvCxnSpPr/>
          <p:nvPr/>
        </p:nvCxnSpPr>
        <p:spPr>
          <a:xfrm>
            <a:off x="10289117" y="4479264"/>
            <a:ext cx="599722" cy="0"/>
          </a:xfrm>
          <a:prstGeom prst="line">
            <a:avLst/>
          </a:prstGeom>
          <a:ln w="14393">
            <a:solidFill>
              <a:srgbClr val="5F8A76"/>
            </a:solidFill>
          </a:ln>
          <a:effectLst/>
        </p:spPr>
      </p:cxnSp>
      <p:sp>
        <p:nvSpPr>
          <p:cNvPr id="30" name="Freeform 29"/>
          <p:cNvSpPr/>
          <p:nvPr/>
        </p:nvSpPr>
        <p:spPr>
          <a:xfrm>
            <a:off x="10890250" y="4419600"/>
            <a:ext cx="165100" cy="120650"/>
          </a:xfrm>
          <a:custGeom>
            <a:avLst/>
            <a:gdLst/>
            <a:ahLst/>
            <a:cxnLst/>
            <a:rect l="l" t="t" r="r" b="b"/>
            <a:pathLst>
              <a:path w="26" h="19">
                <a:moveTo>
                  <a:pt x="0" y="9"/>
                </a:moveTo>
                <a:lnTo>
                  <a:pt x="26" y="0"/>
                </a:lnTo>
                <a:lnTo>
                  <a:pt x="26" y="19"/>
                </a:lnTo>
                <a:close/>
              </a:path>
            </a:pathLst>
          </a:custGeom>
          <a:solidFill>
            <a:srgbClr val="5F8A76"/>
          </a:solidFill>
          <a:ln>
            <a:noFill/>
          </a:ln>
          <a:effectLst/>
        </p:spPr>
        <p:txBody>
          <a:bodyPr rtlCol="0" anchor="ctr"/>
          <a:lstStyle/>
          <a:p>
            <a:pPr algn="ctr"/>
          </a:p>
        </p:txBody>
      </p:sp>
      <p:sp>
        <p:nvSpPr>
          <p:cNvPr id="31" name="TextBox 30"/>
          <p:cNvSpPr txBox="1"/>
          <p:nvPr/>
        </p:nvSpPr>
        <p:spPr>
          <a:xfrm>
            <a:off x="596900" y="787400"/>
            <a:ext cx="599777" cy="158750"/>
          </a:xfrm>
          <a:prstGeom prst="rect">
            <a:avLst/>
          </a:prstGeom>
          <a:noFill/>
        </p:spPr>
        <p:txBody>
          <a:bodyPr wrap="none" lIns="0" rIns="0" tIns="0" bIns="0">
            <a:noAutofit/>
          </a:bodyPr>
          <a:lstStyle/>
          <a:p>
            <a:pPr>
              <a:spcBef>
                <a:spcPts val="0"/>
              </a:spcBef>
              <a:spcAft>
                <a:spcPts val="0"/>
              </a:spcAft>
            </a:pPr>
            <a:r>
              <a:rPr sz="950" b="1" spc="76">
                <a:solidFill>
                  <a:srgbClr val="F0492A"/>
                </a:solidFill>
                <a:latin typeface="Spline Sans Mono"/>
              </a:rPr>
              <a:t>FIG. 06</a:t>
            </a:r>
          </a:p>
        </p:txBody>
      </p:sp>
      <p:sp>
        <p:nvSpPr>
          <p:cNvPr id="32" name="TextBox 31"/>
          <p:cNvSpPr txBox="1"/>
          <p:nvPr/>
        </p:nvSpPr>
        <p:spPr>
          <a:xfrm>
            <a:off x="1349077" y="539750"/>
            <a:ext cx="2566690" cy="441623"/>
          </a:xfrm>
          <a:prstGeom prst="rect">
            <a:avLst/>
          </a:prstGeom>
          <a:noFill/>
        </p:spPr>
        <p:txBody>
          <a:bodyPr wrap="none" lIns="0" rIns="0" tIns="0" bIns="0">
            <a:noAutofit/>
          </a:bodyPr>
          <a:lstStyle/>
          <a:p>
            <a:pPr>
              <a:lnSpc>
                <a:spcPts val="3328"/>
              </a:lnSpc>
              <a:spcBef>
                <a:spcPts val="0"/>
              </a:spcBef>
              <a:spcAft>
                <a:spcPts val="0"/>
              </a:spcAft>
            </a:pPr>
            <a:r>
              <a:rPr sz="3200" b="0">
                <a:solidFill>
                  <a:srgbClr val="EDEEE9"/>
                </a:solidFill>
                <a:latin typeface="Gloock"/>
              </a:rPr>
              <a:t>AI Philosophy</a:t>
            </a:r>
          </a:p>
        </p:txBody>
      </p:sp>
      <p:sp>
        <p:nvSpPr>
          <p:cNvPr id="33" name="TextBox 32"/>
          <p:cNvSpPr txBox="1"/>
          <p:nvPr/>
        </p:nvSpPr>
        <p:spPr>
          <a:xfrm>
            <a:off x="8975824" y="806450"/>
            <a:ext cx="2619276" cy="139700"/>
          </a:xfrm>
          <a:prstGeom prst="rect">
            <a:avLst/>
          </a:prstGeom>
          <a:noFill/>
        </p:spPr>
        <p:txBody>
          <a:bodyPr wrap="none" lIns="0" rIns="0" tIns="0" bIns="0">
            <a:noAutofit/>
          </a:bodyPr>
          <a:lstStyle/>
          <a:p>
            <a:pPr>
              <a:spcBef>
                <a:spcPts val="0"/>
              </a:spcBef>
              <a:spcAft>
                <a:spcPts val="0"/>
              </a:spcAft>
            </a:pPr>
            <a:r>
              <a:rPr sz="800" b="0" spc="72">
                <a:solidFill>
                  <a:srgbClr val="84867E"/>
                </a:solidFill>
                <a:latin typeface="Spline Sans Mono"/>
              </a:rPr>
              <a:t>THE FRONTIER, APPROACHED DELIBERATELY</a:t>
            </a:r>
          </a:p>
        </p:txBody>
      </p:sp>
      <p:sp>
        <p:nvSpPr>
          <p:cNvPr id="34" name="TextBox 33"/>
          <p:cNvSpPr txBox="1"/>
          <p:nvPr/>
        </p:nvSpPr>
        <p:spPr>
          <a:xfrm>
            <a:off x="596900" y="1178223"/>
            <a:ext cx="10998200" cy="600174"/>
          </a:xfrm>
          <a:prstGeom prst="rect">
            <a:avLst/>
          </a:prstGeom>
          <a:noFill/>
        </p:spPr>
        <p:txBody>
          <a:bodyPr wrap="none" lIns="0" rIns="0" tIns="0" bIns="0">
            <a:noAutofit/>
          </a:bodyPr>
          <a:lstStyle/>
          <a:p>
            <a:pPr>
              <a:lnSpc>
                <a:spcPts val="4576"/>
              </a:lnSpc>
              <a:spcBef>
                <a:spcPts val="0"/>
              </a:spcBef>
              <a:spcAft>
                <a:spcPts val="0"/>
              </a:spcAft>
            </a:pPr>
            <a:r>
              <a:rPr sz="4400" b="0">
                <a:solidFill>
                  <a:srgbClr val="EDEEE9"/>
                </a:solidFill>
                <a:latin typeface="Gloock"/>
              </a:rPr>
              <a:t>Do not automate a bad process.</a:t>
            </a:r>
          </a:p>
        </p:txBody>
      </p:sp>
      <p:sp>
        <p:nvSpPr>
          <p:cNvPr id="35" name="TextBox 34"/>
          <p:cNvSpPr txBox="1"/>
          <p:nvPr/>
        </p:nvSpPr>
        <p:spPr>
          <a:xfrm>
            <a:off x="596900" y="1924447"/>
            <a:ext cx="6692900" cy="514350"/>
          </a:xfrm>
          <a:prstGeom prst="rect">
            <a:avLst/>
          </a:prstGeom>
          <a:noFill/>
        </p:spPr>
        <p:txBody>
          <a:bodyPr wrap="square" lIns="0" rIns="0" tIns="0" bIns="0">
            <a:noAutofit/>
          </a:bodyPr>
          <a:lstStyle/>
          <a:p>
            <a:pPr>
              <a:lnSpc>
                <a:spcPts val="1950"/>
              </a:lnSpc>
              <a:spcBef>
                <a:spcPts val="0"/>
              </a:spcBef>
              <a:spcAft>
                <a:spcPts val="0"/>
              </a:spcAft>
            </a:pPr>
            <a:r>
              <a:rPr sz="1300" b="0">
                <a:solidFill>
                  <a:srgbClr val="C9CEC7"/>
                </a:solidFill>
                <a:latin typeface="Schibsted Grotesk"/>
              </a:rPr>
              <a:t>We start with the business, not the technology. Technology should support the business, not complicate it. AI is added last, and only where it creates value.</a:t>
            </a:r>
          </a:p>
        </p:txBody>
      </p:sp>
      <p:sp>
        <p:nvSpPr>
          <p:cNvPr id="36" name="TextBox 35"/>
          <p:cNvSpPr txBox="1"/>
          <p:nvPr/>
        </p:nvSpPr>
        <p:spPr>
          <a:xfrm>
            <a:off x="590692" y="2979948"/>
            <a:ext cx="743744" cy="146050"/>
          </a:xfrm>
          <a:prstGeom prst="rect">
            <a:avLst/>
          </a:prstGeom>
          <a:noFill/>
        </p:spPr>
        <p:txBody>
          <a:bodyPr wrap="none" lIns="0" rIns="0" tIns="0" bIns="0">
            <a:noAutofit/>
          </a:bodyPr>
          <a:lstStyle/>
          <a:p>
            <a:pPr>
              <a:spcBef>
                <a:spcPts val="0"/>
              </a:spcBef>
              <a:spcAft>
                <a:spcPts val="0"/>
              </a:spcAft>
            </a:pPr>
            <a:r>
              <a:rPr sz="850" b="1" spc="113">
                <a:solidFill>
                  <a:srgbClr val="F0492A"/>
                </a:solidFill>
                <a:latin typeface="Spline Sans Mono"/>
              </a:rPr>
              <a:t>WRONG WAY</a:t>
            </a:r>
          </a:p>
        </p:txBody>
      </p:sp>
      <p:sp>
        <p:nvSpPr>
          <p:cNvPr id="37" name="TextBox 36"/>
          <p:cNvSpPr txBox="1"/>
          <p:nvPr/>
        </p:nvSpPr>
        <p:spPr>
          <a:xfrm>
            <a:off x="1628537" y="3538026"/>
            <a:ext cx="453430" cy="139700"/>
          </a:xfrm>
          <a:prstGeom prst="rect">
            <a:avLst/>
          </a:prstGeom>
          <a:noFill/>
        </p:spPr>
        <p:txBody>
          <a:bodyPr wrap="none" lIns="0" rIns="0" tIns="0" bIns="0">
            <a:noAutofit/>
          </a:bodyPr>
          <a:lstStyle/>
          <a:p>
            <a:pPr>
              <a:spcBef>
                <a:spcPts val="0"/>
              </a:spcBef>
              <a:spcAft>
                <a:spcPts val="0"/>
              </a:spcAft>
            </a:pPr>
            <a:r>
              <a:rPr sz="802" b="0">
                <a:solidFill>
                  <a:srgbClr val="EDEEE9"/>
                </a:solidFill>
                <a:latin typeface="Spline Sans Mono"/>
              </a:rPr>
              <a:t>PROBLEM</a:t>
            </a:r>
          </a:p>
        </p:txBody>
      </p:sp>
      <p:sp>
        <p:nvSpPr>
          <p:cNvPr id="38" name="TextBox 37"/>
          <p:cNvSpPr txBox="1"/>
          <p:nvPr/>
        </p:nvSpPr>
        <p:spPr>
          <a:xfrm>
            <a:off x="3859445" y="3538026"/>
            <a:ext cx="392311" cy="139700"/>
          </a:xfrm>
          <a:prstGeom prst="rect">
            <a:avLst/>
          </a:prstGeom>
          <a:noFill/>
        </p:spPr>
        <p:txBody>
          <a:bodyPr wrap="none" lIns="0" rIns="0" tIns="0" bIns="0">
            <a:noAutofit/>
          </a:bodyPr>
          <a:lstStyle/>
          <a:p>
            <a:pPr>
              <a:spcBef>
                <a:spcPts val="0"/>
              </a:spcBef>
              <a:spcAft>
                <a:spcPts val="0"/>
              </a:spcAft>
            </a:pPr>
            <a:r>
              <a:rPr sz="802" b="0">
                <a:solidFill>
                  <a:srgbClr val="EDEEE9"/>
                </a:solidFill>
                <a:latin typeface="Spline Sans Mono"/>
              </a:rPr>
              <a:t>BUY AI</a:t>
            </a:r>
          </a:p>
        </p:txBody>
      </p:sp>
      <p:sp>
        <p:nvSpPr>
          <p:cNvPr id="39" name="TextBox 38"/>
          <p:cNvSpPr txBox="1"/>
          <p:nvPr/>
        </p:nvSpPr>
        <p:spPr>
          <a:xfrm>
            <a:off x="8129355" y="3298146"/>
            <a:ext cx="1617378" cy="146050"/>
          </a:xfrm>
          <a:prstGeom prst="rect">
            <a:avLst/>
          </a:prstGeom>
          <a:noFill/>
        </p:spPr>
        <p:txBody>
          <a:bodyPr wrap="none" lIns="0" rIns="0" tIns="0" bIns="0">
            <a:noAutofit/>
          </a:bodyPr>
          <a:lstStyle/>
          <a:p>
            <a:pPr>
              <a:spcBef>
                <a:spcPts val="0"/>
              </a:spcBef>
              <a:spcAft>
                <a:spcPts val="0"/>
              </a:spcAft>
            </a:pPr>
            <a:r>
              <a:rPr sz="802" b="0">
                <a:solidFill>
                  <a:srgbClr val="F0492A"/>
                </a:solidFill>
                <a:latin typeface="Spline Sans Mono"/>
              </a:rPr>
              <a:t>THE MESS, AUTOMATED FASTER</a:t>
            </a:r>
          </a:p>
        </p:txBody>
      </p:sp>
      <p:sp>
        <p:nvSpPr>
          <p:cNvPr id="40" name="TextBox 39"/>
          <p:cNvSpPr txBox="1"/>
          <p:nvPr/>
        </p:nvSpPr>
        <p:spPr>
          <a:xfrm>
            <a:off x="597042" y="4107396"/>
            <a:ext cx="737394" cy="146050"/>
          </a:xfrm>
          <a:prstGeom prst="rect">
            <a:avLst/>
          </a:prstGeom>
          <a:noFill/>
        </p:spPr>
        <p:txBody>
          <a:bodyPr wrap="none" lIns="0" rIns="0" tIns="0" bIns="0">
            <a:noAutofit/>
          </a:bodyPr>
          <a:lstStyle/>
          <a:p>
            <a:pPr>
              <a:spcBef>
                <a:spcPts val="0"/>
              </a:spcBef>
              <a:spcAft>
                <a:spcPts val="0"/>
              </a:spcAft>
            </a:pPr>
            <a:r>
              <a:rPr sz="850" b="1" spc="113">
                <a:solidFill>
                  <a:srgbClr val="5F8A76"/>
                </a:solidFill>
                <a:latin typeface="Spline Sans Mono"/>
              </a:rPr>
              <a:t>RIGHT WAY</a:t>
            </a:r>
          </a:p>
        </p:txBody>
      </p:sp>
      <p:sp>
        <p:nvSpPr>
          <p:cNvPr id="41" name="TextBox 40"/>
          <p:cNvSpPr txBox="1"/>
          <p:nvPr/>
        </p:nvSpPr>
        <p:spPr>
          <a:xfrm>
            <a:off x="1714895" y="4689463"/>
            <a:ext cx="453430" cy="139700"/>
          </a:xfrm>
          <a:prstGeom prst="rect">
            <a:avLst/>
          </a:prstGeom>
          <a:noFill/>
        </p:spPr>
        <p:txBody>
          <a:bodyPr wrap="none" lIns="0" rIns="0" tIns="0" bIns="0">
            <a:noAutofit/>
          </a:bodyPr>
          <a:lstStyle/>
          <a:p>
            <a:pPr>
              <a:spcBef>
                <a:spcPts val="0"/>
              </a:spcBef>
              <a:spcAft>
                <a:spcPts val="0"/>
              </a:spcAft>
            </a:pPr>
            <a:r>
              <a:rPr sz="802" b="0">
                <a:solidFill>
                  <a:srgbClr val="EDEEE9"/>
                </a:solidFill>
                <a:latin typeface="Spline Sans Mono"/>
              </a:rPr>
              <a:t>PROBLEM</a:t>
            </a:r>
          </a:p>
        </p:txBody>
      </p:sp>
      <p:sp>
        <p:nvSpPr>
          <p:cNvPr id="42" name="TextBox 41"/>
          <p:cNvSpPr txBox="1"/>
          <p:nvPr/>
        </p:nvSpPr>
        <p:spPr>
          <a:xfrm>
            <a:off x="3950600" y="4689463"/>
            <a:ext cx="1311682" cy="139700"/>
          </a:xfrm>
          <a:prstGeom prst="rect">
            <a:avLst/>
          </a:prstGeom>
          <a:noFill/>
        </p:spPr>
        <p:txBody>
          <a:bodyPr wrap="none" lIns="0" rIns="0" tIns="0" bIns="0">
            <a:noAutofit/>
          </a:bodyPr>
          <a:lstStyle/>
          <a:p>
            <a:pPr>
              <a:spcBef>
                <a:spcPts val="0"/>
              </a:spcBef>
              <a:spcAft>
                <a:spcPts val="0"/>
              </a:spcAft>
            </a:pPr>
            <a:r>
              <a:rPr sz="802" b="0">
                <a:solidFill>
                  <a:srgbClr val="EDEEE9"/>
                </a:solidFill>
                <a:latin typeface="Spline Sans Mono"/>
              </a:rPr>
              <a:t>UNDERSTAND &amp; SIMPLIFY</a:t>
            </a:r>
          </a:p>
        </p:txBody>
      </p:sp>
      <p:sp>
        <p:nvSpPr>
          <p:cNvPr id="43" name="TextBox 42"/>
          <p:cNvSpPr txBox="1"/>
          <p:nvPr/>
        </p:nvSpPr>
        <p:spPr>
          <a:xfrm>
            <a:off x="6800405" y="4689463"/>
            <a:ext cx="1370509" cy="139700"/>
          </a:xfrm>
          <a:prstGeom prst="rect">
            <a:avLst/>
          </a:prstGeom>
          <a:noFill/>
        </p:spPr>
        <p:txBody>
          <a:bodyPr wrap="none" lIns="0" rIns="0" tIns="0" bIns="0">
            <a:noAutofit/>
          </a:bodyPr>
          <a:lstStyle/>
          <a:p>
            <a:pPr>
              <a:spcBef>
                <a:spcPts val="0"/>
              </a:spcBef>
              <a:spcAft>
                <a:spcPts val="0"/>
              </a:spcAft>
            </a:pPr>
            <a:r>
              <a:rPr sz="802" b="0">
                <a:solidFill>
                  <a:srgbClr val="EDEEE9"/>
                </a:solidFill>
                <a:latin typeface="Spline Sans Mono"/>
              </a:rPr>
              <a:t>HUMAN · AUTOMATED · AI</a:t>
            </a:r>
          </a:p>
        </p:txBody>
      </p:sp>
      <p:sp>
        <p:nvSpPr>
          <p:cNvPr id="44" name="TextBox 43"/>
          <p:cNvSpPr txBox="1"/>
          <p:nvPr/>
        </p:nvSpPr>
        <p:spPr>
          <a:xfrm>
            <a:off x="9933273" y="4689463"/>
            <a:ext cx="575667" cy="139700"/>
          </a:xfrm>
          <a:prstGeom prst="rect">
            <a:avLst/>
          </a:prstGeom>
          <a:noFill/>
        </p:spPr>
        <p:txBody>
          <a:bodyPr wrap="none" lIns="0" rIns="0" tIns="0" bIns="0">
            <a:noAutofit/>
          </a:bodyPr>
          <a:lstStyle/>
          <a:p>
            <a:pPr>
              <a:spcBef>
                <a:spcPts val="0"/>
              </a:spcBef>
              <a:spcAft>
                <a:spcPts val="0"/>
              </a:spcAft>
            </a:pPr>
            <a:r>
              <a:rPr sz="802" b="0">
                <a:solidFill>
                  <a:srgbClr val="EDEEE9"/>
                </a:solidFill>
                <a:latin typeface="Spline Sans Mono"/>
              </a:rPr>
              <a:t>IMPLEMENT</a:t>
            </a:r>
          </a:p>
        </p:txBody>
      </p:sp>
      <p:sp>
        <p:nvSpPr>
          <p:cNvPr id="45" name="TextBox 44"/>
          <p:cNvSpPr txBox="1"/>
          <p:nvPr/>
        </p:nvSpPr>
        <p:spPr>
          <a:xfrm>
            <a:off x="10528181" y="4209700"/>
            <a:ext cx="331193" cy="139700"/>
          </a:xfrm>
          <a:prstGeom prst="rect">
            <a:avLst/>
          </a:prstGeom>
          <a:noFill/>
        </p:spPr>
        <p:txBody>
          <a:bodyPr wrap="none" lIns="0" rIns="0" tIns="0" bIns="0">
            <a:noAutofit/>
          </a:bodyPr>
          <a:lstStyle/>
          <a:p>
            <a:pPr>
              <a:spcBef>
                <a:spcPts val="0"/>
              </a:spcBef>
              <a:spcAft>
                <a:spcPts val="0"/>
              </a:spcAft>
            </a:pPr>
            <a:r>
              <a:rPr sz="802" b="0">
                <a:solidFill>
                  <a:srgbClr val="5F8A76"/>
                </a:solidFill>
                <a:latin typeface="Spline Sans Mono"/>
              </a:rPr>
              <a:t>VALUE</a:t>
            </a:r>
          </a:p>
        </p:txBody>
      </p:sp>
      <p:sp>
        <p:nvSpPr>
          <p:cNvPr id="46" name="TextBox 45"/>
          <p:cNvSpPr txBox="1"/>
          <p:nvPr/>
        </p:nvSpPr>
        <p:spPr>
          <a:xfrm>
            <a:off x="596900" y="5471914"/>
            <a:ext cx="10998200" cy="234950"/>
          </a:xfrm>
          <a:prstGeom prst="rect">
            <a:avLst/>
          </a:prstGeom>
          <a:noFill/>
        </p:spPr>
        <p:txBody>
          <a:bodyPr wrap="none" lIns="0" rIns="0" tIns="0" bIns="0">
            <a:noAutofit/>
          </a:bodyPr>
          <a:lstStyle/>
          <a:p>
            <a:pPr>
              <a:lnSpc>
                <a:spcPts val="1700"/>
              </a:lnSpc>
              <a:spcBef>
                <a:spcPts val="0"/>
              </a:spcBef>
              <a:spcAft>
                <a:spcPts val="0"/>
              </a:spcAft>
            </a:pPr>
            <a:r>
              <a:rPr sz="850" b="0" spc="60">
                <a:solidFill>
                  <a:srgbClr val="6F766F"/>
                </a:solidFill>
                <a:latin typeface="Spline Sans Mono"/>
              </a:rPr>
              <a:t>WHAT DO WE ALREADY OWN? · WHAT OVERLAPS? · WHAT IS UNDERUSED? · WHAT SHOULD BE AUTOMATED? · WHERE DOES AI MAKE SENSE? · WHAT WILL THIS COST AT SCALE?</a:t>
            </a:r>
          </a:p>
        </p:txBody>
      </p:sp>
      <p:sp>
        <p:nvSpPr>
          <p:cNvPr id="47" name="TextBox 46"/>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6F766F"/>
                </a:solidFill>
                <a:latin typeface="Spline Sans Mono"/>
              </a:rPr>
              <a:t>SCHULTE &amp; CO. · GROWTH BY DESIGN</a:t>
            </a:r>
          </a:p>
        </p:txBody>
      </p:sp>
      <p:sp>
        <p:nvSpPr>
          <p:cNvPr id="48" name="TextBox 47"/>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6F766F"/>
                </a:solidFill>
                <a:latin typeface="Spline Sans Mono"/>
              </a:rPr>
              <a:t>SHEET 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609600" y="6572250"/>
            <a:ext cx="10972800" cy="6350"/>
          </a:xfrm>
          <a:prstGeom prst="rect">
            <a:avLst/>
          </a:prstGeom>
          <a:solidFill>
            <a:srgbClr val="131417"/>
          </a:solidFill>
          <a:ln>
            <a:noFill/>
          </a:ln>
          <a:effectLst/>
        </p:spPr>
        <p:txBody>
          <a:bodyPr rtlCol="0" anchor="ctr"/>
          <a:lstStyle/>
          <a:p>
            <a:pPr algn="ctr"/>
          </a:p>
        </p:txBody>
      </p:sp>
      <p:sp>
        <p:nvSpPr>
          <p:cNvPr id="3" name="Rectangle 2"/>
          <p:cNvSpPr/>
          <p:nvPr/>
        </p:nvSpPr>
        <p:spPr>
          <a:xfrm>
            <a:off x="609600" y="6540500"/>
            <a:ext cx="6350" cy="69850"/>
          </a:xfrm>
          <a:prstGeom prst="rect">
            <a:avLst/>
          </a:prstGeom>
          <a:solidFill>
            <a:srgbClr val="131417"/>
          </a:solidFill>
          <a:ln>
            <a:noFill/>
          </a:ln>
          <a:effectLst/>
        </p:spPr>
        <p:txBody>
          <a:bodyPr rtlCol="0" anchor="ctr"/>
          <a:lstStyle/>
          <a:p>
            <a:pPr algn="ctr"/>
          </a:p>
        </p:txBody>
      </p:sp>
      <p:sp>
        <p:nvSpPr>
          <p:cNvPr id="4" name="Rectangle 3"/>
          <p:cNvSpPr/>
          <p:nvPr/>
        </p:nvSpPr>
        <p:spPr>
          <a:xfrm>
            <a:off x="1828800" y="6540500"/>
            <a:ext cx="6350" cy="69850"/>
          </a:xfrm>
          <a:prstGeom prst="rect">
            <a:avLst/>
          </a:prstGeom>
          <a:solidFill>
            <a:srgbClr val="131417"/>
          </a:solidFill>
          <a:ln>
            <a:noFill/>
          </a:ln>
          <a:effectLst/>
        </p:spPr>
        <p:txBody>
          <a:bodyPr rtlCol="0" anchor="ctr"/>
          <a:lstStyle/>
          <a:p>
            <a:pPr algn="ctr"/>
          </a:p>
        </p:txBody>
      </p:sp>
      <p:sp>
        <p:nvSpPr>
          <p:cNvPr id="5" name="Rectangle 4"/>
          <p:cNvSpPr/>
          <p:nvPr/>
        </p:nvSpPr>
        <p:spPr>
          <a:xfrm>
            <a:off x="3048000" y="6540500"/>
            <a:ext cx="6350" cy="69850"/>
          </a:xfrm>
          <a:prstGeom prst="rect">
            <a:avLst/>
          </a:prstGeom>
          <a:solidFill>
            <a:srgbClr val="131417"/>
          </a:solidFill>
          <a:ln>
            <a:noFill/>
          </a:ln>
          <a:effectLst/>
        </p:spPr>
        <p:txBody>
          <a:bodyPr rtlCol="0" anchor="ctr"/>
          <a:lstStyle/>
          <a:p>
            <a:pPr algn="ctr"/>
          </a:p>
        </p:txBody>
      </p:sp>
      <p:sp>
        <p:nvSpPr>
          <p:cNvPr id="6" name="Rectangle 5"/>
          <p:cNvSpPr/>
          <p:nvPr/>
        </p:nvSpPr>
        <p:spPr>
          <a:xfrm>
            <a:off x="4267101" y="6540500"/>
            <a:ext cx="6350" cy="69850"/>
          </a:xfrm>
          <a:prstGeom prst="rect">
            <a:avLst/>
          </a:prstGeom>
          <a:solidFill>
            <a:srgbClr val="131417"/>
          </a:solidFill>
          <a:ln>
            <a:noFill/>
          </a:ln>
          <a:effectLst/>
        </p:spPr>
        <p:txBody>
          <a:bodyPr rtlCol="0" anchor="ctr"/>
          <a:lstStyle/>
          <a:p>
            <a:pPr algn="ctr"/>
          </a:p>
        </p:txBody>
      </p:sp>
      <p:sp>
        <p:nvSpPr>
          <p:cNvPr id="7" name="Rectangle 6"/>
          <p:cNvSpPr/>
          <p:nvPr/>
        </p:nvSpPr>
        <p:spPr>
          <a:xfrm>
            <a:off x="5486400" y="6540500"/>
            <a:ext cx="6350" cy="69850"/>
          </a:xfrm>
          <a:prstGeom prst="rect">
            <a:avLst/>
          </a:prstGeom>
          <a:solidFill>
            <a:srgbClr val="131417"/>
          </a:solidFill>
          <a:ln>
            <a:noFill/>
          </a:ln>
          <a:effectLst/>
        </p:spPr>
        <p:txBody>
          <a:bodyPr rtlCol="0" anchor="ctr"/>
          <a:lstStyle/>
          <a:p>
            <a:pPr algn="ctr"/>
          </a:p>
        </p:txBody>
      </p:sp>
      <p:sp>
        <p:nvSpPr>
          <p:cNvPr id="8" name="Rectangle 7"/>
          <p:cNvSpPr/>
          <p:nvPr/>
        </p:nvSpPr>
        <p:spPr>
          <a:xfrm>
            <a:off x="6705600" y="6540500"/>
            <a:ext cx="6350" cy="69850"/>
          </a:xfrm>
          <a:prstGeom prst="rect">
            <a:avLst/>
          </a:prstGeom>
          <a:solidFill>
            <a:srgbClr val="131417"/>
          </a:solidFill>
          <a:ln>
            <a:noFill/>
          </a:ln>
          <a:effectLst/>
        </p:spPr>
        <p:txBody>
          <a:bodyPr rtlCol="0" anchor="ctr"/>
          <a:lstStyle/>
          <a:p>
            <a:pPr algn="ctr"/>
          </a:p>
        </p:txBody>
      </p:sp>
      <p:sp>
        <p:nvSpPr>
          <p:cNvPr id="9" name="Rectangle 8"/>
          <p:cNvSpPr/>
          <p:nvPr/>
        </p:nvSpPr>
        <p:spPr>
          <a:xfrm>
            <a:off x="7924701" y="6540500"/>
            <a:ext cx="6350" cy="69850"/>
          </a:xfrm>
          <a:prstGeom prst="rect">
            <a:avLst/>
          </a:prstGeom>
          <a:solidFill>
            <a:srgbClr val="131417"/>
          </a:solidFill>
          <a:ln>
            <a:noFill/>
          </a:ln>
          <a:effectLst/>
        </p:spPr>
        <p:txBody>
          <a:bodyPr rtlCol="0" anchor="ctr"/>
          <a:lstStyle/>
          <a:p>
            <a:pPr algn="ctr"/>
          </a:p>
        </p:txBody>
      </p:sp>
      <p:sp>
        <p:nvSpPr>
          <p:cNvPr id="10" name="Rectangle 9"/>
          <p:cNvSpPr/>
          <p:nvPr/>
        </p:nvSpPr>
        <p:spPr>
          <a:xfrm>
            <a:off x="9144000" y="6540500"/>
            <a:ext cx="6350" cy="69850"/>
          </a:xfrm>
          <a:prstGeom prst="rect">
            <a:avLst/>
          </a:prstGeom>
          <a:solidFill>
            <a:srgbClr val="131417"/>
          </a:solidFill>
          <a:ln>
            <a:noFill/>
          </a:ln>
          <a:effectLst/>
        </p:spPr>
        <p:txBody>
          <a:bodyPr rtlCol="0" anchor="ctr"/>
          <a:lstStyle/>
          <a:p>
            <a:pPr algn="ctr"/>
          </a:p>
        </p:txBody>
      </p:sp>
      <p:sp>
        <p:nvSpPr>
          <p:cNvPr id="11" name="Rectangle 10"/>
          <p:cNvSpPr/>
          <p:nvPr/>
        </p:nvSpPr>
        <p:spPr>
          <a:xfrm>
            <a:off x="10363200" y="6540500"/>
            <a:ext cx="6350" cy="69850"/>
          </a:xfrm>
          <a:prstGeom prst="rect">
            <a:avLst/>
          </a:prstGeom>
          <a:solidFill>
            <a:srgbClr val="131417"/>
          </a:solidFill>
          <a:ln>
            <a:noFill/>
          </a:ln>
          <a:effectLst/>
        </p:spPr>
        <p:txBody>
          <a:bodyPr rtlCol="0" anchor="ctr"/>
          <a:lstStyle/>
          <a:p>
            <a:pPr algn="ctr"/>
          </a:p>
        </p:txBody>
      </p:sp>
      <p:sp>
        <p:nvSpPr>
          <p:cNvPr id="12" name="Rectangle 11"/>
          <p:cNvSpPr/>
          <p:nvPr/>
        </p:nvSpPr>
        <p:spPr>
          <a:xfrm>
            <a:off x="11582400" y="6540500"/>
            <a:ext cx="6350" cy="69850"/>
          </a:xfrm>
          <a:prstGeom prst="rect">
            <a:avLst/>
          </a:prstGeom>
          <a:solidFill>
            <a:srgbClr val="131417"/>
          </a:solidFill>
          <a:ln>
            <a:noFill/>
          </a:ln>
          <a:effectLst/>
        </p:spPr>
        <p:txBody>
          <a:bodyPr rtlCol="0" anchor="ctr"/>
          <a:lstStyle/>
          <a:p>
            <a:pPr algn="ctr"/>
          </a:p>
        </p:txBody>
      </p:sp>
      <p:sp>
        <p:nvSpPr>
          <p:cNvPr id="13" name="Diamond 12"/>
          <p:cNvSpPr/>
          <p:nvPr/>
        </p:nvSpPr>
        <p:spPr>
          <a:xfrm>
            <a:off x="9112250" y="6546850"/>
            <a:ext cx="63500" cy="63500"/>
          </a:xfrm>
          <a:prstGeom prst="diamond">
            <a:avLst/>
          </a:prstGeom>
          <a:solidFill>
            <a:srgbClr val="D93A1F"/>
          </a:solidFill>
          <a:ln>
            <a:noFill/>
          </a:ln>
          <a:effectLst/>
        </p:spPr>
        <p:txBody>
          <a:bodyPr rtlCol="0" anchor="ctr"/>
          <a:lstStyle/>
          <a:p>
            <a:pPr algn="ctr"/>
          </a:p>
        </p:txBody>
      </p:sp>
      <p:cxnSp>
        <p:nvCxnSpPr>
          <p:cNvPr id="14" name="Connector 13"/>
          <p:cNvCxnSpPr/>
          <p:nvPr/>
        </p:nvCxnSpPr>
        <p:spPr>
          <a:xfrm>
            <a:off x="609600" y="412750"/>
            <a:ext cx="10972800" cy="0"/>
          </a:xfrm>
          <a:prstGeom prst="line">
            <a:avLst/>
          </a:prstGeom>
          <a:ln w="12700">
            <a:solidFill>
              <a:srgbClr val="131417"/>
            </a:solidFill>
          </a:ln>
          <a:effectLst/>
        </p:spPr>
      </p:cxnSp>
      <p:cxnSp>
        <p:nvCxnSpPr>
          <p:cNvPr id="15" name="Connector 14"/>
          <p:cNvCxnSpPr/>
          <p:nvPr/>
        </p:nvCxnSpPr>
        <p:spPr>
          <a:xfrm>
            <a:off x="609600" y="1194098"/>
            <a:ext cx="5137150" cy="0"/>
          </a:xfrm>
          <a:prstGeom prst="line">
            <a:avLst/>
          </a:prstGeom>
          <a:ln w="19050">
            <a:solidFill>
              <a:srgbClr val="131417"/>
            </a:solidFill>
          </a:ln>
          <a:effectLst/>
        </p:spPr>
      </p:cxnSp>
      <p:cxnSp>
        <p:nvCxnSpPr>
          <p:cNvPr id="16" name="Connector 15"/>
          <p:cNvCxnSpPr/>
          <p:nvPr/>
        </p:nvCxnSpPr>
        <p:spPr>
          <a:xfrm>
            <a:off x="609600" y="2349798"/>
            <a:ext cx="5137150" cy="0"/>
          </a:xfrm>
          <a:prstGeom prst="line">
            <a:avLst/>
          </a:prstGeom>
          <a:ln w="6350">
            <a:solidFill>
              <a:srgbClr val="E4E4DD"/>
            </a:solidFill>
          </a:ln>
          <a:effectLst/>
        </p:spPr>
      </p:cxnSp>
      <p:cxnSp>
        <p:nvCxnSpPr>
          <p:cNvPr id="17" name="Connector 16"/>
          <p:cNvCxnSpPr/>
          <p:nvPr/>
        </p:nvCxnSpPr>
        <p:spPr>
          <a:xfrm>
            <a:off x="609600" y="2641898"/>
            <a:ext cx="5137150" cy="0"/>
          </a:xfrm>
          <a:prstGeom prst="line">
            <a:avLst/>
          </a:prstGeom>
          <a:ln w="6350">
            <a:solidFill>
              <a:srgbClr val="E4E4DD"/>
            </a:solidFill>
          </a:ln>
          <a:effectLst/>
        </p:spPr>
      </p:cxnSp>
      <p:cxnSp>
        <p:nvCxnSpPr>
          <p:cNvPr id="18" name="Connector 17"/>
          <p:cNvCxnSpPr/>
          <p:nvPr/>
        </p:nvCxnSpPr>
        <p:spPr>
          <a:xfrm>
            <a:off x="609600" y="2933998"/>
            <a:ext cx="5137150" cy="0"/>
          </a:xfrm>
          <a:prstGeom prst="line">
            <a:avLst/>
          </a:prstGeom>
          <a:ln w="6350">
            <a:solidFill>
              <a:srgbClr val="E4E4DD"/>
            </a:solidFill>
          </a:ln>
          <a:effectLst/>
        </p:spPr>
      </p:cxnSp>
      <p:cxnSp>
        <p:nvCxnSpPr>
          <p:cNvPr id="19" name="Connector 18"/>
          <p:cNvCxnSpPr/>
          <p:nvPr/>
        </p:nvCxnSpPr>
        <p:spPr>
          <a:xfrm>
            <a:off x="609600" y="3226098"/>
            <a:ext cx="5137150" cy="0"/>
          </a:xfrm>
          <a:prstGeom prst="line">
            <a:avLst/>
          </a:prstGeom>
          <a:ln w="6350">
            <a:solidFill>
              <a:srgbClr val="E4E4DD"/>
            </a:solidFill>
          </a:ln>
          <a:effectLst/>
        </p:spPr>
      </p:cxnSp>
      <p:cxnSp>
        <p:nvCxnSpPr>
          <p:cNvPr id="20" name="Connector 19"/>
          <p:cNvCxnSpPr/>
          <p:nvPr/>
        </p:nvCxnSpPr>
        <p:spPr>
          <a:xfrm>
            <a:off x="6445250" y="1194098"/>
            <a:ext cx="5137150" cy="0"/>
          </a:xfrm>
          <a:prstGeom prst="line">
            <a:avLst/>
          </a:prstGeom>
          <a:ln w="19050">
            <a:solidFill>
              <a:srgbClr val="131417"/>
            </a:solidFill>
          </a:ln>
          <a:effectLst/>
        </p:spPr>
      </p:cxnSp>
      <p:cxnSp>
        <p:nvCxnSpPr>
          <p:cNvPr id="21" name="Connector 20"/>
          <p:cNvCxnSpPr/>
          <p:nvPr/>
        </p:nvCxnSpPr>
        <p:spPr>
          <a:xfrm>
            <a:off x="6445250" y="2349798"/>
            <a:ext cx="5137150" cy="0"/>
          </a:xfrm>
          <a:prstGeom prst="line">
            <a:avLst/>
          </a:prstGeom>
          <a:ln w="6350">
            <a:solidFill>
              <a:srgbClr val="E4E4DD"/>
            </a:solidFill>
          </a:ln>
          <a:effectLst/>
        </p:spPr>
      </p:cxnSp>
      <p:cxnSp>
        <p:nvCxnSpPr>
          <p:cNvPr id="22" name="Connector 21"/>
          <p:cNvCxnSpPr/>
          <p:nvPr/>
        </p:nvCxnSpPr>
        <p:spPr>
          <a:xfrm>
            <a:off x="6445250" y="2641898"/>
            <a:ext cx="5137150" cy="0"/>
          </a:xfrm>
          <a:prstGeom prst="line">
            <a:avLst/>
          </a:prstGeom>
          <a:ln w="6350">
            <a:solidFill>
              <a:srgbClr val="E4E4DD"/>
            </a:solidFill>
          </a:ln>
          <a:effectLst/>
        </p:spPr>
      </p:cxnSp>
      <p:cxnSp>
        <p:nvCxnSpPr>
          <p:cNvPr id="23" name="Connector 22"/>
          <p:cNvCxnSpPr/>
          <p:nvPr/>
        </p:nvCxnSpPr>
        <p:spPr>
          <a:xfrm>
            <a:off x="6445250" y="2933998"/>
            <a:ext cx="5137150" cy="0"/>
          </a:xfrm>
          <a:prstGeom prst="line">
            <a:avLst/>
          </a:prstGeom>
          <a:ln w="6350">
            <a:solidFill>
              <a:srgbClr val="E4E4DD"/>
            </a:solidFill>
          </a:ln>
          <a:effectLst/>
        </p:spPr>
      </p:cxnSp>
      <p:cxnSp>
        <p:nvCxnSpPr>
          <p:cNvPr id="24" name="Connector 23"/>
          <p:cNvCxnSpPr/>
          <p:nvPr/>
        </p:nvCxnSpPr>
        <p:spPr>
          <a:xfrm>
            <a:off x="6445250" y="3226098"/>
            <a:ext cx="5137150" cy="0"/>
          </a:xfrm>
          <a:prstGeom prst="line">
            <a:avLst/>
          </a:prstGeom>
          <a:ln w="6350">
            <a:solidFill>
              <a:srgbClr val="E4E4DD"/>
            </a:solidFill>
          </a:ln>
          <a:effectLst/>
        </p:spPr>
      </p:cxnSp>
      <p:sp>
        <p:nvSpPr>
          <p:cNvPr id="25" name="Oval 24"/>
          <p:cNvSpPr/>
          <p:nvPr/>
        </p:nvSpPr>
        <p:spPr>
          <a:xfrm>
            <a:off x="1411705" y="3935794"/>
            <a:ext cx="150395" cy="150395"/>
          </a:xfrm>
          <a:prstGeom prst="ellipse">
            <a:avLst/>
          </a:prstGeom>
          <a:noFill/>
          <a:ln w="13786">
            <a:solidFill>
              <a:srgbClr val="2F4FA2"/>
            </a:solidFill>
          </a:ln>
          <a:effectLst/>
        </p:spPr>
        <p:txBody>
          <a:bodyPr rtlCol="0" anchor="ctr"/>
          <a:lstStyle/>
          <a:p>
            <a:pPr algn="ctr"/>
          </a:p>
        </p:txBody>
      </p:sp>
      <p:cxnSp>
        <p:nvCxnSpPr>
          <p:cNvPr id="26" name="Connector 25"/>
          <p:cNvCxnSpPr/>
          <p:nvPr/>
        </p:nvCxnSpPr>
        <p:spPr>
          <a:xfrm>
            <a:off x="1574633" y="4010991"/>
            <a:ext cx="1955131" cy="0"/>
          </a:xfrm>
          <a:prstGeom prst="line">
            <a:avLst/>
          </a:prstGeom>
          <a:ln w="12532">
            <a:solidFill>
              <a:srgbClr val="2F4FA2"/>
            </a:solidFill>
          </a:ln>
          <a:effectLst/>
        </p:spPr>
      </p:cxnSp>
      <p:sp>
        <p:nvSpPr>
          <p:cNvPr id="27" name="Oval 26"/>
          <p:cNvSpPr/>
          <p:nvPr/>
        </p:nvSpPr>
        <p:spPr>
          <a:xfrm>
            <a:off x="3542297" y="3935794"/>
            <a:ext cx="150395" cy="150395"/>
          </a:xfrm>
          <a:prstGeom prst="ellipse">
            <a:avLst/>
          </a:prstGeom>
          <a:noFill/>
          <a:ln w="13786">
            <a:solidFill>
              <a:srgbClr val="2F4FA2"/>
            </a:solidFill>
          </a:ln>
          <a:effectLst/>
        </p:spPr>
        <p:txBody>
          <a:bodyPr rtlCol="0" anchor="ctr"/>
          <a:lstStyle/>
          <a:p>
            <a:pPr algn="ctr"/>
          </a:p>
        </p:txBody>
      </p:sp>
      <p:cxnSp>
        <p:nvCxnSpPr>
          <p:cNvPr id="28" name="Connector 27"/>
          <p:cNvCxnSpPr/>
          <p:nvPr/>
        </p:nvCxnSpPr>
        <p:spPr>
          <a:xfrm>
            <a:off x="3705225" y="4010991"/>
            <a:ext cx="2080461" cy="0"/>
          </a:xfrm>
          <a:prstGeom prst="line">
            <a:avLst/>
          </a:prstGeom>
          <a:ln w="12532">
            <a:solidFill>
              <a:srgbClr val="2F4FA2"/>
            </a:solidFill>
          </a:ln>
          <a:effectLst/>
        </p:spPr>
      </p:cxnSp>
      <p:sp>
        <p:nvSpPr>
          <p:cNvPr id="29" name="Oval 28"/>
          <p:cNvSpPr/>
          <p:nvPr/>
        </p:nvSpPr>
        <p:spPr>
          <a:xfrm>
            <a:off x="5798218" y="3935794"/>
            <a:ext cx="150395" cy="150395"/>
          </a:xfrm>
          <a:prstGeom prst="ellipse">
            <a:avLst/>
          </a:prstGeom>
          <a:noFill/>
          <a:ln w="13786">
            <a:solidFill>
              <a:srgbClr val="2F4FA2"/>
            </a:solidFill>
          </a:ln>
          <a:effectLst/>
        </p:spPr>
        <p:txBody>
          <a:bodyPr rtlCol="0" anchor="ctr"/>
          <a:lstStyle/>
          <a:p>
            <a:pPr algn="ctr"/>
          </a:p>
        </p:txBody>
      </p:sp>
      <p:cxnSp>
        <p:nvCxnSpPr>
          <p:cNvPr id="30" name="Connector 29"/>
          <p:cNvCxnSpPr/>
          <p:nvPr/>
        </p:nvCxnSpPr>
        <p:spPr>
          <a:xfrm>
            <a:off x="5961146" y="4010991"/>
            <a:ext cx="1955132" cy="0"/>
          </a:xfrm>
          <a:prstGeom prst="line">
            <a:avLst/>
          </a:prstGeom>
          <a:ln w="12532">
            <a:solidFill>
              <a:srgbClr val="2F4FA2"/>
            </a:solidFill>
          </a:ln>
          <a:effectLst/>
        </p:spPr>
      </p:cxnSp>
      <p:sp>
        <p:nvSpPr>
          <p:cNvPr id="31" name="Oval 30"/>
          <p:cNvSpPr/>
          <p:nvPr/>
        </p:nvSpPr>
        <p:spPr>
          <a:xfrm>
            <a:off x="7928811" y="3935794"/>
            <a:ext cx="150395" cy="150395"/>
          </a:xfrm>
          <a:prstGeom prst="ellipse">
            <a:avLst/>
          </a:prstGeom>
          <a:noFill/>
          <a:ln w="13786">
            <a:solidFill>
              <a:srgbClr val="2F4FA2"/>
            </a:solidFill>
          </a:ln>
          <a:effectLst/>
        </p:spPr>
        <p:txBody>
          <a:bodyPr rtlCol="0" anchor="ctr"/>
          <a:lstStyle/>
          <a:p>
            <a:pPr algn="ctr"/>
          </a:p>
        </p:txBody>
      </p:sp>
      <p:cxnSp>
        <p:nvCxnSpPr>
          <p:cNvPr id="32" name="Connector 31"/>
          <p:cNvCxnSpPr/>
          <p:nvPr/>
        </p:nvCxnSpPr>
        <p:spPr>
          <a:xfrm>
            <a:off x="8091738" y="4010991"/>
            <a:ext cx="1453816" cy="0"/>
          </a:xfrm>
          <a:prstGeom prst="line">
            <a:avLst/>
          </a:prstGeom>
          <a:ln w="12532">
            <a:solidFill>
              <a:srgbClr val="2F4FA2"/>
            </a:solidFill>
          </a:ln>
          <a:effectLst/>
        </p:spPr>
      </p:cxnSp>
      <p:sp>
        <p:nvSpPr>
          <p:cNvPr id="33" name="Oval 32"/>
          <p:cNvSpPr/>
          <p:nvPr/>
        </p:nvSpPr>
        <p:spPr>
          <a:xfrm>
            <a:off x="9558087" y="3935794"/>
            <a:ext cx="150395" cy="150395"/>
          </a:xfrm>
          <a:prstGeom prst="ellipse">
            <a:avLst/>
          </a:prstGeom>
          <a:noFill/>
          <a:ln w="13786">
            <a:solidFill>
              <a:srgbClr val="2F4FA2"/>
            </a:solidFill>
          </a:ln>
          <a:effectLst/>
        </p:spPr>
        <p:txBody>
          <a:bodyPr rtlCol="0" anchor="ctr"/>
          <a:lstStyle/>
          <a:p>
            <a:pPr algn="ctr"/>
          </a:p>
        </p:txBody>
      </p:sp>
      <p:sp>
        <p:nvSpPr>
          <p:cNvPr id="34" name="TextBox 33"/>
          <p:cNvSpPr txBox="1"/>
          <p:nvPr/>
        </p:nvSpPr>
        <p:spPr>
          <a:xfrm>
            <a:off x="596900" y="787400"/>
            <a:ext cx="599777" cy="158750"/>
          </a:xfrm>
          <a:prstGeom prst="rect">
            <a:avLst/>
          </a:prstGeom>
          <a:noFill/>
        </p:spPr>
        <p:txBody>
          <a:bodyPr wrap="none" lIns="0" rIns="0" tIns="0" bIns="0">
            <a:noAutofit/>
          </a:bodyPr>
          <a:lstStyle/>
          <a:p>
            <a:pPr>
              <a:spcBef>
                <a:spcPts val="0"/>
              </a:spcBef>
              <a:spcAft>
                <a:spcPts val="0"/>
              </a:spcAft>
            </a:pPr>
            <a:r>
              <a:rPr sz="950" b="1" spc="76">
                <a:solidFill>
                  <a:srgbClr val="D93A1F"/>
                </a:solidFill>
                <a:latin typeface="Spline Sans Mono"/>
              </a:rPr>
              <a:t>FIG. 07</a:t>
            </a:r>
          </a:p>
        </p:txBody>
      </p:sp>
      <p:sp>
        <p:nvSpPr>
          <p:cNvPr id="35" name="TextBox 34"/>
          <p:cNvSpPr txBox="1"/>
          <p:nvPr/>
        </p:nvSpPr>
        <p:spPr>
          <a:xfrm>
            <a:off x="1349077" y="539750"/>
            <a:ext cx="2472829" cy="441623"/>
          </a:xfrm>
          <a:prstGeom prst="rect">
            <a:avLst/>
          </a:prstGeom>
          <a:noFill/>
        </p:spPr>
        <p:txBody>
          <a:bodyPr wrap="none" lIns="0" rIns="0" tIns="0" bIns="0">
            <a:noAutofit/>
          </a:bodyPr>
          <a:lstStyle/>
          <a:p>
            <a:pPr>
              <a:lnSpc>
                <a:spcPts val="3328"/>
              </a:lnSpc>
              <a:spcBef>
                <a:spcPts val="0"/>
              </a:spcBef>
              <a:spcAft>
                <a:spcPts val="0"/>
              </a:spcAft>
            </a:pPr>
            <a:r>
              <a:rPr sz="3200" b="0">
                <a:solidFill>
                  <a:srgbClr val="131417"/>
                </a:solidFill>
                <a:latin typeface="Gloock"/>
              </a:rPr>
              <a:t>The Partners</a:t>
            </a:r>
          </a:p>
        </p:txBody>
      </p:sp>
      <p:sp>
        <p:nvSpPr>
          <p:cNvPr id="36" name="TextBox 35"/>
          <p:cNvSpPr txBox="1"/>
          <p:nvPr/>
        </p:nvSpPr>
        <p:spPr>
          <a:xfrm>
            <a:off x="8484890" y="806450"/>
            <a:ext cx="3110210" cy="139700"/>
          </a:xfrm>
          <a:prstGeom prst="rect">
            <a:avLst/>
          </a:prstGeom>
          <a:noFill/>
        </p:spPr>
        <p:txBody>
          <a:bodyPr wrap="none" lIns="0" rIns="0" tIns="0" bIns="0">
            <a:noAutofit/>
          </a:bodyPr>
          <a:lstStyle/>
          <a:p>
            <a:pPr>
              <a:spcBef>
                <a:spcPts val="0"/>
              </a:spcBef>
              <a:spcAft>
                <a:spcPts val="0"/>
              </a:spcAft>
            </a:pPr>
            <a:r>
              <a:rPr sz="800" b="0" spc="72">
                <a:solidFill>
                  <a:srgbClr val="84867E"/>
                </a:solidFill>
                <a:latin typeface="Spline Sans Mono"/>
              </a:rPr>
              <a:t>BUSINESS </a:t>
            </a:r>
            <a:r>
              <a:rPr sz="800" b="0" spc="72">
                <a:solidFill>
                  <a:srgbClr val="84867E"/>
                </a:solidFill>
                <a:latin typeface="Arial"/>
              </a:rPr>
              <a:t>↔</a:t>
            </a:r>
            <a:r>
              <a:rPr sz="800" b="0" spc="72">
                <a:solidFill>
                  <a:srgbClr val="84867E"/>
                </a:solidFill>
                <a:latin typeface="Spline Sans Mono"/>
              </a:rPr>
              <a:t> TECHNOLOGY, ONE TRANSLATION LAYER</a:t>
            </a:r>
          </a:p>
        </p:txBody>
      </p:sp>
      <p:sp>
        <p:nvSpPr>
          <p:cNvPr id="37" name="TextBox 36"/>
          <p:cNvSpPr txBox="1"/>
          <p:nvPr/>
        </p:nvSpPr>
        <p:spPr>
          <a:xfrm>
            <a:off x="596900" y="1286173"/>
            <a:ext cx="5162550" cy="139700"/>
          </a:xfrm>
          <a:prstGeom prst="rect">
            <a:avLst/>
          </a:prstGeom>
          <a:noFill/>
        </p:spPr>
        <p:txBody>
          <a:bodyPr wrap="none" lIns="0" rIns="0" tIns="0" bIns="0">
            <a:noAutofit/>
          </a:bodyPr>
          <a:lstStyle/>
          <a:p>
            <a:pPr>
              <a:spcBef>
                <a:spcPts val="0"/>
              </a:spcBef>
              <a:spcAft>
                <a:spcPts val="0"/>
              </a:spcAft>
            </a:pPr>
            <a:r>
              <a:rPr sz="800" b="1" spc="96">
                <a:solidFill>
                  <a:srgbClr val="2E4B3F"/>
                </a:solidFill>
                <a:latin typeface="Spline Sans Mono"/>
              </a:rPr>
              <a:t>BUSINESS ARCHITECTURE</a:t>
            </a:r>
          </a:p>
        </p:txBody>
      </p:sp>
      <p:sp>
        <p:nvSpPr>
          <p:cNvPr id="38" name="TextBox 37"/>
          <p:cNvSpPr txBox="1"/>
          <p:nvPr/>
        </p:nvSpPr>
        <p:spPr>
          <a:xfrm>
            <a:off x="596900" y="1444923"/>
            <a:ext cx="5162550" cy="330200"/>
          </a:xfrm>
          <a:prstGeom prst="rect">
            <a:avLst/>
          </a:prstGeom>
          <a:noFill/>
        </p:spPr>
        <p:txBody>
          <a:bodyPr wrap="none" lIns="0" rIns="0" tIns="0" bIns="0">
            <a:noAutofit/>
          </a:bodyPr>
          <a:lstStyle/>
          <a:p>
            <a:pPr>
              <a:spcBef>
                <a:spcPts val="0"/>
              </a:spcBef>
              <a:spcAft>
                <a:spcPts val="0"/>
              </a:spcAft>
            </a:pPr>
            <a:r>
              <a:rPr sz="2000" b="1">
                <a:solidFill>
                  <a:srgbClr val="131417"/>
                </a:solidFill>
                <a:latin typeface="Schibsted Grotesk"/>
              </a:rPr>
              <a:t>Nathan Schulte</a:t>
            </a:r>
          </a:p>
        </p:txBody>
      </p:sp>
      <p:sp>
        <p:nvSpPr>
          <p:cNvPr id="39" name="TextBox 38"/>
          <p:cNvSpPr txBox="1"/>
          <p:nvPr/>
        </p:nvSpPr>
        <p:spPr>
          <a:xfrm>
            <a:off x="596900" y="1768773"/>
            <a:ext cx="5162550" cy="203200"/>
          </a:xfrm>
          <a:prstGeom prst="rect">
            <a:avLst/>
          </a:prstGeom>
          <a:noFill/>
        </p:spPr>
        <p:txBody>
          <a:bodyPr wrap="none" lIns="0" rIns="0" tIns="0" bIns="0">
            <a:noAutofit/>
          </a:bodyPr>
          <a:lstStyle/>
          <a:p>
            <a:pPr>
              <a:spcBef>
                <a:spcPts val="0"/>
              </a:spcBef>
              <a:spcAft>
                <a:spcPts val="0"/>
              </a:spcAft>
            </a:pPr>
            <a:r>
              <a:rPr sz="1200" b="0">
                <a:solidFill>
                  <a:srgbClr val="84867E"/>
                </a:solidFill>
                <a:latin typeface="Schibsted Grotesk"/>
              </a:rPr>
              <a:t>“Why should the CEO care?”</a:t>
            </a:r>
          </a:p>
        </p:txBody>
      </p:sp>
      <p:sp>
        <p:nvSpPr>
          <p:cNvPr id="40" name="TextBox 39"/>
          <p:cNvSpPr txBox="1"/>
          <p:nvPr/>
        </p:nvSpPr>
        <p:spPr>
          <a:xfrm>
            <a:off x="596900" y="21561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B-01</a:t>
            </a:r>
          </a:p>
        </p:txBody>
      </p:sp>
      <p:sp>
        <p:nvSpPr>
          <p:cNvPr id="41" name="TextBox 40"/>
          <p:cNvSpPr txBox="1"/>
          <p:nvPr/>
        </p:nvSpPr>
        <p:spPr>
          <a:xfrm>
            <a:off x="1054100" y="2111673"/>
            <a:ext cx="2201267"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Business problem &amp; go-to-market</a:t>
            </a:r>
          </a:p>
        </p:txBody>
      </p:sp>
      <p:sp>
        <p:nvSpPr>
          <p:cNvPr id="42" name="TextBox 41"/>
          <p:cNvSpPr txBox="1"/>
          <p:nvPr/>
        </p:nvSpPr>
        <p:spPr>
          <a:xfrm>
            <a:off x="596900" y="24482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B-02</a:t>
            </a:r>
          </a:p>
        </p:txBody>
      </p:sp>
      <p:sp>
        <p:nvSpPr>
          <p:cNvPr id="43" name="TextBox 42"/>
          <p:cNvSpPr txBox="1"/>
          <p:nvPr/>
        </p:nvSpPr>
        <p:spPr>
          <a:xfrm>
            <a:off x="1054100" y="2403773"/>
            <a:ext cx="2727623"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Workflow gaps &amp; organizational alignment</a:t>
            </a:r>
          </a:p>
        </p:txBody>
      </p:sp>
      <p:sp>
        <p:nvSpPr>
          <p:cNvPr id="44" name="TextBox 43"/>
          <p:cNvSpPr txBox="1"/>
          <p:nvPr/>
        </p:nvSpPr>
        <p:spPr>
          <a:xfrm>
            <a:off x="596900" y="27403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B-03</a:t>
            </a:r>
          </a:p>
        </p:txBody>
      </p:sp>
      <p:sp>
        <p:nvSpPr>
          <p:cNvPr id="45" name="TextBox 44"/>
          <p:cNvSpPr txBox="1"/>
          <p:nvPr/>
        </p:nvSpPr>
        <p:spPr>
          <a:xfrm>
            <a:off x="1054100" y="2695873"/>
            <a:ext cx="2146498"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Leadership priorities &amp; discovery</a:t>
            </a:r>
          </a:p>
        </p:txBody>
      </p:sp>
      <p:sp>
        <p:nvSpPr>
          <p:cNvPr id="46" name="TextBox 45"/>
          <p:cNvSpPr txBox="1"/>
          <p:nvPr/>
        </p:nvSpPr>
        <p:spPr>
          <a:xfrm>
            <a:off x="596900" y="30324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B-04</a:t>
            </a:r>
          </a:p>
        </p:txBody>
      </p:sp>
      <p:sp>
        <p:nvSpPr>
          <p:cNvPr id="47" name="TextBox 46"/>
          <p:cNvSpPr txBox="1"/>
          <p:nvPr/>
        </p:nvSpPr>
        <p:spPr>
          <a:xfrm>
            <a:off x="1054100" y="2987973"/>
            <a:ext cx="1674912"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ROI &amp; the executive story</a:t>
            </a:r>
          </a:p>
        </p:txBody>
      </p:sp>
      <p:sp>
        <p:nvSpPr>
          <p:cNvPr id="48" name="TextBox 47"/>
          <p:cNvSpPr txBox="1"/>
          <p:nvPr/>
        </p:nvSpPr>
        <p:spPr>
          <a:xfrm>
            <a:off x="6432550" y="1286173"/>
            <a:ext cx="5162550" cy="139700"/>
          </a:xfrm>
          <a:prstGeom prst="rect">
            <a:avLst/>
          </a:prstGeom>
          <a:noFill/>
        </p:spPr>
        <p:txBody>
          <a:bodyPr wrap="none" lIns="0" rIns="0" tIns="0" bIns="0">
            <a:noAutofit/>
          </a:bodyPr>
          <a:lstStyle/>
          <a:p>
            <a:pPr>
              <a:spcBef>
                <a:spcPts val="0"/>
              </a:spcBef>
              <a:spcAft>
                <a:spcPts val="0"/>
              </a:spcAft>
            </a:pPr>
            <a:r>
              <a:rPr sz="800" b="1" spc="96">
                <a:solidFill>
                  <a:srgbClr val="2E4B3F"/>
                </a:solidFill>
                <a:latin typeface="Spline Sans Mono"/>
              </a:rPr>
              <a:t>TECHNICAL ARCHITECTURE</a:t>
            </a:r>
          </a:p>
        </p:txBody>
      </p:sp>
      <p:sp>
        <p:nvSpPr>
          <p:cNvPr id="49" name="TextBox 48"/>
          <p:cNvSpPr txBox="1"/>
          <p:nvPr/>
        </p:nvSpPr>
        <p:spPr>
          <a:xfrm>
            <a:off x="6432550" y="1444923"/>
            <a:ext cx="5162550" cy="330200"/>
          </a:xfrm>
          <a:prstGeom prst="rect">
            <a:avLst/>
          </a:prstGeom>
          <a:noFill/>
        </p:spPr>
        <p:txBody>
          <a:bodyPr wrap="none" lIns="0" rIns="0" tIns="0" bIns="0">
            <a:noAutofit/>
          </a:bodyPr>
          <a:lstStyle/>
          <a:p>
            <a:pPr>
              <a:spcBef>
                <a:spcPts val="0"/>
              </a:spcBef>
              <a:spcAft>
                <a:spcPts val="0"/>
              </a:spcAft>
            </a:pPr>
            <a:r>
              <a:rPr sz="2000" b="1">
                <a:solidFill>
                  <a:srgbClr val="131417"/>
                </a:solidFill>
                <a:latin typeface="Schibsted Grotesk"/>
              </a:rPr>
              <a:t>Brandon Massie</a:t>
            </a:r>
          </a:p>
        </p:txBody>
      </p:sp>
      <p:sp>
        <p:nvSpPr>
          <p:cNvPr id="50" name="TextBox 49"/>
          <p:cNvSpPr txBox="1"/>
          <p:nvPr/>
        </p:nvSpPr>
        <p:spPr>
          <a:xfrm>
            <a:off x="6432550" y="1768773"/>
            <a:ext cx="5162550" cy="203200"/>
          </a:xfrm>
          <a:prstGeom prst="rect">
            <a:avLst/>
          </a:prstGeom>
          <a:noFill/>
        </p:spPr>
        <p:txBody>
          <a:bodyPr wrap="none" lIns="0" rIns="0" tIns="0" bIns="0">
            <a:noAutofit/>
          </a:bodyPr>
          <a:lstStyle/>
          <a:p>
            <a:pPr>
              <a:spcBef>
                <a:spcPts val="0"/>
              </a:spcBef>
              <a:spcAft>
                <a:spcPts val="0"/>
              </a:spcAft>
            </a:pPr>
            <a:r>
              <a:rPr sz="1200" b="0">
                <a:solidFill>
                  <a:srgbClr val="84867E"/>
                </a:solidFill>
                <a:latin typeface="Schibsted Grotesk"/>
              </a:rPr>
              <a:t>“How do we make it work?”</a:t>
            </a:r>
          </a:p>
        </p:txBody>
      </p:sp>
      <p:sp>
        <p:nvSpPr>
          <p:cNvPr id="51" name="TextBox 50"/>
          <p:cNvSpPr txBox="1"/>
          <p:nvPr/>
        </p:nvSpPr>
        <p:spPr>
          <a:xfrm>
            <a:off x="6432550" y="21561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T-01</a:t>
            </a:r>
          </a:p>
        </p:txBody>
      </p:sp>
      <p:sp>
        <p:nvSpPr>
          <p:cNvPr id="52" name="TextBox 51"/>
          <p:cNvSpPr txBox="1"/>
          <p:nvPr/>
        </p:nvSpPr>
        <p:spPr>
          <a:xfrm>
            <a:off x="6889750" y="2111673"/>
            <a:ext cx="1850529"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Systems, data &amp; integrations</a:t>
            </a:r>
          </a:p>
        </p:txBody>
      </p:sp>
      <p:sp>
        <p:nvSpPr>
          <p:cNvPr id="53" name="TextBox 52"/>
          <p:cNvSpPr txBox="1"/>
          <p:nvPr/>
        </p:nvSpPr>
        <p:spPr>
          <a:xfrm>
            <a:off x="6432550" y="24482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T-02</a:t>
            </a:r>
          </a:p>
        </p:txBody>
      </p:sp>
      <p:sp>
        <p:nvSpPr>
          <p:cNvPr id="54" name="TextBox 53"/>
          <p:cNvSpPr txBox="1"/>
          <p:nvPr/>
        </p:nvSpPr>
        <p:spPr>
          <a:xfrm>
            <a:off x="6889750" y="2403773"/>
            <a:ext cx="1739900"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Automation &amp; AI feasibility</a:t>
            </a:r>
          </a:p>
        </p:txBody>
      </p:sp>
      <p:sp>
        <p:nvSpPr>
          <p:cNvPr id="55" name="TextBox 54"/>
          <p:cNvSpPr txBox="1"/>
          <p:nvPr/>
        </p:nvSpPr>
        <p:spPr>
          <a:xfrm>
            <a:off x="6432550" y="27403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T-03</a:t>
            </a:r>
          </a:p>
        </p:txBody>
      </p:sp>
      <p:sp>
        <p:nvSpPr>
          <p:cNvPr id="56" name="TextBox 55"/>
          <p:cNvSpPr txBox="1"/>
          <p:nvPr/>
        </p:nvSpPr>
        <p:spPr>
          <a:xfrm>
            <a:off x="6889750" y="2695873"/>
            <a:ext cx="969764"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Security &amp; risk</a:t>
            </a:r>
          </a:p>
        </p:txBody>
      </p:sp>
      <p:sp>
        <p:nvSpPr>
          <p:cNvPr id="57" name="TextBox 56"/>
          <p:cNvSpPr txBox="1"/>
          <p:nvPr/>
        </p:nvSpPr>
        <p:spPr>
          <a:xfrm>
            <a:off x="6432550" y="3032423"/>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T-04</a:t>
            </a:r>
          </a:p>
        </p:txBody>
      </p:sp>
      <p:sp>
        <p:nvSpPr>
          <p:cNvPr id="58" name="TextBox 57"/>
          <p:cNvSpPr txBox="1"/>
          <p:nvPr/>
        </p:nvSpPr>
        <p:spPr>
          <a:xfrm>
            <a:off x="6889750" y="2987973"/>
            <a:ext cx="2464296"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Implementation reality &amp; cost at scale</a:t>
            </a:r>
          </a:p>
        </p:txBody>
      </p:sp>
      <p:sp>
        <p:nvSpPr>
          <p:cNvPr id="59" name="TextBox 58"/>
          <p:cNvSpPr txBox="1"/>
          <p:nvPr/>
        </p:nvSpPr>
        <p:spPr>
          <a:xfrm>
            <a:off x="973049" y="4228871"/>
            <a:ext cx="1047452" cy="146050"/>
          </a:xfrm>
          <a:prstGeom prst="rect">
            <a:avLst/>
          </a:prstGeom>
          <a:noFill/>
        </p:spPr>
        <p:txBody>
          <a:bodyPr wrap="none" lIns="0" rIns="0" tIns="0" bIns="0">
            <a:noAutofit/>
          </a:bodyPr>
          <a:lstStyle/>
          <a:p>
            <a:pPr>
              <a:spcBef>
                <a:spcPts val="0"/>
              </a:spcBef>
              <a:spcAft>
                <a:spcPts val="0"/>
              </a:spcAft>
            </a:pPr>
            <a:r>
              <a:rPr sz="838" b="0">
                <a:solidFill>
                  <a:srgbClr val="2F4FA2"/>
                </a:solidFill>
                <a:latin typeface="Spline Sans Mono"/>
              </a:rPr>
              <a:t>BUSINESS PROBLEM</a:t>
            </a:r>
          </a:p>
        </p:txBody>
      </p:sp>
      <p:sp>
        <p:nvSpPr>
          <p:cNvPr id="60" name="TextBox 59"/>
          <p:cNvSpPr txBox="1"/>
          <p:nvPr/>
        </p:nvSpPr>
        <p:spPr>
          <a:xfrm>
            <a:off x="2946907" y="4228871"/>
            <a:ext cx="1366838" cy="146050"/>
          </a:xfrm>
          <a:prstGeom prst="rect">
            <a:avLst/>
          </a:prstGeom>
          <a:noFill/>
        </p:spPr>
        <p:txBody>
          <a:bodyPr wrap="none" lIns="0" rIns="0" tIns="0" bIns="0">
            <a:noAutofit/>
          </a:bodyPr>
          <a:lstStyle/>
          <a:p>
            <a:pPr>
              <a:spcBef>
                <a:spcPts val="0"/>
              </a:spcBef>
              <a:spcAft>
                <a:spcPts val="0"/>
              </a:spcAft>
            </a:pPr>
            <a:r>
              <a:rPr sz="838" b="0">
                <a:solidFill>
                  <a:srgbClr val="2F4FA2"/>
                </a:solidFill>
                <a:latin typeface="Spline Sans Mono"/>
              </a:rPr>
              <a:t>BUSINESS ARCHITECTURE</a:t>
            </a:r>
          </a:p>
        </p:txBody>
      </p:sp>
      <p:sp>
        <p:nvSpPr>
          <p:cNvPr id="61" name="TextBox 60"/>
          <p:cNvSpPr txBox="1"/>
          <p:nvPr/>
        </p:nvSpPr>
        <p:spPr>
          <a:xfrm>
            <a:off x="5171413" y="4228871"/>
            <a:ext cx="1430734" cy="146050"/>
          </a:xfrm>
          <a:prstGeom prst="rect">
            <a:avLst/>
          </a:prstGeom>
          <a:noFill/>
        </p:spPr>
        <p:txBody>
          <a:bodyPr wrap="none" lIns="0" rIns="0" tIns="0" bIns="0">
            <a:noAutofit/>
          </a:bodyPr>
          <a:lstStyle/>
          <a:p>
            <a:pPr>
              <a:spcBef>
                <a:spcPts val="0"/>
              </a:spcBef>
              <a:spcAft>
                <a:spcPts val="0"/>
              </a:spcAft>
            </a:pPr>
            <a:r>
              <a:rPr sz="838" b="0">
                <a:solidFill>
                  <a:srgbClr val="2F4FA2"/>
                </a:solidFill>
                <a:latin typeface="Spline Sans Mono"/>
              </a:rPr>
              <a:t>TECHNICAL ARCHITECTURE</a:t>
            </a:r>
          </a:p>
        </p:txBody>
      </p:sp>
      <p:sp>
        <p:nvSpPr>
          <p:cNvPr id="62" name="TextBox 61"/>
          <p:cNvSpPr txBox="1"/>
          <p:nvPr/>
        </p:nvSpPr>
        <p:spPr>
          <a:xfrm>
            <a:off x="7552575" y="4228871"/>
            <a:ext cx="919758" cy="146050"/>
          </a:xfrm>
          <a:prstGeom prst="rect">
            <a:avLst/>
          </a:prstGeom>
          <a:noFill/>
        </p:spPr>
        <p:txBody>
          <a:bodyPr wrap="none" lIns="0" rIns="0" tIns="0" bIns="0">
            <a:noAutofit/>
          </a:bodyPr>
          <a:lstStyle/>
          <a:p>
            <a:pPr>
              <a:spcBef>
                <a:spcPts val="0"/>
              </a:spcBef>
              <a:spcAft>
                <a:spcPts val="0"/>
              </a:spcAft>
            </a:pPr>
            <a:r>
              <a:rPr sz="838" b="0">
                <a:solidFill>
                  <a:srgbClr val="2F4FA2"/>
                </a:solidFill>
                <a:latin typeface="Spline Sans Mono"/>
              </a:rPr>
              <a:t>IMPLEMENTATION</a:t>
            </a:r>
          </a:p>
        </p:txBody>
      </p:sp>
      <p:sp>
        <p:nvSpPr>
          <p:cNvPr id="63" name="TextBox 62"/>
          <p:cNvSpPr txBox="1"/>
          <p:nvPr/>
        </p:nvSpPr>
        <p:spPr>
          <a:xfrm>
            <a:off x="9526433" y="4228871"/>
            <a:ext cx="217091" cy="146050"/>
          </a:xfrm>
          <a:prstGeom prst="rect">
            <a:avLst/>
          </a:prstGeom>
          <a:noFill/>
        </p:spPr>
        <p:txBody>
          <a:bodyPr wrap="none" lIns="0" rIns="0" tIns="0" bIns="0">
            <a:noAutofit/>
          </a:bodyPr>
          <a:lstStyle/>
          <a:p>
            <a:pPr>
              <a:spcBef>
                <a:spcPts val="0"/>
              </a:spcBef>
              <a:spcAft>
                <a:spcPts val="0"/>
              </a:spcAft>
            </a:pPr>
            <a:r>
              <a:rPr sz="838" b="0">
                <a:solidFill>
                  <a:srgbClr val="2F4FA2"/>
                </a:solidFill>
                <a:latin typeface="Spline Sans Mono"/>
              </a:rPr>
              <a:t>ROI</a:t>
            </a:r>
          </a:p>
        </p:txBody>
      </p:sp>
      <p:sp>
        <p:nvSpPr>
          <p:cNvPr id="64" name="TextBox 63"/>
          <p:cNvSpPr txBox="1"/>
          <p:nvPr/>
        </p:nvSpPr>
        <p:spPr>
          <a:xfrm>
            <a:off x="1467996" y="4529646"/>
            <a:ext cx="5716886" cy="152400"/>
          </a:xfrm>
          <a:prstGeom prst="rect">
            <a:avLst/>
          </a:prstGeom>
          <a:noFill/>
        </p:spPr>
        <p:txBody>
          <a:bodyPr wrap="none" lIns="0" rIns="0" tIns="0" bIns="0">
            <a:noAutofit/>
          </a:bodyPr>
          <a:lstStyle/>
          <a:p>
            <a:pPr>
              <a:spcBef>
                <a:spcPts val="0"/>
              </a:spcBef>
              <a:spcAft>
                <a:spcPts val="0"/>
              </a:spcAft>
            </a:pPr>
            <a:r>
              <a:rPr sz="838" b="0">
                <a:solidFill>
                  <a:srgbClr val="84867E"/>
                </a:solidFill>
                <a:latin typeface="Spline Sans Mono"/>
              </a:rPr>
              <a:t>WE TRANSLATE BETWEEN BUSINESS LEADERSHIP AND TECHNICAL TEAMS, BOTH DIRECTIONS, EVERY WEEK</a:t>
            </a:r>
          </a:p>
        </p:txBody>
      </p:sp>
      <p:sp>
        <p:nvSpPr>
          <p:cNvPr id="65" name="TextBox 64"/>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SCHULTE &amp; CO. · GROWTH BY DESIGN</a:t>
            </a:r>
          </a:p>
        </p:txBody>
      </p:sp>
      <p:sp>
        <p:nvSpPr>
          <p:cNvPr id="66" name="TextBox 65"/>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SHEET 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609600" y="3827462"/>
            <a:ext cx="8255000" cy="772120"/>
          </a:xfrm>
          <a:prstGeom prst="rect">
            <a:avLst/>
          </a:prstGeom>
          <a:noFill/>
          <a:ln w="6350">
            <a:solidFill>
              <a:srgbClr val="2F4FA2"/>
            </a:solidFill>
          </a:ln>
          <a:effectLst/>
        </p:spPr>
        <p:txBody>
          <a:bodyPr rtlCol="0" anchor="ctr"/>
          <a:lstStyle/>
          <a:p>
            <a:pPr algn="ctr"/>
          </a:p>
        </p:txBody>
      </p:sp>
      <p:sp>
        <p:nvSpPr>
          <p:cNvPr id="3" name="Rectangle 2"/>
          <p:cNvSpPr/>
          <p:nvPr/>
        </p:nvSpPr>
        <p:spPr>
          <a:xfrm>
            <a:off x="609600" y="6572250"/>
            <a:ext cx="10972800" cy="6350"/>
          </a:xfrm>
          <a:prstGeom prst="rect">
            <a:avLst/>
          </a:prstGeom>
          <a:solidFill>
            <a:srgbClr val="131417"/>
          </a:solidFill>
          <a:ln>
            <a:noFill/>
          </a:ln>
          <a:effectLst/>
        </p:spPr>
        <p:txBody>
          <a:bodyPr rtlCol="0" anchor="ctr"/>
          <a:lstStyle/>
          <a:p>
            <a:pPr algn="ctr"/>
          </a:p>
        </p:txBody>
      </p:sp>
      <p:sp>
        <p:nvSpPr>
          <p:cNvPr id="4" name="Rectangle 3"/>
          <p:cNvSpPr/>
          <p:nvPr/>
        </p:nvSpPr>
        <p:spPr>
          <a:xfrm>
            <a:off x="609600" y="6540500"/>
            <a:ext cx="6350" cy="69850"/>
          </a:xfrm>
          <a:prstGeom prst="rect">
            <a:avLst/>
          </a:prstGeom>
          <a:solidFill>
            <a:srgbClr val="131417"/>
          </a:solidFill>
          <a:ln>
            <a:noFill/>
          </a:ln>
          <a:effectLst/>
        </p:spPr>
        <p:txBody>
          <a:bodyPr rtlCol="0" anchor="ctr"/>
          <a:lstStyle/>
          <a:p>
            <a:pPr algn="ctr"/>
          </a:p>
        </p:txBody>
      </p:sp>
      <p:sp>
        <p:nvSpPr>
          <p:cNvPr id="5" name="Rectangle 4"/>
          <p:cNvSpPr/>
          <p:nvPr/>
        </p:nvSpPr>
        <p:spPr>
          <a:xfrm>
            <a:off x="1828800" y="6540500"/>
            <a:ext cx="6350" cy="69850"/>
          </a:xfrm>
          <a:prstGeom prst="rect">
            <a:avLst/>
          </a:prstGeom>
          <a:solidFill>
            <a:srgbClr val="131417"/>
          </a:solidFill>
          <a:ln>
            <a:noFill/>
          </a:ln>
          <a:effectLst/>
        </p:spPr>
        <p:txBody>
          <a:bodyPr rtlCol="0" anchor="ctr"/>
          <a:lstStyle/>
          <a:p>
            <a:pPr algn="ctr"/>
          </a:p>
        </p:txBody>
      </p:sp>
      <p:sp>
        <p:nvSpPr>
          <p:cNvPr id="6" name="Rectangle 5"/>
          <p:cNvSpPr/>
          <p:nvPr/>
        </p:nvSpPr>
        <p:spPr>
          <a:xfrm>
            <a:off x="3048000" y="6540500"/>
            <a:ext cx="6350" cy="69850"/>
          </a:xfrm>
          <a:prstGeom prst="rect">
            <a:avLst/>
          </a:prstGeom>
          <a:solidFill>
            <a:srgbClr val="131417"/>
          </a:solidFill>
          <a:ln>
            <a:noFill/>
          </a:ln>
          <a:effectLst/>
        </p:spPr>
        <p:txBody>
          <a:bodyPr rtlCol="0" anchor="ctr"/>
          <a:lstStyle/>
          <a:p>
            <a:pPr algn="ctr"/>
          </a:p>
        </p:txBody>
      </p:sp>
      <p:sp>
        <p:nvSpPr>
          <p:cNvPr id="7" name="Rectangle 6"/>
          <p:cNvSpPr/>
          <p:nvPr/>
        </p:nvSpPr>
        <p:spPr>
          <a:xfrm>
            <a:off x="4267101" y="6540500"/>
            <a:ext cx="6350" cy="69850"/>
          </a:xfrm>
          <a:prstGeom prst="rect">
            <a:avLst/>
          </a:prstGeom>
          <a:solidFill>
            <a:srgbClr val="131417"/>
          </a:solidFill>
          <a:ln>
            <a:noFill/>
          </a:ln>
          <a:effectLst/>
        </p:spPr>
        <p:txBody>
          <a:bodyPr rtlCol="0" anchor="ctr"/>
          <a:lstStyle/>
          <a:p>
            <a:pPr algn="ctr"/>
          </a:p>
        </p:txBody>
      </p:sp>
      <p:sp>
        <p:nvSpPr>
          <p:cNvPr id="8" name="Rectangle 7"/>
          <p:cNvSpPr/>
          <p:nvPr/>
        </p:nvSpPr>
        <p:spPr>
          <a:xfrm>
            <a:off x="5486400" y="6540500"/>
            <a:ext cx="6350" cy="69850"/>
          </a:xfrm>
          <a:prstGeom prst="rect">
            <a:avLst/>
          </a:prstGeom>
          <a:solidFill>
            <a:srgbClr val="131417"/>
          </a:solidFill>
          <a:ln>
            <a:noFill/>
          </a:ln>
          <a:effectLst/>
        </p:spPr>
        <p:txBody>
          <a:bodyPr rtlCol="0" anchor="ctr"/>
          <a:lstStyle/>
          <a:p>
            <a:pPr algn="ctr"/>
          </a:p>
        </p:txBody>
      </p:sp>
      <p:sp>
        <p:nvSpPr>
          <p:cNvPr id="9" name="Rectangle 8"/>
          <p:cNvSpPr/>
          <p:nvPr/>
        </p:nvSpPr>
        <p:spPr>
          <a:xfrm>
            <a:off x="6705600" y="6540500"/>
            <a:ext cx="6350" cy="69850"/>
          </a:xfrm>
          <a:prstGeom prst="rect">
            <a:avLst/>
          </a:prstGeom>
          <a:solidFill>
            <a:srgbClr val="131417"/>
          </a:solidFill>
          <a:ln>
            <a:noFill/>
          </a:ln>
          <a:effectLst/>
        </p:spPr>
        <p:txBody>
          <a:bodyPr rtlCol="0" anchor="ctr"/>
          <a:lstStyle/>
          <a:p>
            <a:pPr algn="ctr"/>
          </a:p>
        </p:txBody>
      </p:sp>
      <p:sp>
        <p:nvSpPr>
          <p:cNvPr id="10" name="Rectangle 9"/>
          <p:cNvSpPr/>
          <p:nvPr/>
        </p:nvSpPr>
        <p:spPr>
          <a:xfrm>
            <a:off x="7924701" y="6540500"/>
            <a:ext cx="6350" cy="69850"/>
          </a:xfrm>
          <a:prstGeom prst="rect">
            <a:avLst/>
          </a:prstGeom>
          <a:solidFill>
            <a:srgbClr val="131417"/>
          </a:solidFill>
          <a:ln>
            <a:noFill/>
          </a:ln>
          <a:effectLst/>
        </p:spPr>
        <p:txBody>
          <a:bodyPr rtlCol="0" anchor="ctr"/>
          <a:lstStyle/>
          <a:p>
            <a:pPr algn="ctr"/>
          </a:p>
        </p:txBody>
      </p:sp>
      <p:sp>
        <p:nvSpPr>
          <p:cNvPr id="11" name="Rectangle 10"/>
          <p:cNvSpPr/>
          <p:nvPr/>
        </p:nvSpPr>
        <p:spPr>
          <a:xfrm>
            <a:off x="9144000" y="6540500"/>
            <a:ext cx="6350" cy="69850"/>
          </a:xfrm>
          <a:prstGeom prst="rect">
            <a:avLst/>
          </a:prstGeom>
          <a:solidFill>
            <a:srgbClr val="131417"/>
          </a:solidFill>
          <a:ln>
            <a:noFill/>
          </a:ln>
          <a:effectLst/>
        </p:spPr>
        <p:txBody>
          <a:bodyPr rtlCol="0" anchor="ctr"/>
          <a:lstStyle/>
          <a:p>
            <a:pPr algn="ctr"/>
          </a:p>
        </p:txBody>
      </p:sp>
      <p:sp>
        <p:nvSpPr>
          <p:cNvPr id="12" name="Rectangle 11"/>
          <p:cNvSpPr/>
          <p:nvPr/>
        </p:nvSpPr>
        <p:spPr>
          <a:xfrm>
            <a:off x="10363200" y="6540500"/>
            <a:ext cx="6350" cy="69850"/>
          </a:xfrm>
          <a:prstGeom prst="rect">
            <a:avLst/>
          </a:prstGeom>
          <a:solidFill>
            <a:srgbClr val="131417"/>
          </a:solidFill>
          <a:ln>
            <a:noFill/>
          </a:ln>
          <a:effectLst/>
        </p:spPr>
        <p:txBody>
          <a:bodyPr rtlCol="0" anchor="ctr"/>
          <a:lstStyle/>
          <a:p>
            <a:pPr algn="ctr"/>
          </a:p>
        </p:txBody>
      </p:sp>
      <p:sp>
        <p:nvSpPr>
          <p:cNvPr id="13" name="Rectangle 12"/>
          <p:cNvSpPr/>
          <p:nvPr/>
        </p:nvSpPr>
        <p:spPr>
          <a:xfrm>
            <a:off x="11582400" y="6540500"/>
            <a:ext cx="6350" cy="69850"/>
          </a:xfrm>
          <a:prstGeom prst="rect">
            <a:avLst/>
          </a:prstGeom>
          <a:solidFill>
            <a:srgbClr val="131417"/>
          </a:solidFill>
          <a:ln>
            <a:noFill/>
          </a:ln>
          <a:effectLst/>
        </p:spPr>
        <p:txBody>
          <a:bodyPr rtlCol="0" anchor="ctr"/>
          <a:lstStyle/>
          <a:p>
            <a:pPr algn="ctr"/>
          </a:p>
        </p:txBody>
      </p:sp>
      <p:sp>
        <p:nvSpPr>
          <p:cNvPr id="14" name="Diamond 13"/>
          <p:cNvSpPr/>
          <p:nvPr/>
        </p:nvSpPr>
        <p:spPr>
          <a:xfrm>
            <a:off x="10331450" y="6546850"/>
            <a:ext cx="63500" cy="63500"/>
          </a:xfrm>
          <a:prstGeom prst="diamond">
            <a:avLst/>
          </a:prstGeom>
          <a:solidFill>
            <a:srgbClr val="D93A1F"/>
          </a:solidFill>
          <a:ln>
            <a:noFill/>
          </a:ln>
          <a:effectLst/>
        </p:spPr>
        <p:txBody>
          <a:bodyPr rtlCol="0" anchor="ctr"/>
          <a:lstStyle/>
          <a:p>
            <a:pPr algn="ctr"/>
          </a:p>
        </p:txBody>
      </p:sp>
      <p:cxnSp>
        <p:nvCxnSpPr>
          <p:cNvPr id="15" name="Connector 14"/>
          <p:cNvCxnSpPr/>
          <p:nvPr/>
        </p:nvCxnSpPr>
        <p:spPr>
          <a:xfrm>
            <a:off x="609600" y="412750"/>
            <a:ext cx="10972800" cy="0"/>
          </a:xfrm>
          <a:prstGeom prst="line">
            <a:avLst/>
          </a:prstGeom>
          <a:ln w="12700">
            <a:solidFill>
              <a:srgbClr val="131417"/>
            </a:solidFill>
          </a:ln>
          <a:effectLst/>
        </p:spPr>
      </p:cxnSp>
      <p:cxnSp>
        <p:nvCxnSpPr>
          <p:cNvPr id="16" name="Connector 15"/>
          <p:cNvCxnSpPr/>
          <p:nvPr/>
        </p:nvCxnSpPr>
        <p:spPr>
          <a:xfrm>
            <a:off x="609600" y="2503488"/>
            <a:ext cx="4413250" cy="0"/>
          </a:xfrm>
          <a:prstGeom prst="line">
            <a:avLst/>
          </a:prstGeom>
          <a:ln w="6350">
            <a:solidFill>
              <a:srgbClr val="E4E4DD"/>
            </a:solidFill>
          </a:ln>
          <a:effectLst/>
        </p:spPr>
      </p:cxnSp>
      <p:cxnSp>
        <p:nvCxnSpPr>
          <p:cNvPr id="17" name="Connector 16"/>
          <p:cNvCxnSpPr/>
          <p:nvPr/>
        </p:nvCxnSpPr>
        <p:spPr>
          <a:xfrm>
            <a:off x="5721350" y="2503488"/>
            <a:ext cx="4413250" cy="0"/>
          </a:xfrm>
          <a:prstGeom prst="line">
            <a:avLst/>
          </a:prstGeom>
          <a:ln w="6350">
            <a:solidFill>
              <a:srgbClr val="E4E4DD"/>
            </a:solidFill>
          </a:ln>
          <a:effectLst/>
        </p:spPr>
      </p:cxnSp>
      <p:cxnSp>
        <p:nvCxnSpPr>
          <p:cNvPr id="18" name="Connector 17"/>
          <p:cNvCxnSpPr/>
          <p:nvPr/>
        </p:nvCxnSpPr>
        <p:spPr>
          <a:xfrm>
            <a:off x="609600" y="2795588"/>
            <a:ext cx="4413250" cy="0"/>
          </a:xfrm>
          <a:prstGeom prst="line">
            <a:avLst/>
          </a:prstGeom>
          <a:ln w="6350">
            <a:solidFill>
              <a:srgbClr val="E4E4DD"/>
            </a:solidFill>
          </a:ln>
          <a:effectLst/>
        </p:spPr>
      </p:cxnSp>
      <p:cxnSp>
        <p:nvCxnSpPr>
          <p:cNvPr id="19" name="Connector 18"/>
          <p:cNvCxnSpPr/>
          <p:nvPr/>
        </p:nvCxnSpPr>
        <p:spPr>
          <a:xfrm>
            <a:off x="5721350" y="2795588"/>
            <a:ext cx="4413250" cy="0"/>
          </a:xfrm>
          <a:prstGeom prst="line">
            <a:avLst/>
          </a:prstGeom>
          <a:ln w="6350">
            <a:solidFill>
              <a:srgbClr val="E4E4DD"/>
            </a:solidFill>
          </a:ln>
          <a:effectLst/>
        </p:spPr>
      </p:cxnSp>
      <p:cxnSp>
        <p:nvCxnSpPr>
          <p:cNvPr id="20" name="Connector 19"/>
          <p:cNvCxnSpPr/>
          <p:nvPr/>
        </p:nvCxnSpPr>
        <p:spPr>
          <a:xfrm>
            <a:off x="609600" y="3087688"/>
            <a:ext cx="4413250" cy="0"/>
          </a:xfrm>
          <a:prstGeom prst="line">
            <a:avLst/>
          </a:prstGeom>
          <a:ln w="6350">
            <a:solidFill>
              <a:srgbClr val="E4E4DD"/>
            </a:solidFill>
          </a:ln>
          <a:effectLst/>
        </p:spPr>
      </p:cxnSp>
      <p:cxnSp>
        <p:nvCxnSpPr>
          <p:cNvPr id="21" name="Connector 20"/>
          <p:cNvCxnSpPr/>
          <p:nvPr/>
        </p:nvCxnSpPr>
        <p:spPr>
          <a:xfrm>
            <a:off x="5721350" y="3087688"/>
            <a:ext cx="4413250" cy="0"/>
          </a:xfrm>
          <a:prstGeom prst="line">
            <a:avLst/>
          </a:prstGeom>
          <a:ln w="6350">
            <a:solidFill>
              <a:srgbClr val="E4E4DD"/>
            </a:solidFill>
          </a:ln>
          <a:effectLst/>
        </p:spPr>
      </p:cxnSp>
      <p:cxnSp>
        <p:nvCxnSpPr>
          <p:cNvPr id="22" name="Connector 21"/>
          <p:cNvCxnSpPr/>
          <p:nvPr/>
        </p:nvCxnSpPr>
        <p:spPr>
          <a:xfrm>
            <a:off x="609600" y="3379788"/>
            <a:ext cx="9525000" cy="0"/>
          </a:xfrm>
          <a:prstGeom prst="line">
            <a:avLst/>
          </a:prstGeom>
          <a:ln w="6350">
            <a:solidFill>
              <a:srgbClr val="E4E4DD"/>
            </a:solidFill>
          </a:ln>
          <a:effectLst/>
        </p:spPr>
      </p:cxnSp>
      <p:sp>
        <p:nvSpPr>
          <p:cNvPr id="23" name="TextBox 22"/>
          <p:cNvSpPr txBox="1"/>
          <p:nvPr/>
        </p:nvSpPr>
        <p:spPr>
          <a:xfrm>
            <a:off x="596900" y="787400"/>
            <a:ext cx="599777" cy="158750"/>
          </a:xfrm>
          <a:prstGeom prst="rect">
            <a:avLst/>
          </a:prstGeom>
          <a:noFill/>
        </p:spPr>
        <p:txBody>
          <a:bodyPr wrap="none" lIns="0" rIns="0" tIns="0" bIns="0">
            <a:noAutofit/>
          </a:bodyPr>
          <a:lstStyle/>
          <a:p>
            <a:pPr>
              <a:spcBef>
                <a:spcPts val="0"/>
              </a:spcBef>
              <a:spcAft>
                <a:spcPts val="0"/>
              </a:spcAft>
            </a:pPr>
            <a:r>
              <a:rPr sz="950" b="1" spc="76">
                <a:solidFill>
                  <a:srgbClr val="D93A1F"/>
                </a:solidFill>
                <a:latin typeface="Spline Sans Mono"/>
              </a:rPr>
              <a:t>FIG. 08</a:t>
            </a:r>
          </a:p>
        </p:txBody>
      </p:sp>
      <p:sp>
        <p:nvSpPr>
          <p:cNvPr id="24" name="TextBox 23"/>
          <p:cNvSpPr txBox="1"/>
          <p:nvPr/>
        </p:nvSpPr>
        <p:spPr>
          <a:xfrm>
            <a:off x="1349077" y="539750"/>
            <a:ext cx="3632696" cy="441623"/>
          </a:xfrm>
          <a:prstGeom prst="rect">
            <a:avLst/>
          </a:prstGeom>
          <a:noFill/>
        </p:spPr>
        <p:txBody>
          <a:bodyPr wrap="none" lIns="0" rIns="0" tIns="0" bIns="0">
            <a:noAutofit/>
          </a:bodyPr>
          <a:lstStyle/>
          <a:p>
            <a:pPr>
              <a:lnSpc>
                <a:spcPts val="3328"/>
              </a:lnSpc>
              <a:spcBef>
                <a:spcPts val="0"/>
              </a:spcBef>
              <a:spcAft>
                <a:spcPts val="0"/>
              </a:spcAft>
            </a:pPr>
            <a:r>
              <a:rPr sz="3200" b="0">
                <a:solidFill>
                  <a:srgbClr val="131417"/>
                </a:solidFill>
                <a:latin typeface="Gloock"/>
              </a:rPr>
              <a:t>Who We Work With</a:t>
            </a:r>
          </a:p>
        </p:txBody>
      </p:sp>
      <p:sp>
        <p:nvSpPr>
          <p:cNvPr id="25" name="TextBox 24"/>
          <p:cNvSpPr txBox="1"/>
          <p:nvPr/>
        </p:nvSpPr>
        <p:spPr>
          <a:xfrm>
            <a:off x="8765480" y="806450"/>
            <a:ext cx="2829620" cy="139700"/>
          </a:xfrm>
          <a:prstGeom prst="rect">
            <a:avLst/>
          </a:prstGeom>
          <a:noFill/>
        </p:spPr>
        <p:txBody>
          <a:bodyPr wrap="none" lIns="0" rIns="0" tIns="0" bIns="0">
            <a:noAutofit/>
          </a:bodyPr>
          <a:lstStyle/>
          <a:p>
            <a:pPr>
              <a:spcBef>
                <a:spcPts val="0"/>
              </a:spcBef>
              <a:spcAft>
                <a:spcPts val="0"/>
              </a:spcAft>
            </a:pPr>
            <a:r>
              <a:rPr sz="800" b="0" spc="72">
                <a:solidFill>
                  <a:srgbClr val="84867E"/>
                </a:solidFill>
                <a:latin typeface="Spline Sans Mono"/>
              </a:rPr>
              <a:t>FOR LEADERSHIP TEAMS, INVESTORS &amp; BOARDS</a:t>
            </a:r>
          </a:p>
        </p:txBody>
      </p:sp>
      <p:sp>
        <p:nvSpPr>
          <p:cNvPr id="26" name="TextBox 25"/>
          <p:cNvSpPr txBox="1"/>
          <p:nvPr/>
        </p:nvSpPr>
        <p:spPr>
          <a:xfrm>
            <a:off x="596900" y="2309812"/>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W-01</a:t>
            </a:r>
          </a:p>
        </p:txBody>
      </p:sp>
      <p:sp>
        <p:nvSpPr>
          <p:cNvPr id="27" name="TextBox 26"/>
          <p:cNvSpPr txBox="1"/>
          <p:nvPr/>
        </p:nvSpPr>
        <p:spPr>
          <a:xfrm>
            <a:off x="1054100" y="2265362"/>
            <a:ext cx="1166416"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Leadership teams</a:t>
            </a:r>
          </a:p>
        </p:txBody>
      </p:sp>
      <p:sp>
        <p:nvSpPr>
          <p:cNvPr id="28" name="TextBox 27"/>
          <p:cNvSpPr txBox="1"/>
          <p:nvPr/>
        </p:nvSpPr>
        <p:spPr>
          <a:xfrm>
            <a:off x="5708650" y="2309812"/>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W-02</a:t>
            </a:r>
          </a:p>
        </p:txBody>
      </p:sp>
      <p:sp>
        <p:nvSpPr>
          <p:cNvPr id="29" name="TextBox 28"/>
          <p:cNvSpPr txBox="1"/>
          <p:nvPr/>
        </p:nvSpPr>
        <p:spPr>
          <a:xfrm>
            <a:off x="6165850" y="2265362"/>
            <a:ext cx="1311771"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Growing companies</a:t>
            </a:r>
          </a:p>
        </p:txBody>
      </p:sp>
      <p:sp>
        <p:nvSpPr>
          <p:cNvPr id="30" name="TextBox 29"/>
          <p:cNvSpPr txBox="1"/>
          <p:nvPr/>
        </p:nvSpPr>
        <p:spPr>
          <a:xfrm>
            <a:off x="596900" y="2601912"/>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W-03</a:t>
            </a:r>
          </a:p>
        </p:txBody>
      </p:sp>
      <p:sp>
        <p:nvSpPr>
          <p:cNvPr id="31" name="TextBox 30"/>
          <p:cNvSpPr txBox="1"/>
          <p:nvPr/>
        </p:nvSpPr>
        <p:spPr>
          <a:xfrm>
            <a:off x="1054100" y="2557462"/>
            <a:ext cx="1487388"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PE-backed businesses</a:t>
            </a:r>
          </a:p>
        </p:txBody>
      </p:sp>
      <p:sp>
        <p:nvSpPr>
          <p:cNvPr id="32" name="TextBox 31"/>
          <p:cNvSpPr txBox="1"/>
          <p:nvPr/>
        </p:nvSpPr>
        <p:spPr>
          <a:xfrm>
            <a:off x="5708650" y="2601912"/>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W-04</a:t>
            </a:r>
          </a:p>
        </p:txBody>
      </p:sp>
      <p:sp>
        <p:nvSpPr>
          <p:cNvPr id="33" name="TextBox 32"/>
          <p:cNvSpPr txBox="1"/>
          <p:nvPr/>
        </p:nvSpPr>
        <p:spPr>
          <a:xfrm>
            <a:off x="6165850" y="2557462"/>
            <a:ext cx="2506464"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Companies undergoing transformation</a:t>
            </a:r>
          </a:p>
        </p:txBody>
      </p:sp>
      <p:sp>
        <p:nvSpPr>
          <p:cNvPr id="34" name="TextBox 33"/>
          <p:cNvSpPr txBox="1"/>
          <p:nvPr/>
        </p:nvSpPr>
        <p:spPr>
          <a:xfrm>
            <a:off x="596900" y="2894012"/>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W-05</a:t>
            </a:r>
          </a:p>
        </p:txBody>
      </p:sp>
      <p:sp>
        <p:nvSpPr>
          <p:cNvPr id="35" name="TextBox 34"/>
          <p:cNvSpPr txBox="1"/>
          <p:nvPr/>
        </p:nvSpPr>
        <p:spPr>
          <a:xfrm>
            <a:off x="1054100" y="2849562"/>
            <a:ext cx="1852414"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Companies implementing AI</a:t>
            </a:r>
          </a:p>
        </p:txBody>
      </p:sp>
      <p:sp>
        <p:nvSpPr>
          <p:cNvPr id="36" name="TextBox 35"/>
          <p:cNvSpPr txBox="1"/>
          <p:nvPr/>
        </p:nvSpPr>
        <p:spPr>
          <a:xfrm>
            <a:off x="5708650" y="2894012"/>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W-06</a:t>
            </a:r>
          </a:p>
        </p:txBody>
      </p:sp>
      <p:sp>
        <p:nvSpPr>
          <p:cNvPr id="37" name="TextBox 36"/>
          <p:cNvSpPr txBox="1"/>
          <p:nvPr/>
        </p:nvSpPr>
        <p:spPr>
          <a:xfrm>
            <a:off x="6165850" y="2849562"/>
            <a:ext cx="2282527"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Companies integrating acquisitions</a:t>
            </a:r>
          </a:p>
        </p:txBody>
      </p:sp>
      <p:sp>
        <p:nvSpPr>
          <p:cNvPr id="38" name="TextBox 37"/>
          <p:cNvSpPr txBox="1"/>
          <p:nvPr/>
        </p:nvSpPr>
        <p:spPr>
          <a:xfrm>
            <a:off x="596900" y="3186112"/>
            <a:ext cx="381000" cy="133350"/>
          </a:xfrm>
          <a:prstGeom prst="rect">
            <a:avLst/>
          </a:prstGeom>
          <a:noFill/>
        </p:spPr>
        <p:txBody>
          <a:bodyPr wrap="none" lIns="0" rIns="0" tIns="0" bIns="0">
            <a:noAutofit/>
          </a:bodyPr>
          <a:lstStyle/>
          <a:p>
            <a:pPr>
              <a:spcBef>
                <a:spcPts val="0"/>
              </a:spcBef>
              <a:spcAft>
                <a:spcPts val="0"/>
              </a:spcAft>
            </a:pPr>
            <a:r>
              <a:rPr sz="750" b="0">
                <a:solidFill>
                  <a:srgbClr val="84867E"/>
                </a:solidFill>
                <a:latin typeface="Spline Sans Mono"/>
              </a:rPr>
              <a:t>W-07</a:t>
            </a:r>
          </a:p>
        </p:txBody>
      </p:sp>
      <p:sp>
        <p:nvSpPr>
          <p:cNvPr id="39" name="TextBox 38"/>
          <p:cNvSpPr txBox="1"/>
          <p:nvPr/>
        </p:nvSpPr>
        <p:spPr>
          <a:xfrm>
            <a:off x="1054100" y="3141662"/>
            <a:ext cx="3312616" cy="190500"/>
          </a:xfrm>
          <a:prstGeom prst="rect">
            <a:avLst/>
          </a:prstGeom>
          <a:noFill/>
        </p:spPr>
        <p:txBody>
          <a:bodyPr wrap="none" lIns="0" rIns="0" tIns="0" bIns="0">
            <a:noAutofit/>
          </a:bodyPr>
          <a:lstStyle/>
          <a:p>
            <a:pPr>
              <a:spcBef>
                <a:spcPts val="0"/>
              </a:spcBef>
              <a:spcAft>
                <a:spcPts val="0"/>
              </a:spcAft>
            </a:pPr>
            <a:r>
              <a:rPr sz="1100" b="0">
                <a:solidFill>
                  <a:srgbClr val="131417"/>
                </a:solidFill>
                <a:latin typeface="Schibsted Grotesk"/>
              </a:rPr>
              <a:t>Companies that feel harder to run than they should</a:t>
            </a:r>
          </a:p>
        </p:txBody>
      </p:sp>
      <p:sp>
        <p:nvSpPr>
          <p:cNvPr id="40" name="TextBox 39"/>
          <p:cNvSpPr txBox="1"/>
          <p:nvPr/>
        </p:nvSpPr>
        <p:spPr>
          <a:xfrm>
            <a:off x="819150" y="3967162"/>
            <a:ext cx="7835900" cy="499070"/>
          </a:xfrm>
          <a:prstGeom prst="rect">
            <a:avLst/>
          </a:prstGeom>
          <a:noFill/>
        </p:spPr>
        <p:txBody>
          <a:bodyPr wrap="square" lIns="0" rIns="0" tIns="0" bIns="0">
            <a:noAutofit/>
          </a:bodyPr>
          <a:lstStyle/>
          <a:p>
            <a:pPr>
              <a:lnSpc>
                <a:spcPts val="1889"/>
              </a:lnSpc>
              <a:spcBef>
                <a:spcPts val="0"/>
              </a:spcBef>
              <a:spcAft>
                <a:spcPts val="0"/>
              </a:spcAft>
            </a:pPr>
            <a:r>
              <a:rPr sz="1050" b="0" spc="63">
                <a:solidFill>
                  <a:srgbClr val="2F4FA2"/>
                </a:solidFill>
                <a:latin typeface="Spline Sans Mono"/>
              </a:rPr>
              <a:t>FOR INVESTORS &amp; BOARDS: “YOU HAVE THE FINANCIAL MODEL. WE BUILD THE OPERATING MODEL REQUIRED TO ACHIEVE IT.”</a:t>
            </a:r>
          </a:p>
        </p:txBody>
      </p:sp>
      <p:sp>
        <p:nvSpPr>
          <p:cNvPr id="41" name="TextBox 40"/>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SCHULTE &amp; CO. · GROWTH BY DESIGN</a:t>
            </a:r>
          </a:p>
        </p:txBody>
      </p:sp>
      <p:sp>
        <p:nvSpPr>
          <p:cNvPr id="42" name="TextBox 41"/>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SHEET 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609600" y="6572250"/>
            <a:ext cx="10972800" cy="6350"/>
          </a:xfrm>
          <a:prstGeom prst="rect">
            <a:avLst/>
          </a:prstGeom>
          <a:solidFill>
            <a:srgbClr val="131417"/>
          </a:solidFill>
          <a:ln>
            <a:noFill/>
          </a:ln>
          <a:effectLst/>
        </p:spPr>
        <p:txBody>
          <a:bodyPr rtlCol="0" anchor="ctr"/>
          <a:lstStyle/>
          <a:p>
            <a:pPr algn="ctr"/>
          </a:p>
        </p:txBody>
      </p:sp>
      <p:sp>
        <p:nvSpPr>
          <p:cNvPr id="3" name="Rectangle 2"/>
          <p:cNvSpPr/>
          <p:nvPr/>
        </p:nvSpPr>
        <p:spPr>
          <a:xfrm>
            <a:off x="609600" y="6540500"/>
            <a:ext cx="6350" cy="69850"/>
          </a:xfrm>
          <a:prstGeom prst="rect">
            <a:avLst/>
          </a:prstGeom>
          <a:solidFill>
            <a:srgbClr val="131417"/>
          </a:solidFill>
          <a:ln>
            <a:noFill/>
          </a:ln>
          <a:effectLst/>
        </p:spPr>
        <p:txBody>
          <a:bodyPr rtlCol="0" anchor="ctr"/>
          <a:lstStyle/>
          <a:p>
            <a:pPr algn="ctr"/>
          </a:p>
        </p:txBody>
      </p:sp>
      <p:sp>
        <p:nvSpPr>
          <p:cNvPr id="4" name="Rectangle 3"/>
          <p:cNvSpPr/>
          <p:nvPr/>
        </p:nvSpPr>
        <p:spPr>
          <a:xfrm>
            <a:off x="1828800" y="6540500"/>
            <a:ext cx="6350" cy="69850"/>
          </a:xfrm>
          <a:prstGeom prst="rect">
            <a:avLst/>
          </a:prstGeom>
          <a:solidFill>
            <a:srgbClr val="131417"/>
          </a:solidFill>
          <a:ln>
            <a:noFill/>
          </a:ln>
          <a:effectLst/>
        </p:spPr>
        <p:txBody>
          <a:bodyPr rtlCol="0" anchor="ctr"/>
          <a:lstStyle/>
          <a:p>
            <a:pPr algn="ctr"/>
          </a:p>
        </p:txBody>
      </p:sp>
      <p:sp>
        <p:nvSpPr>
          <p:cNvPr id="5" name="Rectangle 4"/>
          <p:cNvSpPr/>
          <p:nvPr/>
        </p:nvSpPr>
        <p:spPr>
          <a:xfrm>
            <a:off x="3048000" y="6540500"/>
            <a:ext cx="6350" cy="69850"/>
          </a:xfrm>
          <a:prstGeom prst="rect">
            <a:avLst/>
          </a:prstGeom>
          <a:solidFill>
            <a:srgbClr val="131417"/>
          </a:solidFill>
          <a:ln>
            <a:noFill/>
          </a:ln>
          <a:effectLst/>
        </p:spPr>
        <p:txBody>
          <a:bodyPr rtlCol="0" anchor="ctr"/>
          <a:lstStyle/>
          <a:p>
            <a:pPr algn="ctr"/>
          </a:p>
        </p:txBody>
      </p:sp>
      <p:sp>
        <p:nvSpPr>
          <p:cNvPr id="6" name="Rectangle 5"/>
          <p:cNvSpPr/>
          <p:nvPr/>
        </p:nvSpPr>
        <p:spPr>
          <a:xfrm>
            <a:off x="4267101" y="6540500"/>
            <a:ext cx="6350" cy="69850"/>
          </a:xfrm>
          <a:prstGeom prst="rect">
            <a:avLst/>
          </a:prstGeom>
          <a:solidFill>
            <a:srgbClr val="131417"/>
          </a:solidFill>
          <a:ln>
            <a:noFill/>
          </a:ln>
          <a:effectLst/>
        </p:spPr>
        <p:txBody>
          <a:bodyPr rtlCol="0" anchor="ctr"/>
          <a:lstStyle/>
          <a:p>
            <a:pPr algn="ctr"/>
          </a:p>
        </p:txBody>
      </p:sp>
      <p:sp>
        <p:nvSpPr>
          <p:cNvPr id="7" name="Rectangle 6"/>
          <p:cNvSpPr/>
          <p:nvPr/>
        </p:nvSpPr>
        <p:spPr>
          <a:xfrm>
            <a:off x="5486400" y="6540500"/>
            <a:ext cx="6350" cy="69850"/>
          </a:xfrm>
          <a:prstGeom prst="rect">
            <a:avLst/>
          </a:prstGeom>
          <a:solidFill>
            <a:srgbClr val="131417"/>
          </a:solidFill>
          <a:ln>
            <a:noFill/>
          </a:ln>
          <a:effectLst/>
        </p:spPr>
        <p:txBody>
          <a:bodyPr rtlCol="0" anchor="ctr"/>
          <a:lstStyle/>
          <a:p>
            <a:pPr algn="ctr"/>
          </a:p>
        </p:txBody>
      </p:sp>
      <p:sp>
        <p:nvSpPr>
          <p:cNvPr id="8" name="Rectangle 7"/>
          <p:cNvSpPr/>
          <p:nvPr/>
        </p:nvSpPr>
        <p:spPr>
          <a:xfrm>
            <a:off x="6705600" y="6540500"/>
            <a:ext cx="6350" cy="69850"/>
          </a:xfrm>
          <a:prstGeom prst="rect">
            <a:avLst/>
          </a:prstGeom>
          <a:solidFill>
            <a:srgbClr val="131417"/>
          </a:solidFill>
          <a:ln>
            <a:noFill/>
          </a:ln>
          <a:effectLst/>
        </p:spPr>
        <p:txBody>
          <a:bodyPr rtlCol="0" anchor="ctr"/>
          <a:lstStyle/>
          <a:p>
            <a:pPr algn="ctr"/>
          </a:p>
        </p:txBody>
      </p:sp>
      <p:sp>
        <p:nvSpPr>
          <p:cNvPr id="9" name="Rectangle 8"/>
          <p:cNvSpPr/>
          <p:nvPr/>
        </p:nvSpPr>
        <p:spPr>
          <a:xfrm>
            <a:off x="7924701" y="6540500"/>
            <a:ext cx="6350" cy="69850"/>
          </a:xfrm>
          <a:prstGeom prst="rect">
            <a:avLst/>
          </a:prstGeom>
          <a:solidFill>
            <a:srgbClr val="131417"/>
          </a:solidFill>
          <a:ln>
            <a:noFill/>
          </a:ln>
          <a:effectLst/>
        </p:spPr>
        <p:txBody>
          <a:bodyPr rtlCol="0" anchor="ctr"/>
          <a:lstStyle/>
          <a:p>
            <a:pPr algn="ctr"/>
          </a:p>
        </p:txBody>
      </p:sp>
      <p:sp>
        <p:nvSpPr>
          <p:cNvPr id="10" name="Rectangle 9"/>
          <p:cNvSpPr/>
          <p:nvPr/>
        </p:nvSpPr>
        <p:spPr>
          <a:xfrm>
            <a:off x="9144000" y="6540500"/>
            <a:ext cx="6350" cy="69850"/>
          </a:xfrm>
          <a:prstGeom prst="rect">
            <a:avLst/>
          </a:prstGeom>
          <a:solidFill>
            <a:srgbClr val="131417"/>
          </a:solidFill>
          <a:ln>
            <a:noFill/>
          </a:ln>
          <a:effectLst/>
        </p:spPr>
        <p:txBody>
          <a:bodyPr rtlCol="0" anchor="ctr"/>
          <a:lstStyle/>
          <a:p>
            <a:pPr algn="ctr"/>
          </a:p>
        </p:txBody>
      </p:sp>
      <p:sp>
        <p:nvSpPr>
          <p:cNvPr id="11" name="Rectangle 10"/>
          <p:cNvSpPr/>
          <p:nvPr/>
        </p:nvSpPr>
        <p:spPr>
          <a:xfrm>
            <a:off x="10363200" y="6540500"/>
            <a:ext cx="6350" cy="69850"/>
          </a:xfrm>
          <a:prstGeom prst="rect">
            <a:avLst/>
          </a:prstGeom>
          <a:solidFill>
            <a:srgbClr val="131417"/>
          </a:solidFill>
          <a:ln>
            <a:noFill/>
          </a:ln>
          <a:effectLst/>
        </p:spPr>
        <p:txBody>
          <a:bodyPr rtlCol="0" anchor="ctr"/>
          <a:lstStyle/>
          <a:p>
            <a:pPr algn="ctr"/>
          </a:p>
        </p:txBody>
      </p:sp>
      <p:sp>
        <p:nvSpPr>
          <p:cNvPr id="12" name="Rectangle 11"/>
          <p:cNvSpPr/>
          <p:nvPr/>
        </p:nvSpPr>
        <p:spPr>
          <a:xfrm>
            <a:off x="11582400" y="6540500"/>
            <a:ext cx="6350" cy="69850"/>
          </a:xfrm>
          <a:prstGeom prst="rect">
            <a:avLst/>
          </a:prstGeom>
          <a:solidFill>
            <a:srgbClr val="131417"/>
          </a:solidFill>
          <a:ln>
            <a:noFill/>
          </a:ln>
          <a:effectLst/>
        </p:spPr>
        <p:txBody>
          <a:bodyPr rtlCol="0" anchor="ctr"/>
          <a:lstStyle/>
          <a:p>
            <a:pPr algn="ctr"/>
          </a:p>
        </p:txBody>
      </p:sp>
      <p:sp>
        <p:nvSpPr>
          <p:cNvPr id="13" name="Diamond 12"/>
          <p:cNvSpPr/>
          <p:nvPr/>
        </p:nvSpPr>
        <p:spPr>
          <a:xfrm>
            <a:off x="11550650" y="6546850"/>
            <a:ext cx="63500" cy="63500"/>
          </a:xfrm>
          <a:prstGeom prst="diamond">
            <a:avLst/>
          </a:prstGeom>
          <a:solidFill>
            <a:srgbClr val="D93A1F"/>
          </a:solidFill>
          <a:ln>
            <a:noFill/>
          </a:ln>
          <a:effectLst/>
        </p:spPr>
        <p:txBody>
          <a:bodyPr rtlCol="0" anchor="ctr"/>
          <a:lstStyle/>
          <a:p>
            <a:pPr algn="ctr"/>
          </a:p>
        </p:txBody>
      </p:sp>
      <p:sp>
        <p:nvSpPr>
          <p:cNvPr id="14" name="Freeform 13"/>
          <p:cNvSpPr/>
          <p:nvPr/>
        </p:nvSpPr>
        <p:spPr>
          <a:xfrm>
            <a:off x="1371600" y="2438400"/>
            <a:ext cx="381000" cy="1524000"/>
          </a:xfrm>
          <a:custGeom>
            <a:avLst/>
            <a:gdLst/>
            <a:ahLst/>
            <a:cxnLst/>
            <a:rect l="l" t="t" r="r" b="b"/>
            <a:pathLst>
              <a:path w="60" h="240">
                <a:moveTo>
                  <a:pt x="0" y="240"/>
                </a:moveTo>
                <a:lnTo>
                  <a:pt x="12" y="0"/>
                </a:lnTo>
                <a:lnTo>
                  <a:pt x="48" y="0"/>
                </a:lnTo>
                <a:lnTo>
                  <a:pt x="60" y="240"/>
                </a:lnTo>
                <a:close/>
              </a:path>
            </a:pathLst>
          </a:custGeom>
          <a:noFill/>
          <a:ln w="15240">
            <a:solidFill>
              <a:srgbClr val="131417"/>
            </a:solidFill>
          </a:ln>
          <a:effectLst/>
        </p:spPr>
        <p:txBody>
          <a:bodyPr rtlCol="0" anchor="ctr"/>
          <a:lstStyle/>
          <a:p>
            <a:pPr algn="ctr"/>
          </a:p>
        </p:txBody>
      </p:sp>
      <p:sp>
        <p:nvSpPr>
          <p:cNvPr id="15" name="Freeform 14"/>
          <p:cNvSpPr/>
          <p:nvPr/>
        </p:nvSpPr>
        <p:spPr>
          <a:xfrm>
            <a:off x="1447800" y="2108200"/>
            <a:ext cx="228600" cy="330200"/>
          </a:xfrm>
          <a:custGeom>
            <a:avLst/>
            <a:gdLst/>
            <a:ahLst/>
            <a:cxnLst/>
            <a:rect l="l" t="t" r="r" b="b"/>
            <a:pathLst>
              <a:path w="36" h="52">
                <a:moveTo>
                  <a:pt x="0" y="52"/>
                </a:moveTo>
                <a:lnTo>
                  <a:pt x="18" y="0"/>
                </a:lnTo>
                <a:lnTo>
                  <a:pt x="36" y="52"/>
                </a:lnTo>
              </a:path>
            </a:pathLst>
          </a:custGeom>
          <a:noFill/>
          <a:ln w="15240">
            <a:solidFill>
              <a:srgbClr val="131417"/>
            </a:solidFill>
          </a:ln>
          <a:effectLst/>
        </p:spPr>
        <p:txBody>
          <a:bodyPr rtlCol="0" anchor="ctr"/>
          <a:lstStyle/>
          <a:p>
            <a:pPr algn="ctr"/>
          </a:p>
        </p:txBody>
      </p:sp>
      <p:cxnSp>
        <p:nvCxnSpPr>
          <p:cNvPr id="16" name="Connector 15"/>
          <p:cNvCxnSpPr/>
          <p:nvPr/>
        </p:nvCxnSpPr>
        <p:spPr>
          <a:xfrm>
            <a:off x="1117600" y="3962400"/>
            <a:ext cx="889000" cy="0"/>
          </a:xfrm>
          <a:prstGeom prst="line">
            <a:avLst/>
          </a:prstGeom>
          <a:ln w="12700">
            <a:solidFill>
              <a:srgbClr val="131417"/>
            </a:solidFill>
          </a:ln>
          <a:effectLst/>
        </p:spPr>
      </p:cxnSp>
      <p:cxnSp>
        <p:nvCxnSpPr>
          <p:cNvPr id="17" name="Connector 16"/>
          <p:cNvCxnSpPr/>
          <p:nvPr/>
        </p:nvCxnSpPr>
        <p:spPr>
          <a:xfrm>
            <a:off x="1219200" y="4089400"/>
            <a:ext cx="685800" cy="0"/>
          </a:xfrm>
          <a:prstGeom prst="line">
            <a:avLst/>
          </a:prstGeom>
          <a:ln w="12700">
            <a:solidFill>
              <a:srgbClr val="131417"/>
            </a:solidFill>
          </a:ln>
          <a:effectLst/>
        </p:spPr>
      </p:cxnSp>
      <p:cxnSp>
        <p:nvCxnSpPr>
          <p:cNvPr id="18" name="Connector 17"/>
          <p:cNvCxnSpPr/>
          <p:nvPr/>
        </p:nvCxnSpPr>
        <p:spPr>
          <a:xfrm>
            <a:off x="1460500" y="3073400"/>
            <a:ext cx="203200" cy="0"/>
          </a:xfrm>
          <a:prstGeom prst="line">
            <a:avLst/>
          </a:prstGeom>
          <a:ln w="13970">
            <a:solidFill>
              <a:srgbClr val="131417"/>
            </a:solidFill>
          </a:ln>
          <a:effectLst/>
        </p:spPr>
      </p:cxnSp>
      <p:cxnSp>
        <p:nvCxnSpPr>
          <p:cNvPr id="19" name="Connector 18"/>
          <p:cNvCxnSpPr/>
          <p:nvPr/>
        </p:nvCxnSpPr>
        <p:spPr>
          <a:xfrm>
            <a:off x="1562100" y="2971800"/>
            <a:ext cx="0" cy="203200"/>
          </a:xfrm>
          <a:prstGeom prst="line">
            <a:avLst/>
          </a:prstGeom>
          <a:ln w="13970">
            <a:solidFill>
              <a:srgbClr val="131417"/>
            </a:solidFill>
          </a:ln>
          <a:effectLst/>
        </p:spPr>
      </p:cxnSp>
      <p:sp>
        <p:nvSpPr>
          <p:cNvPr id="20" name="Oval 19"/>
          <p:cNvSpPr/>
          <p:nvPr/>
        </p:nvSpPr>
        <p:spPr>
          <a:xfrm>
            <a:off x="1511300" y="3022600"/>
            <a:ext cx="101600" cy="101600"/>
          </a:xfrm>
          <a:prstGeom prst="ellipse">
            <a:avLst/>
          </a:prstGeom>
          <a:solidFill>
            <a:srgbClr val="D93A1F"/>
          </a:solidFill>
          <a:ln>
            <a:noFill/>
          </a:ln>
          <a:effectLst/>
        </p:spPr>
        <p:txBody>
          <a:bodyPr rtlCol="0" anchor="ctr"/>
          <a:lstStyle/>
          <a:p>
            <a:pPr algn="ctr"/>
          </a:p>
        </p:txBody>
      </p:sp>
      <p:sp>
        <p:nvSpPr>
          <p:cNvPr id="21" name="TextBox 20"/>
          <p:cNvSpPr txBox="1"/>
          <p:nvPr/>
        </p:nvSpPr>
        <p:spPr>
          <a:xfrm>
            <a:off x="1130300" y="4171950"/>
            <a:ext cx="1261124" cy="146050"/>
          </a:xfrm>
          <a:prstGeom prst="rect">
            <a:avLst/>
          </a:prstGeom>
          <a:noFill/>
        </p:spPr>
        <p:txBody>
          <a:bodyPr wrap="none" lIns="0" rIns="0" tIns="0" bIns="0">
            <a:noAutofit/>
          </a:bodyPr>
          <a:lstStyle/>
          <a:p>
            <a:pPr>
              <a:spcBef>
                <a:spcPts val="0"/>
              </a:spcBef>
              <a:spcAft>
                <a:spcPts val="0"/>
              </a:spcAft>
            </a:pPr>
            <a:r>
              <a:rPr sz="850" b="0">
                <a:solidFill>
                  <a:srgbClr val="84867E"/>
                </a:solidFill>
                <a:latin typeface="Spline Sans Mono"/>
              </a:rPr>
              <a:t>BM-01 · HANDED BACK</a:t>
            </a:r>
          </a:p>
        </p:txBody>
      </p:sp>
      <p:sp>
        <p:nvSpPr>
          <p:cNvPr id="22" name="TextBox 21"/>
          <p:cNvSpPr txBox="1"/>
          <p:nvPr/>
        </p:nvSpPr>
        <p:spPr>
          <a:xfrm>
            <a:off x="3454400" y="970459"/>
            <a:ext cx="8140700" cy="2198191"/>
          </a:xfrm>
          <a:prstGeom prst="rect">
            <a:avLst/>
          </a:prstGeom>
          <a:noFill/>
        </p:spPr>
        <p:txBody>
          <a:bodyPr wrap="square" lIns="0" rIns="0" tIns="0" bIns="0">
            <a:noAutofit/>
          </a:bodyPr>
          <a:lstStyle/>
          <a:p>
            <a:pPr>
              <a:lnSpc>
                <a:spcPts val="5720"/>
              </a:lnSpc>
              <a:spcBef>
                <a:spcPts val="0"/>
              </a:spcBef>
              <a:spcAft>
                <a:spcPts val="0"/>
              </a:spcAft>
            </a:pPr>
            <a:r>
              <a:rPr sz="5500" b="0">
                <a:solidFill>
                  <a:srgbClr val="131417"/>
                </a:solidFill>
                <a:latin typeface="Gloock"/>
              </a:rPr>
              <a:t>Build the system.</a:t>
            </a:r>
          </a:p>
          <a:p>
            <a:pPr>
              <a:lnSpc>
                <a:spcPts val="5720"/>
              </a:lnSpc>
              <a:spcBef>
                <a:spcPts val="0"/>
              </a:spcBef>
              <a:spcAft>
                <a:spcPts val="0"/>
              </a:spcAft>
            </a:pPr>
            <a:r>
              <a:rPr sz="5500" b="0">
                <a:solidFill>
                  <a:srgbClr val="131417"/>
                </a:solidFill>
                <a:latin typeface="Gloock"/>
              </a:rPr>
              <a:t>Prove the value.</a:t>
            </a:r>
          </a:p>
          <a:p>
            <a:pPr>
              <a:lnSpc>
                <a:spcPts val="5720"/>
              </a:lnSpc>
              <a:spcBef>
                <a:spcPts val="0"/>
              </a:spcBef>
              <a:spcAft>
                <a:spcPts val="0"/>
              </a:spcAft>
            </a:pPr>
            <a:r>
              <a:rPr sz="5500" b="0">
                <a:solidFill>
                  <a:srgbClr val="131417"/>
                </a:solidFill>
                <a:latin typeface="Gloock"/>
              </a:rPr>
              <a:t>Hand it back.</a:t>
            </a:r>
          </a:p>
        </p:txBody>
      </p:sp>
      <p:sp>
        <p:nvSpPr>
          <p:cNvPr id="23" name="TextBox 22"/>
          <p:cNvSpPr txBox="1"/>
          <p:nvPr/>
        </p:nvSpPr>
        <p:spPr>
          <a:xfrm>
            <a:off x="3454400" y="3403600"/>
            <a:ext cx="6248400" cy="845641"/>
          </a:xfrm>
          <a:prstGeom prst="rect">
            <a:avLst/>
          </a:prstGeom>
          <a:noFill/>
        </p:spPr>
        <p:txBody>
          <a:bodyPr wrap="square" lIns="0" rIns="0" tIns="0" bIns="0">
            <a:noAutofit/>
          </a:bodyPr>
          <a:lstStyle/>
          <a:p>
            <a:pPr>
              <a:lnSpc>
                <a:spcPts val="2170"/>
              </a:lnSpc>
              <a:spcBef>
                <a:spcPts val="0"/>
              </a:spcBef>
              <a:spcAft>
                <a:spcPts val="0"/>
              </a:spcAft>
            </a:pPr>
            <a:r>
              <a:rPr sz="1400" b="0">
                <a:solidFill>
                  <a:srgbClr val="131417"/>
                </a:solidFill>
                <a:latin typeface="Schibsted Grotesk"/>
              </a:rPr>
              <a:t>We are not trying to become another permanent layer of complexity. We build a stronger operating model, implement it with your team, and leave the company better equipped to scale on its own.</a:t>
            </a:r>
          </a:p>
        </p:txBody>
      </p:sp>
      <p:sp>
        <p:nvSpPr>
          <p:cNvPr id="24" name="TextBox 23"/>
          <p:cNvSpPr txBox="1"/>
          <p:nvPr/>
        </p:nvSpPr>
        <p:spPr>
          <a:xfrm>
            <a:off x="3454400" y="4585791"/>
            <a:ext cx="8140700" cy="184150"/>
          </a:xfrm>
          <a:prstGeom prst="rect">
            <a:avLst/>
          </a:prstGeom>
          <a:noFill/>
        </p:spPr>
        <p:txBody>
          <a:bodyPr wrap="none" lIns="0" rIns="0" tIns="0" bIns="0">
            <a:noAutofit/>
          </a:bodyPr>
          <a:lstStyle/>
          <a:p>
            <a:pPr>
              <a:spcBef>
                <a:spcPts val="0"/>
              </a:spcBef>
              <a:spcAft>
                <a:spcPts val="0"/>
              </a:spcAft>
            </a:pPr>
            <a:r>
              <a:rPr sz="1100" b="0" spc="77">
                <a:solidFill>
                  <a:srgbClr val="D93A1F"/>
                </a:solidFill>
                <a:latin typeface="Spline Sans Mono"/>
              </a:rPr>
              <a:t>[ START WITH ONE PROBLEM ]</a:t>
            </a:r>
          </a:p>
        </p:txBody>
      </p:sp>
      <p:sp>
        <p:nvSpPr>
          <p:cNvPr id="25" name="TextBox 24"/>
          <p:cNvSpPr txBox="1"/>
          <p:nvPr/>
        </p:nvSpPr>
        <p:spPr>
          <a:xfrm>
            <a:off x="3454400" y="4903291"/>
            <a:ext cx="8140700" cy="152400"/>
          </a:xfrm>
          <a:prstGeom prst="rect">
            <a:avLst/>
          </a:prstGeom>
          <a:noFill/>
        </p:spPr>
        <p:txBody>
          <a:bodyPr wrap="none" lIns="0" rIns="0" tIns="0" bIns="0">
            <a:noAutofit/>
          </a:bodyPr>
          <a:lstStyle/>
          <a:p>
            <a:pPr>
              <a:spcBef>
                <a:spcPts val="0"/>
              </a:spcBef>
              <a:spcAft>
                <a:spcPts val="0"/>
              </a:spcAft>
            </a:pPr>
            <a:r>
              <a:rPr sz="900" b="0" spc="54">
                <a:solidFill>
                  <a:srgbClr val="84867E"/>
                </a:solidFill>
                <a:latin typeface="Spline Sans Mono"/>
              </a:rPr>
              <a:t>SCHULTEAND.CO · </a:t>
            </a:r>
            <a:r>
              <a:rPr sz="900" b="0" spc="54">
                <a:solidFill>
                  <a:srgbClr val="2F4FA2"/>
                </a:solidFill>
                <a:latin typeface="Spline Sans Mono"/>
              </a:rPr>
              <a:t>WORK@SCHULTEAND.CO</a:t>
            </a:r>
            <a:r>
              <a:rPr sz="900" b="0" spc="54">
                <a:solidFill>
                  <a:srgbClr val="84867E"/>
                </a:solidFill>
                <a:latin typeface="Spline Sans Mono"/>
              </a:rPr>
              <a:t> · TAMPA, FLORIDA</a:t>
            </a:r>
          </a:p>
        </p:txBody>
      </p:sp>
      <p:sp>
        <p:nvSpPr>
          <p:cNvPr id="26" name="TextBox 25"/>
          <p:cNvSpPr txBox="1"/>
          <p:nvPr/>
        </p:nvSpPr>
        <p:spPr>
          <a:xfrm>
            <a:off x="596900" y="6400800"/>
            <a:ext cx="201682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SCHULTE &amp; CO. · GROWTH BY DESIGN</a:t>
            </a:r>
          </a:p>
        </p:txBody>
      </p:sp>
      <p:sp>
        <p:nvSpPr>
          <p:cNvPr id="27" name="TextBox 26"/>
          <p:cNvSpPr txBox="1"/>
          <p:nvPr/>
        </p:nvSpPr>
        <p:spPr>
          <a:xfrm>
            <a:off x="10760670" y="6400800"/>
            <a:ext cx="834430" cy="120650"/>
          </a:xfrm>
          <a:prstGeom prst="rect">
            <a:avLst/>
          </a:prstGeom>
          <a:noFill/>
        </p:spPr>
        <p:txBody>
          <a:bodyPr wrap="none" lIns="0" rIns="0" tIns="0" bIns="0">
            <a:noAutofit/>
          </a:bodyPr>
          <a:lstStyle/>
          <a:p>
            <a:pPr>
              <a:spcBef>
                <a:spcPts val="0"/>
              </a:spcBef>
              <a:spcAft>
                <a:spcPts val="0"/>
              </a:spcAft>
            </a:pPr>
            <a:r>
              <a:rPr sz="700" b="0" spc="70">
                <a:solidFill>
                  <a:srgbClr val="84867E"/>
                </a:solidFill>
                <a:latin typeface="Spline Sans Mono"/>
              </a:rPr>
              <a:t>SHEET 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